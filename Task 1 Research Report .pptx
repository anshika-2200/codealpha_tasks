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yourself: 'Good [morning/afternoon], I am Anshika Tripathi, a B.Tech Biotechnology student. Today I will present on Genetic Engineering, CRISPR Technology, and Gene Therapy — three of the most transformative fields in modern life sciences. This presentation covers the science, applications, ethics, and future of these technologies.'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presentation structure. Walk the audience through the 13 topics. Mention: 'We will start with the fundamentals of genetic engineering, move into cutting-edge CRISPR technology, then discuss gene therapy applications, ethical considerations, and finally future directions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Genetic Engineering means modifying DNA in a targeted way — unlike natural mutation which is random. Key point: this field is the backbone of modern medicine, agriculture, and industry. Objectives help the audience know what they will learn by the end of this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timeline: Start with Mendel in 1865 — basic genetics. Jump to 1953 with Watson &amp; Crick's double helix. The real engineering begins in 1973 with recombinant DNA. The HGP (1990-2003) mapped the entire human genome. CRISPR in 2012 was a revolution — like a 'find and replace' tool for DNA. In 2023, the first CRISPR drug was approved — we are now living in the CRISPR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core techniques: (1) rDNA — inserting foreign genes into bacteria/yeast to produce proteins like insulin. (2) DNA Cloning — making many copies of a gene. (3) PCR — invented by Kary Mullis, amplifies tiny DNA samples (used in COVID-19 testing!). (4) Gene Editing — CRISPR is the latest and most precise tool. Restriction enzymes act like 'molecular scissors'; ligase acts like 'molecular glue.'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 span four major domains. Medicine: insulin was the first recombinant protein approved in 1982; today mRNA vaccines are a revolution. Agriculture: Bt-cotton saved Indian farmers billions in pesticide costs; Golden Rice addresses Vitamin A deficiency in developing countries. Industry: biofuels and biodegradable plastics can reduce fossil fuel dependence. Research: GFP (green fluorescent protein) won the 2008 Nobel Prize and is used in millions of experiments worldwide.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CRISPR stands for Clustered Regularly Interspaced Short Palindromic Repeats — naturally found in bacteria as an immune memory system. The guide RNA (sgRNA) is like a GPS coordinate for Cas9. The PAM sequence (NGG) is the 'landing pad' for Cas9. After cutting, cells repair DNA via NHEJ (error-prone → knockouts) or HDR (precise → corrections). CRISPR is faster, cheaper, and more accurate than older ZFN/TALEN approaches. Doudna and Charpentier won the 2020 Nobel Prize in Chemistry for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CRISPR's biggest advantage is precision and cost — it democratized gene editing. Off-target effects are the main scientific concern — whole-genome sequencing is used to check for unwanted edits. Delivery remains a challenge: lipid nanoparticles, viral vectors (AAV), and base editing are being explored. Note: CRISPR variants like base editors and prime editors address some limitations — they can make single-letter DNA changes without double-strand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 therapy corrects disease at source — the DNA. Somatic therapy is like any medical treatment — it affects only that patient. Germline editing is controversial because changes are inherited by children and all future descendants. The 2018 CRISPR baby scandal (He Jiankui) led to global condemnation. AAV (adeno-associated virus) is currently the most common vector for in vivo delivery. LNPs were the key technology behind mRNA COVID vaccines and are now being used for CRISPR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major application areas: (1) Cancer — CAR-T is transformative for blood cancers; Kymriah and Yescarta have response rates of 70-90% in relapsed/refractory B-cell ALL. (2) Monogenic disorders — Zolgensma at $2.1 million is the world's most expensive drug but is a one-time cure for SMA. (3) Rare diseases — Luxturna was the first in vivo gene therapy, approved in 2017 for blindness-causing inherited retinal dystrophy.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landmark cases. Casgevy is the world's first approved CRISPR medicine — a one-time treatment. The BCL11A enhancer approach is brilliant: instead of fixing the broken HBB gene directly, it reactivates the fetal hemoglobin gene that is normally silenced after birth, bypassing the mutation entirely. The clinical results are extraordinary — patients who needed lifelong blood transfusions are now independent. Cost is a major issue: Casgevy is priced at ~$2.2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2018 He Jiankui scandal — editing embryos of babies Lulu and Nana to create CCR5 resistance to HIV — was condemned globally. He was sentenced to 3 years in prison. The WHO and major national academies have called for a moratorium on heritable human genome editing until safety and ethical frameworks are in place. Access is the other major issue: gene therapy is currently only available to wealthy patients in wealthy nations — this raises profound justice concerns. Regulatory agencies (FDA, EMA) require rigorous clinical trials for all gene therapies.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is incredibly exciting. Base editing and prime editing are often called 'CRISPR 2.0' — they are more precise and avoid double-strand breaks. AI is accelerating every part of this pipeline: AlphaFold predicted 200 million protein structures. Gene drives could eradicate malaria mosquitoes — but require very careful ecological risk assessment. Xenotransplantation recently achieved a milestone: a genetically edited pig kidney functioned in a human patient for 47 days (2024). The convergence of AI, genomics, and synthetic biology will define the next decade of medicine.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presentation with impact. Emphasize that we are living at a historic moment — gene therapy went from science fiction to approved medicines in one generation. CRISPR has been called the 'tool of the century.' But science must be guided by ethics. The framework we build today for governing gene editing will determine what kind of future we create.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references are from peer-reviewed journals (Nature, NEJM, Science, PNAS) and authoritative organizations (WHO, NIH, FDA, NCBI). The Doudna &amp; Charpentier 2012 paper is the foundational CRISPR publication. The Frangoul 2021 NEJM paper is the pivotal clinical trial for Casgevy. Students are encouraged to access these through PubMed Central (PMC) which provides free full-text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slideLayout" Target="../slideLayouts/slideLayout1.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1565C0">
              <a:alpha val="70000"/>
            </a:srgbClr>
          </a:solidFill>
          <a:ln w="12700">
            <a:solidFill>
              <a:srgbClr val="1565C0">
                <a:alpha val="70000"/>
              </a:srgbClr>
            </a:solidFill>
            <a:prstDash val="solid"/>
          </a:ln>
        </p:spPr>
      </p:sp>
      <p:sp>
        <p:nvSpPr>
          <p:cNvPr id="3" name="Shape 1"/>
          <p:cNvSpPr/>
          <p:nvPr/>
        </p:nvSpPr>
        <p:spPr>
          <a:xfrm>
            <a:off x="182880" y="3474720"/>
            <a:ext cx="2286000" cy="2286000"/>
          </a:xfrm>
          <a:prstGeom prst="ellipse">
            <a:avLst/>
          </a:prstGeom>
          <a:solidFill>
            <a:srgbClr val="43A047">
              <a:alpha val="25000"/>
            </a:srgbClr>
          </a:solidFill>
          <a:ln w="12700">
            <a:solidFill>
              <a:srgbClr val="43A047">
                <a:alpha val="25000"/>
              </a:srgbClr>
            </a:solidFill>
            <a:prstDash val="solid"/>
          </a:ln>
        </p:spPr>
      </p:sp>
      <p:sp>
        <p:nvSpPr>
          <p:cNvPr id="4" name="Shape 2"/>
          <p:cNvSpPr/>
          <p:nvPr/>
        </p:nvSpPr>
        <p:spPr>
          <a:xfrm>
            <a:off x="2286000" y="182880"/>
            <a:ext cx="1645920" cy="1645920"/>
          </a:xfrm>
          <a:prstGeom prst="ellipse">
            <a:avLst/>
          </a:prstGeom>
          <a:solidFill>
            <a:srgbClr val="1E88E5">
              <a:alpha val="30000"/>
            </a:srgbClr>
          </a:solidFill>
          <a:ln w="12700">
            <a:solidFill>
              <a:srgbClr val="1E88E5">
                <a:alpha val="30000"/>
              </a:srgbClr>
            </a:solidFill>
            <a:prstDash val="solid"/>
          </a:ln>
        </p:spPr>
      </p:sp>
      <p:pic>
        <p:nvPicPr>
          <p:cNvPr id="5" name="Image 0" descr="preencoded.png">    </p:cNvPr>
          <p:cNvPicPr>
            <a:picLocks noChangeAspect="1"/>
          </p:cNvPicPr>
          <p:nvPr/>
        </p:nvPicPr>
        <p:blipFill>
          <a:blip r:embed="rId1">
            <a:alphaModFix amt="85000"/>
          </a:blip>
          <a:stretch>
            <a:fillRect/>
          </a:stretch>
        </p:blipFill>
        <p:spPr>
          <a:xfrm>
            <a:off x="365760" y="457200"/>
            <a:ext cx="2743200" cy="2743200"/>
          </a:xfrm>
          <a:prstGeom prst="rect">
            <a:avLst/>
          </a:prstGeom>
        </p:spPr>
      </p:pic>
      <p:sp>
        <p:nvSpPr>
          <p:cNvPr id="6" name="Text 3"/>
          <p:cNvSpPr/>
          <p:nvPr/>
        </p:nvSpPr>
        <p:spPr>
          <a:xfrm>
            <a:off x="3657600" y="548640"/>
            <a:ext cx="521208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Genetic Engineering,</a:t>
            </a:r>
            <a:endParaRPr lang="en-US" sz="2600" dirty="0"/>
          </a:p>
        </p:txBody>
      </p:sp>
      <p:sp>
        <p:nvSpPr>
          <p:cNvPr id="7" name="Text 4"/>
          <p:cNvSpPr/>
          <p:nvPr/>
        </p:nvSpPr>
        <p:spPr>
          <a:xfrm>
            <a:off x="3657600" y="1188720"/>
            <a:ext cx="521208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CRISPR Technology &amp;</a:t>
            </a:r>
            <a:endParaRPr lang="en-US" sz="2600" dirty="0"/>
          </a:p>
        </p:txBody>
      </p:sp>
      <p:sp>
        <p:nvSpPr>
          <p:cNvPr id="8" name="Text 5"/>
          <p:cNvSpPr/>
          <p:nvPr/>
        </p:nvSpPr>
        <p:spPr>
          <a:xfrm>
            <a:off x="3657600" y="1828800"/>
            <a:ext cx="5212080" cy="640080"/>
          </a:xfrm>
          <a:prstGeom prst="rect">
            <a:avLst/>
          </a:prstGeom>
          <a:noFill/>
          <a:ln/>
        </p:spPr>
        <p:txBody>
          <a:bodyPr wrap="square" lIns="0" tIns="0" rIns="0" bIns="0" rtlCol="0" anchor="ctr"/>
          <a:lstStyle/>
          <a:p>
            <a:pPr indent="0" marL="0">
              <a:buNone/>
            </a:pPr>
            <a:r>
              <a:rPr lang="en-US" sz="2600" b="1" dirty="0">
                <a:solidFill>
                  <a:srgbClr val="90CAF9"/>
                </a:solidFill>
                <a:latin typeface="Calibri" pitchFamily="34" charset="0"/>
                <a:ea typeface="Calibri" pitchFamily="34" charset="-122"/>
                <a:cs typeface="Calibri" pitchFamily="34" charset="-120"/>
              </a:rPr>
              <a:t>Gene Therapy</a:t>
            </a:r>
            <a:endParaRPr lang="en-US" sz="2600" dirty="0"/>
          </a:p>
        </p:txBody>
      </p:sp>
      <p:sp>
        <p:nvSpPr>
          <p:cNvPr id="9" name="Shape 6"/>
          <p:cNvSpPr/>
          <p:nvPr/>
        </p:nvSpPr>
        <p:spPr>
          <a:xfrm>
            <a:off x="3657600" y="2606040"/>
            <a:ext cx="5212080" cy="36576"/>
          </a:xfrm>
          <a:prstGeom prst="rect">
            <a:avLst/>
          </a:prstGeom>
          <a:solidFill>
            <a:srgbClr val="43A047"/>
          </a:solidFill>
          <a:ln w="12700">
            <a:solidFill>
              <a:srgbClr val="43A047"/>
            </a:solidFill>
            <a:prstDash val="solid"/>
          </a:ln>
        </p:spPr>
      </p:sp>
      <p:sp>
        <p:nvSpPr>
          <p:cNvPr id="10" name="Text 7"/>
          <p:cNvSpPr/>
          <p:nvPr/>
        </p:nvSpPr>
        <p:spPr>
          <a:xfrm>
            <a:off x="3657600" y="2788920"/>
            <a:ext cx="5212080" cy="320040"/>
          </a:xfrm>
          <a:prstGeom prst="rect">
            <a:avLst/>
          </a:prstGeom>
          <a:noFill/>
          <a:ln/>
        </p:spPr>
        <p:txBody>
          <a:bodyPr wrap="square" lIns="0" tIns="0" rIns="0" bIns="0" rtlCol="0" anchor="ctr"/>
          <a:lstStyle/>
          <a:p>
            <a:pPr indent="0" marL="0">
              <a:buNone/>
            </a:pPr>
            <a:r>
              <a:rPr lang="en-US" sz="1400" dirty="0">
                <a:solidFill>
                  <a:srgbClr val="90CAF9"/>
                </a:solidFill>
                <a:latin typeface="Calibri" pitchFamily="34" charset="0"/>
                <a:ea typeface="Calibri" pitchFamily="34" charset="-122"/>
                <a:cs typeface="Calibri" pitchFamily="34" charset="-120"/>
              </a:rPr>
              <a:t>Presented by: </a:t>
            </a:r>
            <a:pPr indent="0" marL="0">
              <a:buNone/>
            </a:pPr>
            <a:r>
              <a:rPr lang="en-US" sz="1400" b="1" dirty="0">
                <a:solidFill>
                  <a:srgbClr val="FFFFFF"/>
                </a:solidFill>
                <a:latin typeface="Calibri" pitchFamily="34" charset="0"/>
                <a:ea typeface="Calibri" pitchFamily="34" charset="-122"/>
                <a:cs typeface="Calibri" pitchFamily="34" charset="-120"/>
              </a:rPr>
              <a:t>Anshika Tripathi</a:t>
            </a:r>
            <a:endParaRPr lang="en-US" sz="1400" dirty="0"/>
          </a:p>
        </p:txBody>
      </p:sp>
      <p:sp>
        <p:nvSpPr>
          <p:cNvPr id="11" name="Text 8"/>
          <p:cNvSpPr/>
          <p:nvPr/>
        </p:nvSpPr>
        <p:spPr>
          <a:xfrm>
            <a:off x="3657600" y="3136392"/>
            <a:ext cx="5212080" cy="274320"/>
          </a:xfrm>
          <a:prstGeom prst="rect">
            <a:avLst/>
          </a:prstGeom>
          <a:noFill/>
          <a:ln/>
        </p:spPr>
        <p:txBody>
          <a:bodyPr wrap="square" lIns="0" tIns="0" rIns="0" bIns="0" rtlCol="0" anchor="ctr"/>
          <a:lstStyle/>
          <a:p>
            <a:pPr indent="0" marL="0">
              <a:buNone/>
            </a:pPr>
            <a:r>
              <a:rPr lang="en-US" sz="1200" dirty="0">
                <a:solidFill>
                  <a:srgbClr val="90CAF9"/>
                </a:solidFill>
                <a:latin typeface="Calibri" pitchFamily="34" charset="0"/>
                <a:ea typeface="Calibri" pitchFamily="34" charset="-122"/>
                <a:cs typeface="Calibri" pitchFamily="34" charset="-120"/>
              </a:rPr>
              <a:t>B.Tech Biotechnology  |  Internship Presentation</a:t>
            </a:r>
            <a:endParaRPr lang="en-US" sz="1200" dirty="0"/>
          </a:p>
        </p:txBody>
      </p:sp>
      <p:sp>
        <p:nvSpPr>
          <p:cNvPr id="12" name="Text 9"/>
          <p:cNvSpPr/>
          <p:nvPr/>
        </p:nvSpPr>
        <p:spPr>
          <a:xfrm>
            <a:off x="3657600" y="3447288"/>
            <a:ext cx="5212080" cy="256032"/>
          </a:xfrm>
          <a:prstGeom prst="rect">
            <a:avLst/>
          </a:prstGeom>
          <a:noFill/>
          <a:ln/>
        </p:spPr>
        <p:txBody>
          <a:bodyPr wrap="square" lIns="0" tIns="0" rIns="0" bIns="0" rtlCol="0" anchor="ctr"/>
          <a:lstStyle/>
          <a:p>
            <a:pPr indent="0" marL="0">
              <a:buNone/>
            </a:pPr>
            <a:r>
              <a:rPr lang="en-US" sz="1100" i="1" dirty="0">
                <a:solidFill>
                  <a:srgbClr val="78909C"/>
                </a:solidFill>
                <a:latin typeface="Calibri" pitchFamily="34" charset="0"/>
                <a:ea typeface="Calibri" pitchFamily="34" charset="-122"/>
                <a:cs typeface="Calibri" pitchFamily="34" charset="-120"/>
              </a:rPr>
              <a:t>June 2026</a:t>
            </a:r>
            <a:endParaRPr lang="en-US" sz="1100" dirty="0"/>
          </a:p>
        </p:txBody>
      </p:sp>
      <p:sp>
        <p:nvSpPr>
          <p:cNvPr id="13" name="Shape 10"/>
          <p:cNvSpPr/>
          <p:nvPr/>
        </p:nvSpPr>
        <p:spPr>
          <a:xfrm>
            <a:off x="3749040" y="4297680"/>
            <a:ext cx="1371600" cy="594360"/>
          </a:xfrm>
          <a:prstGeom prst="roundRect">
            <a:avLst>
              <a:gd name="adj" fmla="val 12308"/>
            </a:avLst>
          </a:prstGeom>
          <a:solidFill>
            <a:srgbClr val="1565C0">
              <a:alpha val="50000"/>
            </a:srgbClr>
          </a:solidFill>
          <a:ln w="12700">
            <a:solidFill>
              <a:srgbClr val="1E88E5">
                <a:alpha val="70000"/>
              </a:srgbClr>
            </a:solidFill>
            <a:prstDash val="solid"/>
          </a:ln>
        </p:spPr>
      </p:sp>
      <p:pic>
        <p:nvPicPr>
          <p:cNvPr id="14" name="Image 1" descr="preencoded.png">    </p:cNvPr>
          <p:cNvPicPr>
            <a:picLocks noChangeAspect="1"/>
          </p:cNvPicPr>
          <p:nvPr/>
        </p:nvPicPr>
        <p:blipFill>
          <a:blip r:embed="rId2"/>
          <a:stretch>
            <a:fillRect/>
          </a:stretch>
        </p:blipFill>
        <p:spPr>
          <a:xfrm>
            <a:off x="3794760" y="4325112"/>
            <a:ext cx="256032" cy="256032"/>
          </a:xfrm>
          <a:prstGeom prst="rect">
            <a:avLst/>
          </a:prstGeom>
        </p:spPr>
      </p:pic>
      <p:sp>
        <p:nvSpPr>
          <p:cNvPr id="15" name="Text 11"/>
          <p:cNvSpPr/>
          <p:nvPr/>
        </p:nvSpPr>
        <p:spPr>
          <a:xfrm>
            <a:off x="4069080" y="4352544"/>
            <a:ext cx="100584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Biotech</a:t>
            </a:r>
            <a:endParaRPr lang="en-US" sz="1000" dirty="0"/>
          </a:p>
        </p:txBody>
      </p:sp>
      <p:sp>
        <p:nvSpPr>
          <p:cNvPr id="16" name="Shape 12"/>
          <p:cNvSpPr/>
          <p:nvPr/>
        </p:nvSpPr>
        <p:spPr>
          <a:xfrm>
            <a:off x="5394960" y="4297680"/>
            <a:ext cx="1371600" cy="594360"/>
          </a:xfrm>
          <a:prstGeom prst="roundRect">
            <a:avLst>
              <a:gd name="adj" fmla="val 12308"/>
            </a:avLst>
          </a:prstGeom>
          <a:solidFill>
            <a:srgbClr val="1565C0">
              <a:alpha val="50000"/>
            </a:srgbClr>
          </a:solidFill>
          <a:ln w="12700">
            <a:solidFill>
              <a:srgbClr val="1E88E5">
                <a:alpha val="70000"/>
              </a:srgbClr>
            </a:solidFill>
            <a:prstDash val="solid"/>
          </a:ln>
        </p:spPr>
      </p:sp>
      <p:pic>
        <p:nvPicPr>
          <p:cNvPr id="17" name="Image 2" descr="preencoded.png">    </p:cNvPr>
          <p:cNvPicPr>
            <a:picLocks noChangeAspect="1"/>
          </p:cNvPicPr>
          <p:nvPr/>
        </p:nvPicPr>
        <p:blipFill>
          <a:blip r:embed="rId3"/>
          <a:stretch>
            <a:fillRect/>
          </a:stretch>
        </p:blipFill>
        <p:spPr>
          <a:xfrm>
            <a:off x="5440680" y="4325112"/>
            <a:ext cx="256032" cy="256032"/>
          </a:xfrm>
          <a:prstGeom prst="rect">
            <a:avLst/>
          </a:prstGeom>
        </p:spPr>
      </p:pic>
      <p:sp>
        <p:nvSpPr>
          <p:cNvPr id="18" name="Text 13"/>
          <p:cNvSpPr/>
          <p:nvPr/>
        </p:nvSpPr>
        <p:spPr>
          <a:xfrm>
            <a:off x="5715000" y="4352544"/>
            <a:ext cx="100584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Research</a:t>
            </a:r>
            <a:endParaRPr lang="en-US" sz="1000" dirty="0"/>
          </a:p>
        </p:txBody>
      </p:sp>
      <p:sp>
        <p:nvSpPr>
          <p:cNvPr id="19" name="Shape 14"/>
          <p:cNvSpPr/>
          <p:nvPr/>
        </p:nvSpPr>
        <p:spPr>
          <a:xfrm>
            <a:off x="7040880" y="4297680"/>
            <a:ext cx="1371600" cy="594360"/>
          </a:xfrm>
          <a:prstGeom prst="roundRect">
            <a:avLst>
              <a:gd name="adj" fmla="val 12308"/>
            </a:avLst>
          </a:prstGeom>
          <a:solidFill>
            <a:srgbClr val="1565C0">
              <a:alpha val="50000"/>
            </a:srgbClr>
          </a:solidFill>
          <a:ln w="12700">
            <a:solidFill>
              <a:srgbClr val="1E88E5">
                <a:alpha val="70000"/>
              </a:srgbClr>
            </a:solidFill>
            <a:prstDash val="solid"/>
          </a:ln>
        </p:spPr>
      </p:sp>
      <p:pic>
        <p:nvPicPr>
          <p:cNvPr id="20" name="Image 3" descr="preencoded.png">    </p:cNvPr>
          <p:cNvPicPr>
            <a:picLocks noChangeAspect="1"/>
          </p:cNvPicPr>
          <p:nvPr/>
        </p:nvPicPr>
        <p:blipFill>
          <a:blip r:embed="rId4"/>
          <a:stretch>
            <a:fillRect/>
          </a:stretch>
        </p:blipFill>
        <p:spPr>
          <a:xfrm>
            <a:off x="7086600" y="4325112"/>
            <a:ext cx="256032" cy="256032"/>
          </a:xfrm>
          <a:prstGeom prst="rect">
            <a:avLst/>
          </a:prstGeom>
        </p:spPr>
      </p:pic>
      <p:sp>
        <p:nvSpPr>
          <p:cNvPr id="21" name="Text 15"/>
          <p:cNvSpPr/>
          <p:nvPr/>
        </p:nvSpPr>
        <p:spPr>
          <a:xfrm>
            <a:off x="7360920" y="4352544"/>
            <a:ext cx="1005840"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Genomics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342"/>
          </a:solidFill>
          <a:ln w="12700">
            <a:solidFill>
              <a:srgbClr val="0A2342"/>
            </a:solidFill>
            <a:prstDash val="solid"/>
          </a:ln>
        </p:spPr>
      </p:sp>
      <p:sp>
        <p:nvSpPr>
          <p:cNvPr id="3" name="Shape 1"/>
          <p:cNvSpPr/>
          <p:nvPr/>
        </p:nvSpPr>
        <p:spPr>
          <a:xfrm>
            <a:off x="8595360" y="137160"/>
            <a:ext cx="685800" cy="685800"/>
          </a:xfrm>
          <a:prstGeom prst="ellipse">
            <a:avLst/>
          </a:prstGeom>
          <a:solidFill>
            <a:srgbClr val="43A047"/>
          </a:solidFill>
          <a:ln w="12700">
            <a:solidFill>
              <a:srgbClr val="43A047"/>
            </a:solidFill>
            <a:prstDash val="solid"/>
          </a:ln>
        </p:spPr>
      </p:sp>
      <p:sp>
        <p:nvSpPr>
          <p:cNvPr id="4" name="Text 2"/>
          <p:cNvSpPr/>
          <p:nvPr/>
        </p:nvSpPr>
        <p:spPr>
          <a:xfrm>
            <a:off x="365760" y="91440"/>
            <a:ext cx="80467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Table of Contents</a:t>
            </a:r>
            <a:endParaRPr lang="en-US" sz="2200" dirty="0"/>
          </a:p>
        </p:txBody>
      </p:sp>
      <p:sp>
        <p:nvSpPr>
          <p:cNvPr id="5" name="Text 3"/>
          <p:cNvSpPr/>
          <p:nvPr/>
        </p:nvSpPr>
        <p:spPr>
          <a:xfrm>
            <a:off x="365760" y="621792"/>
            <a:ext cx="8046720" cy="274320"/>
          </a:xfrm>
          <a:prstGeom prst="rect">
            <a:avLst/>
          </a:prstGeom>
          <a:noFill/>
          <a:ln/>
        </p:spPr>
        <p:txBody>
          <a:bodyPr wrap="square" lIns="0" tIns="0" rIns="0" bIns="0" rtlCol="0" anchor="ctr"/>
          <a:lstStyle/>
          <a:p>
            <a:pPr indent="0" marL="0">
              <a:buNone/>
            </a:pPr>
            <a:r>
              <a:rPr lang="en-US" sz="1100" i="1" dirty="0">
                <a:solidFill>
                  <a:srgbClr val="90CAF9"/>
                </a:solidFill>
                <a:latin typeface="Calibri" pitchFamily="34" charset="0"/>
                <a:ea typeface="Calibri" pitchFamily="34" charset="-122"/>
                <a:cs typeface="Calibri" pitchFamily="34" charset="-120"/>
              </a:rPr>
              <a:t>Roadmap of the Presentation</a:t>
            </a:r>
            <a:endParaRPr lang="en-US" sz="1100" dirty="0"/>
          </a:p>
        </p:txBody>
      </p:sp>
      <p:sp>
        <p:nvSpPr>
          <p:cNvPr id="6" name="Shape 4"/>
          <p:cNvSpPr/>
          <p:nvPr/>
        </p:nvSpPr>
        <p:spPr>
          <a:xfrm>
            <a:off x="365760" y="1097280"/>
            <a:ext cx="4114800" cy="384048"/>
          </a:xfrm>
          <a:prstGeom prst="roundRect">
            <a:avLst>
              <a:gd name="adj" fmla="val 14286"/>
            </a:avLst>
          </a:prstGeom>
          <a:solidFill>
            <a:srgbClr val="E3F2FD"/>
          </a:solidFill>
          <a:ln w="12700">
            <a:solidFill>
              <a:srgbClr val="BBDEFB"/>
            </a:solidFill>
            <a:prstDash val="solid"/>
          </a:ln>
          <a:effectLst>
            <a:outerShdw sx="100000" sy="100000" kx="0" ky="0" algn="bl" rotWithShape="0" blurRad="76200" dist="25400" dir="2700000">
              <a:srgbClr val="000000">
                <a:alpha val="9000"/>
              </a:srgbClr>
            </a:outerShdw>
          </a:effectLst>
        </p:spPr>
      </p:sp>
      <p:sp>
        <p:nvSpPr>
          <p:cNvPr id="7" name="Shape 5"/>
          <p:cNvSpPr/>
          <p:nvPr/>
        </p:nvSpPr>
        <p:spPr>
          <a:xfrm>
            <a:off x="365760" y="1097280"/>
            <a:ext cx="438912" cy="384048"/>
          </a:xfrm>
          <a:prstGeom prst="roundRect">
            <a:avLst>
              <a:gd name="adj" fmla="val 14286"/>
            </a:avLst>
          </a:prstGeom>
          <a:solidFill>
            <a:srgbClr val="1565C0"/>
          </a:solidFill>
          <a:ln w="12700">
            <a:solidFill>
              <a:srgbClr val="1565C0"/>
            </a:solidFill>
            <a:prstDash val="solid"/>
          </a:ln>
        </p:spPr>
      </p:sp>
      <p:sp>
        <p:nvSpPr>
          <p:cNvPr id="8" name="Text 6"/>
          <p:cNvSpPr/>
          <p:nvPr/>
        </p:nvSpPr>
        <p:spPr>
          <a:xfrm>
            <a:off x="365760" y="1097280"/>
            <a:ext cx="43891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868680" y="1124712"/>
            <a:ext cx="3520440" cy="329184"/>
          </a:xfrm>
          <a:prstGeom prst="rect">
            <a:avLst/>
          </a:prstGeom>
          <a:noFill/>
          <a:ln/>
        </p:spPr>
        <p:txBody>
          <a:bodyPr wrap="square" lIns="0" tIns="0" rIns="0" bIns="0" rtlCol="0" anchor="ctr"/>
          <a:lstStyle/>
          <a:p>
            <a:pPr indent="0" marL="0">
              <a:buNone/>
            </a:pPr>
            <a:r>
              <a:rPr lang="en-US" sz="1200" dirty="0">
                <a:solidFill>
                  <a:srgbClr val="37474F"/>
                </a:solidFill>
                <a:latin typeface="Calibri" pitchFamily="34" charset="0"/>
                <a:ea typeface="Calibri" pitchFamily="34" charset="-122"/>
                <a:cs typeface="Calibri" pitchFamily="34" charset="-120"/>
              </a:rPr>
              <a:t>Introduction to Genetic Engineering</a:t>
            </a:r>
            <a:endParaRPr lang="en-US" sz="1200" dirty="0"/>
          </a:p>
        </p:txBody>
      </p:sp>
      <p:sp>
        <p:nvSpPr>
          <p:cNvPr id="10" name="Shape 8"/>
          <p:cNvSpPr/>
          <p:nvPr/>
        </p:nvSpPr>
        <p:spPr>
          <a:xfrm>
            <a:off x="365760" y="1554480"/>
            <a:ext cx="4114800" cy="384048"/>
          </a:xfrm>
          <a:prstGeom prst="roundRect">
            <a:avLst>
              <a:gd name="adj" fmla="val 14286"/>
            </a:avLst>
          </a:prstGeom>
          <a:solidFill>
            <a:srgbClr val="FFFFFF"/>
          </a:solidFill>
          <a:ln w="12700">
            <a:solidFill>
              <a:srgbClr val="BBDEFB"/>
            </a:solidFill>
            <a:prstDash val="solid"/>
          </a:ln>
          <a:effectLst>
            <a:outerShdw sx="100000" sy="100000" kx="0" ky="0" algn="bl" rotWithShape="0" blurRad="76200" dist="25400" dir="2700000">
              <a:srgbClr val="000000">
                <a:alpha val="9000"/>
              </a:srgbClr>
            </a:outerShdw>
          </a:effectLst>
        </p:spPr>
      </p:sp>
      <p:sp>
        <p:nvSpPr>
          <p:cNvPr id="11" name="Shape 9"/>
          <p:cNvSpPr/>
          <p:nvPr/>
        </p:nvSpPr>
        <p:spPr>
          <a:xfrm>
            <a:off x="365760" y="1554480"/>
            <a:ext cx="438912" cy="384048"/>
          </a:xfrm>
          <a:prstGeom prst="roundRect">
            <a:avLst>
              <a:gd name="adj" fmla="val 14286"/>
            </a:avLst>
          </a:prstGeom>
          <a:solidFill>
            <a:srgbClr val="1565C0"/>
          </a:solidFill>
          <a:ln w="12700">
            <a:solidFill>
              <a:srgbClr val="1565C0"/>
            </a:solidFill>
            <a:prstDash val="solid"/>
          </a:ln>
        </p:spPr>
      </p:sp>
      <p:sp>
        <p:nvSpPr>
          <p:cNvPr id="12" name="Text 10"/>
          <p:cNvSpPr/>
          <p:nvPr/>
        </p:nvSpPr>
        <p:spPr>
          <a:xfrm>
            <a:off x="365760" y="1554480"/>
            <a:ext cx="43891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868680" y="1581912"/>
            <a:ext cx="3520440" cy="329184"/>
          </a:xfrm>
          <a:prstGeom prst="rect">
            <a:avLst/>
          </a:prstGeom>
          <a:noFill/>
          <a:ln/>
        </p:spPr>
        <p:txBody>
          <a:bodyPr wrap="square" lIns="0" tIns="0" rIns="0" bIns="0" rtlCol="0" anchor="ctr"/>
          <a:lstStyle/>
          <a:p>
            <a:pPr indent="0" marL="0">
              <a:buNone/>
            </a:pPr>
            <a:r>
              <a:rPr lang="en-US" sz="1200" dirty="0">
                <a:solidFill>
                  <a:srgbClr val="37474F"/>
                </a:solidFill>
                <a:latin typeface="Calibri" pitchFamily="34" charset="0"/>
                <a:ea typeface="Calibri" pitchFamily="34" charset="-122"/>
                <a:cs typeface="Calibri" pitchFamily="34" charset="-120"/>
              </a:rPr>
              <a:t>History &amp; Evolution</a:t>
            </a:r>
            <a:endParaRPr lang="en-US" sz="1200" dirty="0"/>
          </a:p>
        </p:txBody>
      </p:sp>
      <p:sp>
        <p:nvSpPr>
          <p:cNvPr id="14" name="Shape 12"/>
          <p:cNvSpPr/>
          <p:nvPr/>
        </p:nvSpPr>
        <p:spPr>
          <a:xfrm>
            <a:off x="365760" y="2011680"/>
            <a:ext cx="4114800" cy="384048"/>
          </a:xfrm>
          <a:prstGeom prst="roundRect">
            <a:avLst>
              <a:gd name="adj" fmla="val 14286"/>
            </a:avLst>
          </a:prstGeom>
          <a:solidFill>
            <a:srgbClr val="E3F2FD"/>
          </a:solidFill>
          <a:ln w="12700">
            <a:solidFill>
              <a:srgbClr val="BBDEFB"/>
            </a:solidFill>
            <a:prstDash val="solid"/>
          </a:ln>
          <a:effectLst>
            <a:outerShdw sx="100000" sy="100000" kx="0" ky="0" algn="bl" rotWithShape="0" blurRad="76200" dist="25400" dir="2700000">
              <a:srgbClr val="000000">
                <a:alpha val="9000"/>
              </a:srgbClr>
            </a:outerShdw>
          </a:effectLst>
        </p:spPr>
      </p:sp>
      <p:sp>
        <p:nvSpPr>
          <p:cNvPr id="15" name="Shape 13"/>
          <p:cNvSpPr/>
          <p:nvPr/>
        </p:nvSpPr>
        <p:spPr>
          <a:xfrm>
            <a:off x="365760" y="2011680"/>
            <a:ext cx="438912" cy="384048"/>
          </a:xfrm>
          <a:prstGeom prst="roundRect">
            <a:avLst>
              <a:gd name="adj" fmla="val 14286"/>
            </a:avLst>
          </a:prstGeom>
          <a:solidFill>
            <a:srgbClr val="1565C0"/>
          </a:solidFill>
          <a:ln w="12700">
            <a:solidFill>
              <a:srgbClr val="1565C0"/>
            </a:solidFill>
            <a:prstDash val="solid"/>
          </a:ln>
        </p:spPr>
      </p:sp>
      <p:sp>
        <p:nvSpPr>
          <p:cNvPr id="16" name="Text 14"/>
          <p:cNvSpPr/>
          <p:nvPr/>
        </p:nvSpPr>
        <p:spPr>
          <a:xfrm>
            <a:off x="365760" y="2011680"/>
            <a:ext cx="43891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7" name="Text 15"/>
          <p:cNvSpPr/>
          <p:nvPr/>
        </p:nvSpPr>
        <p:spPr>
          <a:xfrm>
            <a:off x="868680" y="2039112"/>
            <a:ext cx="3520440" cy="329184"/>
          </a:xfrm>
          <a:prstGeom prst="rect">
            <a:avLst/>
          </a:prstGeom>
          <a:noFill/>
          <a:ln/>
        </p:spPr>
        <p:txBody>
          <a:bodyPr wrap="square" lIns="0" tIns="0" rIns="0" bIns="0" rtlCol="0" anchor="ctr"/>
          <a:lstStyle/>
          <a:p>
            <a:pPr indent="0" marL="0">
              <a:buNone/>
            </a:pPr>
            <a:r>
              <a:rPr lang="en-US" sz="1200" dirty="0">
                <a:solidFill>
                  <a:srgbClr val="37474F"/>
                </a:solidFill>
                <a:latin typeface="Calibri" pitchFamily="34" charset="0"/>
                <a:ea typeface="Calibri" pitchFamily="34" charset="-122"/>
                <a:cs typeface="Calibri" pitchFamily="34" charset="-120"/>
              </a:rPr>
              <a:t>Principles &amp; Techniques</a:t>
            </a:r>
            <a:endParaRPr lang="en-US" sz="1200" dirty="0"/>
          </a:p>
        </p:txBody>
      </p:sp>
      <p:sp>
        <p:nvSpPr>
          <p:cNvPr id="18" name="Shape 16"/>
          <p:cNvSpPr/>
          <p:nvPr/>
        </p:nvSpPr>
        <p:spPr>
          <a:xfrm>
            <a:off x="365760" y="2468880"/>
            <a:ext cx="4114800" cy="384048"/>
          </a:xfrm>
          <a:prstGeom prst="roundRect">
            <a:avLst>
              <a:gd name="adj" fmla="val 14286"/>
            </a:avLst>
          </a:prstGeom>
          <a:solidFill>
            <a:srgbClr val="FFFFFF"/>
          </a:solidFill>
          <a:ln w="12700">
            <a:solidFill>
              <a:srgbClr val="BBDEFB"/>
            </a:solidFill>
            <a:prstDash val="solid"/>
          </a:ln>
          <a:effectLst>
            <a:outerShdw sx="100000" sy="100000" kx="0" ky="0" algn="bl" rotWithShape="0" blurRad="76200" dist="25400" dir="2700000">
              <a:srgbClr val="000000">
                <a:alpha val="9000"/>
              </a:srgbClr>
            </a:outerShdw>
          </a:effectLst>
        </p:spPr>
      </p:sp>
      <p:sp>
        <p:nvSpPr>
          <p:cNvPr id="19" name="Shape 17"/>
          <p:cNvSpPr/>
          <p:nvPr/>
        </p:nvSpPr>
        <p:spPr>
          <a:xfrm>
            <a:off x="365760" y="2468880"/>
            <a:ext cx="438912" cy="384048"/>
          </a:xfrm>
          <a:prstGeom prst="roundRect">
            <a:avLst>
              <a:gd name="adj" fmla="val 14286"/>
            </a:avLst>
          </a:prstGeom>
          <a:solidFill>
            <a:srgbClr val="1565C0"/>
          </a:solidFill>
          <a:ln w="12700">
            <a:solidFill>
              <a:srgbClr val="1565C0"/>
            </a:solidFill>
            <a:prstDash val="solid"/>
          </a:ln>
        </p:spPr>
      </p:sp>
      <p:sp>
        <p:nvSpPr>
          <p:cNvPr id="20" name="Text 18"/>
          <p:cNvSpPr/>
          <p:nvPr/>
        </p:nvSpPr>
        <p:spPr>
          <a:xfrm>
            <a:off x="365760" y="2468880"/>
            <a:ext cx="43891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1" name="Text 19"/>
          <p:cNvSpPr/>
          <p:nvPr/>
        </p:nvSpPr>
        <p:spPr>
          <a:xfrm>
            <a:off x="868680" y="2496312"/>
            <a:ext cx="3520440" cy="329184"/>
          </a:xfrm>
          <a:prstGeom prst="rect">
            <a:avLst/>
          </a:prstGeom>
          <a:noFill/>
          <a:ln/>
        </p:spPr>
        <p:txBody>
          <a:bodyPr wrap="square" lIns="0" tIns="0" rIns="0" bIns="0" rtlCol="0" anchor="ctr"/>
          <a:lstStyle/>
          <a:p>
            <a:pPr indent="0" marL="0">
              <a:buNone/>
            </a:pPr>
            <a:r>
              <a:rPr lang="en-US" sz="1200" dirty="0">
                <a:solidFill>
                  <a:srgbClr val="37474F"/>
                </a:solidFill>
                <a:latin typeface="Calibri" pitchFamily="34" charset="0"/>
                <a:ea typeface="Calibri" pitchFamily="34" charset="-122"/>
                <a:cs typeface="Calibri" pitchFamily="34" charset="-120"/>
              </a:rPr>
              <a:t>Applications of Genetic Engineering</a:t>
            </a:r>
            <a:endParaRPr lang="en-US" sz="1200" dirty="0"/>
          </a:p>
        </p:txBody>
      </p:sp>
      <p:sp>
        <p:nvSpPr>
          <p:cNvPr id="22" name="Shape 20"/>
          <p:cNvSpPr/>
          <p:nvPr/>
        </p:nvSpPr>
        <p:spPr>
          <a:xfrm>
            <a:off x="365760" y="2926080"/>
            <a:ext cx="4114800" cy="384048"/>
          </a:xfrm>
          <a:prstGeom prst="roundRect">
            <a:avLst>
              <a:gd name="adj" fmla="val 14286"/>
            </a:avLst>
          </a:prstGeom>
          <a:solidFill>
            <a:srgbClr val="E3F2FD"/>
          </a:solidFill>
          <a:ln w="12700">
            <a:solidFill>
              <a:srgbClr val="BBDEFB"/>
            </a:solidFill>
            <a:prstDash val="solid"/>
          </a:ln>
          <a:effectLst>
            <a:outerShdw sx="100000" sy="100000" kx="0" ky="0" algn="bl" rotWithShape="0" blurRad="76200" dist="25400" dir="2700000">
              <a:srgbClr val="000000">
                <a:alpha val="9000"/>
              </a:srgbClr>
            </a:outerShdw>
          </a:effectLst>
        </p:spPr>
      </p:sp>
      <p:sp>
        <p:nvSpPr>
          <p:cNvPr id="23" name="Shape 21"/>
          <p:cNvSpPr/>
          <p:nvPr/>
        </p:nvSpPr>
        <p:spPr>
          <a:xfrm>
            <a:off x="365760" y="2926080"/>
            <a:ext cx="438912" cy="384048"/>
          </a:xfrm>
          <a:prstGeom prst="roundRect">
            <a:avLst>
              <a:gd name="adj" fmla="val 14286"/>
            </a:avLst>
          </a:prstGeom>
          <a:solidFill>
            <a:srgbClr val="1565C0"/>
          </a:solidFill>
          <a:ln w="12700">
            <a:solidFill>
              <a:srgbClr val="1565C0"/>
            </a:solidFill>
            <a:prstDash val="solid"/>
          </a:ln>
        </p:spPr>
      </p:sp>
      <p:sp>
        <p:nvSpPr>
          <p:cNvPr id="24" name="Text 22"/>
          <p:cNvSpPr/>
          <p:nvPr/>
        </p:nvSpPr>
        <p:spPr>
          <a:xfrm>
            <a:off x="365760" y="2926080"/>
            <a:ext cx="43891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5" name="Text 23"/>
          <p:cNvSpPr/>
          <p:nvPr/>
        </p:nvSpPr>
        <p:spPr>
          <a:xfrm>
            <a:off x="868680" y="2953512"/>
            <a:ext cx="3520440" cy="329184"/>
          </a:xfrm>
          <a:prstGeom prst="rect">
            <a:avLst/>
          </a:prstGeom>
          <a:noFill/>
          <a:ln/>
        </p:spPr>
        <p:txBody>
          <a:bodyPr wrap="square" lIns="0" tIns="0" rIns="0" bIns="0" rtlCol="0" anchor="ctr"/>
          <a:lstStyle/>
          <a:p>
            <a:pPr indent="0" marL="0">
              <a:buNone/>
            </a:pPr>
            <a:r>
              <a:rPr lang="en-US" sz="1200" dirty="0">
                <a:solidFill>
                  <a:srgbClr val="37474F"/>
                </a:solidFill>
                <a:latin typeface="Calibri" pitchFamily="34" charset="0"/>
                <a:ea typeface="Calibri" pitchFamily="34" charset="-122"/>
                <a:cs typeface="Calibri" pitchFamily="34" charset="-120"/>
              </a:rPr>
              <a:t>CRISPR-Cas9 Technology</a:t>
            </a:r>
            <a:endParaRPr lang="en-US" sz="1200" dirty="0"/>
          </a:p>
        </p:txBody>
      </p:sp>
      <p:sp>
        <p:nvSpPr>
          <p:cNvPr id="26" name="Shape 24"/>
          <p:cNvSpPr/>
          <p:nvPr/>
        </p:nvSpPr>
        <p:spPr>
          <a:xfrm>
            <a:off x="365760" y="3383280"/>
            <a:ext cx="4114800" cy="384048"/>
          </a:xfrm>
          <a:prstGeom prst="roundRect">
            <a:avLst>
              <a:gd name="adj" fmla="val 14286"/>
            </a:avLst>
          </a:prstGeom>
          <a:solidFill>
            <a:srgbClr val="FFFFFF"/>
          </a:solidFill>
          <a:ln w="12700">
            <a:solidFill>
              <a:srgbClr val="BBDEFB"/>
            </a:solidFill>
            <a:prstDash val="solid"/>
          </a:ln>
          <a:effectLst>
            <a:outerShdw sx="100000" sy="100000" kx="0" ky="0" algn="bl" rotWithShape="0" blurRad="76200" dist="25400" dir="2700000">
              <a:srgbClr val="000000">
                <a:alpha val="9000"/>
              </a:srgbClr>
            </a:outerShdw>
          </a:effectLst>
        </p:spPr>
      </p:sp>
      <p:sp>
        <p:nvSpPr>
          <p:cNvPr id="27" name="Shape 25"/>
          <p:cNvSpPr/>
          <p:nvPr/>
        </p:nvSpPr>
        <p:spPr>
          <a:xfrm>
            <a:off x="365760" y="3383280"/>
            <a:ext cx="438912" cy="384048"/>
          </a:xfrm>
          <a:prstGeom prst="roundRect">
            <a:avLst>
              <a:gd name="adj" fmla="val 14286"/>
            </a:avLst>
          </a:prstGeom>
          <a:solidFill>
            <a:srgbClr val="1565C0"/>
          </a:solidFill>
          <a:ln w="12700">
            <a:solidFill>
              <a:srgbClr val="1565C0"/>
            </a:solidFill>
            <a:prstDash val="solid"/>
          </a:ln>
        </p:spPr>
      </p:sp>
      <p:sp>
        <p:nvSpPr>
          <p:cNvPr id="28" name="Text 26"/>
          <p:cNvSpPr/>
          <p:nvPr/>
        </p:nvSpPr>
        <p:spPr>
          <a:xfrm>
            <a:off x="365760" y="3383280"/>
            <a:ext cx="43891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9" name="Text 27"/>
          <p:cNvSpPr/>
          <p:nvPr/>
        </p:nvSpPr>
        <p:spPr>
          <a:xfrm>
            <a:off x="868680" y="3410712"/>
            <a:ext cx="3520440" cy="329184"/>
          </a:xfrm>
          <a:prstGeom prst="rect">
            <a:avLst/>
          </a:prstGeom>
          <a:noFill/>
          <a:ln/>
        </p:spPr>
        <p:txBody>
          <a:bodyPr wrap="square" lIns="0" tIns="0" rIns="0" bIns="0" rtlCol="0" anchor="ctr"/>
          <a:lstStyle/>
          <a:p>
            <a:pPr indent="0" marL="0">
              <a:buNone/>
            </a:pPr>
            <a:r>
              <a:rPr lang="en-US" sz="1200" dirty="0">
                <a:solidFill>
                  <a:srgbClr val="37474F"/>
                </a:solidFill>
                <a:latin typeface="Calibri" pitchFamily="34" charset="0"/>
                <a:ea typeface="Calibri" pitchFamily="34" charset="-122"/>
                <a:cs typeface="Calibri" pitchFamily="34" charset="-120"/>
              </a:rPr>
              <a:t>Advantages &amp; Limitations of CRISPR</a:t>
            </a:r>
            <a:endParaRPr lang="en-US" sz="1200" dirty="0"/>
          </a:p>
        </p:txBody>
      </p:sp>
      <p:sp>
        <p:nvSpPr>
          <p:cNvPr id="30" name="Shape 28"/>
          <p:cNvSpPr/>
          <p:nvPr/>
        </p:nvSpPr>
        <p:spPr>
          <a:xfrm>
            <a:off x="365760" y="3840480"/>
            <a:ext cx="4114800" cy="384048"/>
          </a:xfrm>
          <a:prstGeom prst="roundRect">
            <a:avLst>
              <a:gd name="adj" fmla="val 14286"/>
            </a:avLst>
          </a:prstGeom>
          <a:solidFill>
            <a:srgbClr val="E3F2FD"/>
          </a:solidFill>
          <a:ln w="12700">
            <a:solidFill>
              <a:srgbClr val="BBDEFB"/>
            </a:solidFill>
            <a:prstDash val="solid"/>
          </a:ln>
          <a:effectLst>
            <a:outerShdw sx="100000" sy="100000" kx="0" ky="0" algn="bl" rotWithShape="0" blurRad="76200" dist="25400" dir="2700000">
              <a:srgbClr val="000000">
                <a:alpha val="9000"/>
              </a:srgbClr>
            </a:outerShdw>
          </a:effectLst>
        </p:spPr>
      </p:sp>
      <p:sp>
        <p:nvSpPr>
          <p:cNvPr id="31" name="Shape 29"/>
          <p:cNvSpPr/>
          <p:nvPr/>
        </p:nvSpPr>
        <p:spPr>
          <a:xfrm>
            <a:off x="365760" y="3840480"/>
            <a:ext cx="438912" cy="384048"/>
          </a:xfrm>
          <a:prstGeom prst="roundRect">
            <a:avLst>
              <a:gd name="adj" fmla="val 14286"/>
            </a:avLst>
          </a:prstGeom>
          <a:solidFill>
            <a:srgbClr val="1565C0"/>
          </a:solidFill>
          <a:ln w="12700">
            <a:solidFill>
              <a:srgbClr val="1565C0"/>
            </a:solidFill>
            <a:prstDash val="solid"/>
          </a:ln>
        </p:spPr>
      </p:sp>
      <p:sp>
        <p:nvSpPr>
          <p:cNvPr id="32" name="Text 30"/>
          <p:cNvSpPr/>
          <p:nvPr/>
        </p:nvSpPr>
        <p:spPr>
          <a:xfrm>
            <a:off x="365760" y="3840480"/>
            <a:ext cx="43891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33" name="Text 31"/>
          <p:cNvSpPr/>
          <p:nvPr/>
        </p:nvSpPr>
        <p:spPr>
          <a:xfrm>
            <a:off x="868680" y="3867912"/>
            <a:ext cx="3520440" cy="329184"/>
          </a:xfrm>
          <a:prstGeom prst="rect">
            <a:avLst/>
          </a:prstGeom>
          <a:noFill/>
          <a:ln/>
        </p:spPr>
        <p:txBody>
          <a:bodyPr wrap="square" lIns="0" tIns="0" rIns="0" bIns="0" rtlCol="0" anchor="ctr"/>
          <a:lstStyle/>
          <a:p>
            <a:pPr indent="0" marL="0">
              <a:buNone/>
            </a:pPr>
            <a:r>
              <a:rPr lang="en-US" sz="1200" dirty="0">
                <a:solidFill>
                  <a:srgbClr val="37474F"/>
                </a:solidFill>
                <a:latin typeface="Calibri" pitchFamily="34" charset="0"/>
                <a:ea typeface="Calibri" pitchFamily="34" charset="-122"/>
                <a:cs typeface="Calibri" pitchFamily="34" charset="-120"/>
              </a:rPr>
              <a:t>Gene Therapy</a:t>
            </a:r>
            <a:endParaRPr lang="en-US" sz="1200" dirty="0"/>
          </a:p>
        </p:txBody>
      </p:sp>
      <p:sp>
        <p:nvSpPr>
          <p:cNvPr id="34" name="Shape 32"/>
          <p:cNvSpPr/>
          <p:nvPr/>
        </p:nvSpPr>
        <p:spPr>
          <a:xfrm>
            <a:off x="365760" y="4297680"/>
            <a:ext cx="4114800" cy="384048"/>
          </a:xfrm>
          <a:prstGeom prst="roundRect">
            <a:avLst>
              <a:gd name="adj" fmla="val 14286"/>
            </a:avLst>
          </a:prstGeom>
          <a:solidFill>
            <a:srgbClr val="FFFFFF"/>
          </a:solidFill>
          <a:ln w="12700">
            <a:solidFill>
              <a:srgbClr val="BBDEFB"/>
            </a:solidFill>
            <a:prstDash val="solid"/>
          </a:ln>
          <a:effectLst>
            <a:outerShdw sx="100000" sy="100000" kx="0" ky="0" algn="bl" rotWithShape="0" blurRad="76200" dist="25400" dir="2700000">
              <a:srgbClr val="000000">
                <a:alpha val="9000"/>
              </a:srgbClr>
            </a:outerShdw>
          </a:effectLst>
        </p:spPr>
      </p:sp>
      <p:sp>
        <p:nvSpPr>
          <p:cNvPr id="35" name="Shape 33"/>
          <p:cNvSpPr/>
          <p:nvPr/>
        </p:nvSpPr>
        <p:spPr>
          <a:xfrm>
            <a:off x="365760" y="4297680"/>
            <a:ext cx="438912" cy="384048"/>
          </a:xfrm>
          <a:prstGeom prst="roundRect">
            <a:avLst>
              <a:gd name="adj" fmla="val 14286"/>
            </a:avLst>
          </a:prstGeom>
          <a:solidFill>
            <a:srgbClr val="1565C0"/>
          </a:solidFill>
          <a:ln w="12700">
            <a:solidFill>
              <a:srgbClr val="1565C0"/>
            </a:solidFill>
            <a:prstDash val="solid"/>
          </a:ln>
        </p:spPr>
      </p:sp>
      <p:sp>
        <p:nvSpPr>
          <p:cNvPr id="36" name="Text 34"/>
          <p:cNvSpPr/>
          <p:nvPr/>
        </p:nvSpPr>
        <p:spPr>
          <a:xfrm>
            <a:off x="365760" y="4297680"/>
            <a:ext cx="43891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37" name="Text 35"/>
          <p:cNvSpPr/>
          <p:nvPr/>
        </p:nvSpPr>
        <p:spPr>
          <a:xfrm>
            <a:off x="868680" y="4325112"/>
            <a:ext cx="3520440" cy="329184"/>
          </a:xfrm>
          <a:prstGeom prst="rect">
            <a:avLst/>
          </a:prstGeom>
          <a:noFill/>
          <a:ln/>
        </p:spPr>
        <p:txBody>
          <a:bodyPr wrap="square" lIns="0" tIns="0" rIns="0" bIns="0" rtlCol="0" anchor="ctr"/>
          <a:lstStyle/>
          <a:p>
            <a:pPr indent="0" marL="0">
              <a:buNone/>
            </a:pPr>
            <a:r>
              <a:rPr lang="en-US" sz="1200" dirty="0">
                <a:solidFill>
                  <a:srgbClr val="37474F"/>
                </a:solidFill>
                <a:latin typeface="Calibri" pitchFamily="34" charset="0"/>
                <a:ea typeface="Calibri" pitchFamily="34" charset="-122"/>
                <a:cs typeface="Calibri" pitchFamily="34" charset="-120"/>
              </a:rPr>
              <a:t>Applications of Gene Therapy</a:t>
            </a:r>
            <a:endParaRPr lang="en-US" sz="1200" dirty="0"/>
          </a:p>
        </p:txBody>
      </p:sp>
      <p:sp>
        <p:nvSpPr>
          <p:cNvPr id="38" name="Shape 36"/>
          <p:cNvSpPr/>
          <p:nvPr/>
        </p:nvSpPr>
        <p:spPr>
          <a:xfrm>
            <a:off x="4709160" y="1097280"/>
            <a:ext cx="4069080" cy="384048"/>
          </a:xfrm>
          <a:prstGeom prst="roundRect">
            <a:avLst>
              <a:gd name="adj" fmla="val 14286"/>
            </a:avLst>
          </a:prstGeom>
          <a:solidFill>
            <a:srgbClr val="E8F5E9"/>
          </a:solidFill>
          <a:ln w="12700">
            <a:solidFill>
              <a:srgbClr val="C8E6C9"/>
            </a:solidFill>
            <a:prstDash val="solid"/>
          </a:ln>
          <a:effectLst>
            <a:outerShdw sx="100000" sy="100000" kx="0" ky="0" algn="bl" rotWithShape="0" blurRad="76200" dist="25400" dir="2700000">
              <a:srgbClr val="000000">
                <a:alpha val="9000"/>
              </a:srgbClr>
            </a:outerShdw>
          </a:effectLst>
        </p:spPr>
      </p:sp>
      <p:sp>
        <p:nvSpPr>
          <p:cNvPr id="39" name="Shape 37"/>
          <p:cNvSpPr/>
          <p:nvPr/>
        </p:nvSpPr>
        <p:spPr>
          <a:xfrm>
            <a:off x="4709160" y="1097280"/>
            <a:ext cx="438912" cy="384048"/>
          </a:xfrm>
          <a:prstGeom prst="roundRect">
            <a:avLst>
              <a:gd name="adj" fmla="val 14286"/>
            </a:avLst>
          </a:prstGeom>
          <a:solidFill>
            <a:srgbClr val="2E7D32"/>
          </a:solidFill>
          <a:ln w="12700">
            <a:solidFill>
              <a:srgbClr val="2E7D32"/>
            </a:solidFill>
            <a:prstDash val="solid"/>
          </a:ln>
        </p:spPr>
      </p:sp>
      <p:sp>
        <p:nvSpPr>
          <p:cNvPr id="40" name="Text 38"/>
          <p:cNvSpPr/>
          <p:nvPr/>
        </p:nvSpPr>
        <p:spPr>
          <a:xfrm>
            <a:off x="4709160" y="1097280"/>
            <a:ext cx="43891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41" name="Text 39"/>
          <p:cNvSpPr/>
          <p:nvPr/>
        </p:nvSpPr>
        <p:spPr>
          <a:xfrm>
            <a:off x="5212080" y="1124712"/>
            <a:ext cx="3474720" cy="329184"/>
          </a:xfrm>
          <a:prstGeom prst="rect">
            <a:avLst/>
          </a:prstGeom>
          <a:noFill/>
          <a:ln/>
        </p:spPr>
        <p:txBody>
          <a:bodyPr wrap="square" lIns="0" tIns="0" rIns="0" bIns="0" rtlCol="0" anchor="ctr"/>
          <a:lstStyle/>
          <a:p>
            <a:pPr indent="0" marL="0">
              <a:buNone/>
            </a:pPr>
            <a:r>
              <a:rPr lang="en-US" sz="1200" dirty="0">
                <a:solidFill>
                  <a:srgbClr val="37474F"/>
                </a:solidFill>
                <a:latin typeface="Calibri" pitchFamily="34" charset="0"/>
                <a:ea typeface="Calibri" pitchFamily="34" charset="-122"/>
                <a:cs typeface="Calibri" pitchFamily="34" charset="-120"/>
              </a:rPr>
              <a:t>Case Studies</a:t>
            </a:r>
            <a:endParaRPr lang="en-US" sz="1200" dirty="0"/>
          </a:p>
        </p:txBody>
      </p:sp>
      <p:sp>
        <p:nvSpPr>
          <p:cNvPr id="42" name="Shape 40"/>
          <p:cNvSpPr/>
          <p:nvPr/>
        </p:nvSpPr>
        <p:spPr>
          <a:xfrm>
            <a:off x="4709160" y="1554480"/>
            <a:ext cx="4069080" cy="384048"/>
          </a:xfrm>
          <a:prstGeom prst="roundRect">
            <a:avLst>
              <a:gd name="adj" fmla="val 14286"/>
            </a:avLst>
          </a:prstGeom>
          <a:solidFill>
            <a:srgbClr val="FFFFFF"/>
          </a:solidFill>
          <a:ln w="12700">
            <a:solidFill>
              <a:srgbClr val="C8E6C9"/>
            </a:solidFill>
            <a:prstDash val="solid"/>
          </a:ln>
          <a:effectLst>
            <a:outerShdw sx="100000" sy="100000" kx="0" ky="0" algn="bl" rotWithShape="0" blurRad="76200" dist="25400" dir="2700000">
              <a:srgbClr val="000000">
                <a:alpha val="9000"/>
              </a:srgbClr>
            </a:outerShdw>
          </a:effectLst>
        </p:spPr>
      </p:sp>
      <p:sp>
        <p:nvSpPr>
          <p:cNvPr id="43" name="Shape 41"/>
          <p:cNvSpPr/>
          <p:nvPr/>
        </p:nvSpPr>
        <p:spPr>
          <a:xfrm>
            <a:off x="4709160" y="1554480"/>
            <a:ext cx="438912" cy="384048"/>
          </a:xfrm>
          <a:prstGeom prst="roundRect">
            <a:avLst>
              <a:gd name="adj" fmla="val 14286"/>
            </a:avLst>
          </a:prstGeom>
          <a:solidFill>
            <a:srgbClr val="2E7D32"/>
          </a:solidFill>
          <a:ln w="12700">
            <a:solidFill>
              <a:srgbClr val="2E7D32"/>
            </a:solidFill>
            <a:prstDash val="solid"/>
          </a:ln>
        </p:spPr>
      </p:sp>
      <p:sp>
        <p:nvSpPr>
          <p:cNvPr id="44" name="Text 42"/>
          <p:cNvSpPr/>
          <p:nvPr/>
        </p:nvSpPr>
        <p:spPr>
          <a:xfrm>
            <a:off x="4709160" y="1554480"/>
            <a:ext cx="43891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45" name="Text 43"/>
          <p:cNvSpPr/>
          <p:nvPr/>
        </p:nvSpPr>
        <p:spPr>
          <a:xfrm>
            <a:off x="5212080" y="1581912"/>
            <a:ext cx="3474720" cy="329184"/>
          </a:xfrm>
          <a:prstGeom prst="rect">
            <a:avLst/>
          </a:prstGeom>
          <a:noFill/>
          <a:ln/>
        </p:spPr>
        <p:txBody>
          <a:bodyPr wrap="square" lIns="0" tIns="0" rIns="0" bIns="0" rtlCol="0" anchor="ctr"/>
          <a:lstStyle/>
          <a:p>
            <a:pPr indent="0" marL="0">
              <a:buNone/>
            </a:pPr>
            <a:r>
              <a:rPr lang="en-US" sz="1200" dirty="0">
                <a:solidFill>
                  <a:srgbClr val="37474F"/>
                </a:solidFill>
                <a:latin typeface="Calibri" pitchFamily="34" charset="0"/>
                <a:ea typeface="Calibri" pitchFamily="34" charset="-122"/>
                <a:cs typeface="Calibri" pitchFamily="34" charset="-120"/>
              </a:rPr>
              <a:t>Ethical, Social &amp; Regulatory Issues</a:t>
            </a:r>
            <a:endParaRPr lang="en-US" sz="1200" dirty="0"/>
          </a:p>
        </p:txBody>
      </p:sp>
      <p:sp>
        <p:nvSpPr>
          <p:cNvPr id="46" name="Shape 44"/>
          <p:cNvSpPr/>
          <p:nvPr/>
        </p:nvSpPr>
        <p:spPr>
          <a:xfrm>
            <a:off x="4709160" y="2011680"/>
            <a:ext cx="4069080" cy="384048"/>
          </a:xfrm>
          <a:prstGeom prst="roundRect">
            <a:avLst>
              <a:gd name="adj" fmla="val 14286"/>
            </a:avLst>
          </a:prstGeom>
          <a:solidFill>
            <a:srgbClr val="E8F5E9"/>
          </a:solidFill>
          <a:ln w="12700">
            <a:solidFill>
              <a:srgbClr val="C8E6C9"/>
            </a:solidFill>
            <a:prstDash val="solid"/>
          </a:ln>
          <a:effectLst>
            <a:outerShdw sx="100000" sy="100000" kx="0" ky="0" algn="bl" rotWithShape="0" blurRad="76200" dist="25400" dir="2700000">
              <a:srgbClr val="000000">
                <a:alpha val="9000"/>
              </a:srgbClr>
            </a:outerShdw>
          </a:effectLst>
        </p:spPr>
      </p:sp>
      <p:sp>
        <p:nvSpPr>
          <p:cNvPr id="47" name="Shape 45"/>
          <p:cNvSpPr/>
          <p:nvPr/>
        </p:nvSpPr>
        <p:spPr>
          <a:xfrm>
            <a:off x="4709160" y="2011680"/>
            <a:ext cx="438912" cy="384048"/>
          </a:xfrm>
          <a:prstGeom prst="roundRect">
            <a:avLst>
              <a:gd name="adj" fmla="val 14286"/>
            </a:avLst>
          </a:prstGeom>
          <a:solidFill>
            <a:srgbClr val="2E7D32"/>
          </a:solidFill>
          <a:ln w="12700">
            <a:solidFill>
              <a:srgbClr val="2E7D32"/>
            </a:solidFill>
            <a:prstDash val="solid"/>
          </a:ln>
        </p:spPr>
      </p:sp>
      <p:sp>
        <p:nvSpPr>
          <p:cNvPr id="48" name="Text 46"/>
          <p:cNvSpPr/>
          <p:nvPr/>
        </p:nvSpPr>
        <p:spPr>
          <a:xfrm>
            <a:off x="4709160" y="2011680"/>
            <a:ext cx="43891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49" name="Text 47"/>
          <p:cNvSpPr/>
          <p:nvPr/>
        </p:nvSpPr>
        <p:spPr>
          <a:xfrm>
            <a:off x="5212080" y="2039112"/>
            <a:ext cx="3474720" cy="329184"/>
          </a:xfrm>
          <a:prstGeom prst="rect">
            <a:avLst/>
          </a:prstGeom>
          <a:noFill/>
          <a:ln/>
        </p:spPr>
        <p:txBody>
          <a:bodyPr wrap="square" lIns="0" tIns="0" rIns="0" bIns="0" rtlCol="0" anchor="ctr"/>
          <a:lstStyle/>
          <a:p>
            <a:pPr indent="0" marL="0">
              <a:buNone/>
            </a:pPr>
            <a:r>
              <a:rPr lang="en-US" sz="1200" dirty="0">
                <a:solidFill>
                  <a:srgbClr val="37474F"/>
                </a:solidFill>
                <a:latin typeface="Calibri" pitchFamily="34" charset="0"/>
                <a:ea typeface="Calibri" pitchFamily="34" charset="-122"/>
                <a:cs typeface="Calibri" pitchFamily="34" charset="-120"/>
              </a:rPr>
              <a:t>Future Prospects</a:t>
            </a:r>
            <a:endParaRPr lang="en-US" sz="1200" dirty="0"/>
          </a:p>
        </p:txBody>
      </p:sp>
      <p:sp>
        <p:nvSpPr>
          <p:cNvPr id="50" name="Shape 48"/>
          <p:cNvSpPr/>
          <p:nvPr/>
        </p:nvSpPr>
        <p:spPr>
          <a:xfrm>
            <a:off x="4709160" y="2468880"/>
            <a:ext cx="4069080" cy="384048"/>
          </a:xfrm>
          <a:prstGeom prst="roundRect">
            <a:avLst>
              <a:gd name="adj" fmla="val 14286"/>
            </a:avLst>
          </a:prstGeom>
          <a:solidFill>
            <a:srgbClr val="FFFFFF"/>
          </a:solidFill>
          <a:ln w="12700">
            <a:solidFill>
              <a:srgbClr val="C8E6C9"/>
            </a:solidFill>
            <a:prstDash val="solid"/>
          </a:ln>
          <a:effectLst>
            <a:outerShdw sx="100000" sy="100000" kx="0" ky="0" algn="bl" rotWithShape="0" blurRad="76200" dist="25400" dir="2700000">
              <a:srgbClr val="000000">
                <a:alpha val="9000"/>
              </a:srgbClr>
            </a:outerShdw>
          </a:effectLst>
        </p:spPr>
      </p:sp>
      <p:sp>
        <p:nvSpPr>
          <p:cNvPr id="51" name="Shape 49"/>
          <p:cNvSpPr/>
          <p:nvPr/>
        </p:nvSpPr>
        <p:spPr>
          <a:xfrm>
            <a:off x="4709160" y="2468880"/>
            <a:ext cx="438912" cy="384048"/>
          </a:xfrm>
          <a:prstGeom prst="roundRect">
            <a:avLst>
              <a:gd name="adj" fmla="val 14286"/>
            </a:avLst>
          </a:prstGeom>
          <a:solidFill>
            <a:srgbClr val="2E7D32"/>
          </a:solidFill>
          <a:ln w="12700">
            <a:solidFill>
              <a:srgbClr val="2E7D32"/>
            </a:solidFill>
            <a:prstDash val="solid"/>
          </a:ln>
        </p:spPr>
      </p:sp>
      <p:sp>
        <p:nvSpPr>
          <p:cNvPr id="52" name="Text 50"/>
          <p:cNvSpPr/>
          <p:nvPr/>
        </p:nvSpPr>
        <p:spPr>
          <a:xfrm>
            <a:off x="4709160" y="2468880"/>
            <a:ext cx="43891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53" name="Text 51"/>
          <p:cNvSpPr/>
          <p:nvPr/>
        </p:nvSpPr>
        <p:spPr>
          <a:xfrm>
            <a:off x="5212080" y="2496312"/>
            <a:ext cx="3474720" cy="329184"/>
          </a:xfrm>
          <a:prstGeom prst="rect">
            <a:avLst/>
          </a:prstGeom>
          <a:noFill/>
          <a:ln/>
        </p:spPr>
        <p:txBody>
          <a:bodyPr wrap="square" lIns="0" tIns="0" rIns="0" bIns="0" rtlCol="0" anchor="ctr"/>
          <a:lstStyle/>
          <a:p>
            <a:pPr indent="0" marL="0">
              <a:buNone/>
            </a:pPr>
            <a:r>
              <a:rPr lang="en-US" sz="1200" dirty="0">
                <a:solidFill>
                  <a:srgbClr val="37474F"/>
                </a:solidFill>
                <a:latin typeface="Calibri" pitchFamily="34" charset="0"/>
                <a:ea typeface="Calibri" pitchFamily="34" charset="-122"/>
                <a:cs typeface="Calibri" pitchFamily="34" charset="-120"/>
              </a:rPr>
              <a:t>Conclusion</a:t>
            </a:r>
            <a:endParaRPr lang="en-US" sz="1200" dirty="0"/>
          </a:p>
        </p:txBody>
      </p:sp>
      <p:sp>
        <p:nvSpPr>
          <p:cNvPr id="54" name="Shape 52"/>
          <p:cNvSpPr/>
          <p:nvPr/>
        </p:nvSpPr>
        <p:spPr>
          <a:xfrm>
            <a:off x="4709160" y="2926080"/>
            <a:ext cx="4069080" cy="384048"/>
          </a:xfrm>
          <a:prstGeom prst="roundRect">
            <a:avLst>
              <a:gd name="adj" fmla="val 14286"/>
            </a:avLst>
          </a:prstGeom>
          <a:solidFill>
            <a:srgbClr val="E8F5E9"/>
          </a:solidFill>
          <a:ln w="12700">
            <a:solidFill>
              <a:srgbClr val="C8E6C9"/>
            </a:solidFill>
            <a:prstDash val="solid"/>
          </a:ln>
          <a:effectLst>
            <a:outerShdw sx="100000" sy="100000" kx="0" ky="0" algn="bl" rotWithShape="0" blurRad="76200" dist="25400" dir="2700000">
              <a:srgbClr val="000000">
                <a:alpha val="9000"/>
              </a:srgbClr>
            </a:outerShdw>
          </a:effectLst>
        </p:spPr>
      </p:sp>
      <p:sp>
        <p:nvSpPr>
          <p:cNvPr id="55" name="Shape 53"/>
          <p:cNvSpPr/>
          <p:nvPr/>
        </p:nvSpPr>
        <p:spPr>
          <a:xfrm>
            <a:off x="4709160" y="2926080"/>
            <a:ext cx="438912" cy="384048"/>
          </a:xfrm>
          <a:prstGeom prst="roundRect">
            <a:avLst>
              <a:gd name="adj" fmla="val 14286"/>
            </a:avLst>
          </a:prstGeom>
          <a:solidFill>
            <a:srgbClr val="2E7D32"/>
          </a:solidFill>
          <a:ln w="12700">
            <a:solidFill>
              <a:srgbClr val="2E7D32"/>
            </a:solidFill>
            <a:prstDash val="solid"/>
          </a:ln>
        </p:spPr>
      </p:sp>
      <p:sp>
        <p:nvSpPr>
          <p:cNvPr id="56" name="Text 54"/>
          <p:cNvSpPr/>
          <p:nvPr/>
        </p:nvSpPr>
        <p:spPr>
          <a:xfrm>
            <a:off x="4709160" y="2926080"/>
            <a:ext cx="43891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13</a:t>
            </a:r>
            <a:endParaRPr lang="en-US" sz="1200" dirty="0"/>
          </a:p>
        </p:txBody>
      </p:sp>
      <p:sp>
        <p:nvSpPr>
          <p:cNvPr id="57" name="Text 55"/>
          <p:cNvSpPr/>
          <p:nvPr/>
        </p:nvSpPr>
        <p:spPr>
          <a:xfrm>
            <a:off x="5212080" y="2953512"/>
            <a:ext cx="3474720" cy="329184"/>
          </a:xfrm>
          <a:prstGeom prst="rect">
            <a:avLst/>
          </a:prstGeom>
          <a:noFill/>
          <a:ln/>
        </p:spPr>
        <p:txBody>
          <a:bodyPr wrap="square" lIns="0" tIns="0" rIns="0" bIns="0" rtlCol="0" anchor="ctr"/>
          <a:lstStyle/>
          <a:p>
            <a:pPr indent="0" marL="0">
              <a:buNone/>
            </a:pPr>
            <a:r>
              <a:rPr lang="en-US" sz="1200" dirty="0">
                <a:solidFill>
                  <a:srgbClr val="37474F"/>
                </a:solidFill>
                <a:latin typeface="Calibri" pitchFamily="34" charset="0"/>
                <a:ea typeface="Calibri" pitchFamily="34" charset="-122"/>
                <a:cs typeface="Calibri" pitchFamily="34" charset="-120"/>
              </a:rPr>
              <a:t>References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342"/>
          </a:solidFill>
          <a:ln w="12700">
            <a:solidFill>
              <a:srgbClr val="0A2342"/>
            </a:solidFill>
            <a:prstDash val="solid"/>
          </a:ln>
        </p:spPr>
      </p:sp>
      <p:sp>
        <p:nvSpPr>
          <p:cNvPr id="3" name="Shape 1"/>
          <p:cNvSpPr/>
          <p:nvPr/>
        </p:nvSpPr>
        <p:spPr>
          <a:xfrm>
            <a:off x="8595360" y="137160"/>
            <a:ext cx="685800" cy="685800"/>
          </a:xfrm>
          <a:prstGeom prst="ellipse">
            <a:avLst/>
          </a:prstGeom>
          <a:solidFill>
            <a:srgbClr val="43A047"/>
          </a:solidFill>
          <a:ln w="12700">
            <a:solidFill>
              <a:srgbClr val="43A047"/>
            </a:solidFill>
            <a:prstDash val="solid"/>
          </a:ln>
        </p:spPr>
      </p:sp>
      <p:sp>
        <p:nvSpPr>
          <p:cNvPr id="4" name="Text 2"/>
          <p:cNvSpPr/>
          <p:nvPr/>
        </p:nvSpPr>
        <p:spPr>
          <a:xfrm>
            <a:off x="365760" y="91440"/>
            <a:ext cx="80467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Introduction to Genetic Engineering</a:t>
            </a:r>
            <a:endParaRPr lang="en-US" sz="2200" dirty="0"/>
          </a:p>
        </p:txBody>
      </p:sp>
      <p:sp>
        <p:nvSpPr>
          <p:cNvPr id="5" name="Text 3"/>
          <p:cNvSpPr/>
          <p:nvPr/>
        </p:nvSpPr>
        <p:spPr>
          <a:xfrm>
            <a:off x="365760" y="621792"/>
            <a:ext cx="8046720" cy="274320"/>
          </a:xfrm>
          <a:prstGeom prst="rect">
            <a:avLst/>
          </a:prstGeom>
          <a:noFill/>
          <a:ln/>
        </p:spPr>
        <p:txBody>
          <a:bodyPr wrap="square" lIns="0" tIns="0" rIns="0" bIns="0" rtlCol="0" anchor="ctr"/>
          <a:lstStyle/>
          <a:p>
            <a:pPr indent="0" marL="0">
              <a:buNone/>
            </a:pPr>
            <a:r>
              <a:rPr lang="en-US" sz="1100" i="1" dirty="0">
                <a:solidFill>
                  <a:srgbClr val="90CAF9"/>
                </a:solidFill>
                <a:latin typeface="Calibri" pitchFamily="34" charset="0"/>
                <a:ea typeface="Calibri" pitchFamily="34" charset="-122"/>
                <a:cs typeface="Calibri" pitchFamily="34" charset="-120"/>
              </a:rPr>
              <a:t>Foundations of Modern Biotechnology</a:t>
            </a:r>
            <a:endParaRPr lang="en-US" sz="1100" dirty="0"/>
          </a:p>
        </p:txBody>
      </p:sp>
      <p:sp>
        <p:nvSpPr>
          <p:cNvPr id="6" name="Shape 4"/>
          <p:cNvSpPr/>
          <p:nvPr/>
        </p:nvSpPr>
        <p:spPr>
          <a:xfrm>
            <a:off x="274320" y="1097280"/>
            <a:ext cx="4114800" cy="1645920"/>
          </a:xfrm>
          <a:prstGeom prst="roundRect">
            <a:avLst>
              <a:gd name="adj" fmla="val 5556"/>
            </a:avLst>
          </a:prstGeom>
          <a:solidFill>
            <a:srgbClr val="E3F2FD"/>
          </a:solidFill>
          <a:ln w="12700">
            <a:solidFill>
              <a:srgbClr val="BBDEFB"/>
            </a:solidFill>
            <a:prstDash val="solid"/>
          </a:ln>
          <a:effectLst>
            <a:outerShdw sx="100000" sy="100000" kx="0" ky="0" algn="bl" rotWithShape="0" blurRad="76200" dist="25400" dir="2700000">
              <a:srgbClr val="000000">
                <a:alpha val="9000"/>
              </a:srgbClr>
            </a:outerShdw>
          </a:effectLst>
        </p:spPr>
      </p:sp>
      <p:pic>
        <p:nvPicPr>
          <p:cNvPr id="7" name="Image 0" descr="preencoded.png">    </p:cNvPr>
          <p:cNvPicPr>
            <a:picLocks noChangeAspect="1"/>
          </p:cNvPicPr>
          <p:nvPr/>
        </p:nvPicPr>
        <p:blipFill>
          <a:blip r:embed="rId1"/>
          <a:stretch>
            <a:fillRect/>
          </a:stretch>
        </p:blipFill>
        <p:spPr>
          <a:xfrm>
            <a:off x="411480" y="1170432"/>
            <a:ext cx="457200" cy="457200"/>
          </a:xfrm>
          <a:prstGeom prst="rect">
            <a:avLst/>
          </a:prstGeom>
        </p:spPr>
      </p:pic>
      <p:sp>
        <p:nvSpPr>
          <p:cNvPr id="8" name="Text 5"/>
          <p:cNvSpPr/>
          <p:nvPr/>
        </p:nvSpPr>
        <p:spPr>
          <a:xfrm>
            <a:off x="960120" y="1188720"/>
            <a:ext cx="3291840" cy="320040"/>
          </a:xfrm>
          <a:prstGeom prst="rect">
            <a:avLst/>
          </a:prstGeom>
          <a:noFill/>
          <a:ln/>
        </p:spPr>
        <p:txBody>
          <a:bodyPr wrap="square" lIns="0" tIns="0" rIns="0" bIns="0" rtlCol="0" anchor="ctr"/>
          <a:lstStyle/>
          <a:p>
            <a:pPr indent="0" marL="0">
              <a:buNone/>
            </a:pPr>
            <a:r>
              <a:rPr lang="en-US" sz="1400" b="1" dirty="0">
                <a:solidFill>
                  <a:srgbClr val="1565C0"/>
                </a:solidFill>
                <a:latin typeface="Calibri" pitchFamily="34" charset="0"/>
                <a:ea typeface="Calibri" pitchFamily="34" charset="-122"/>
                <a:cs typeface="Calibri" pitchFamily="34" charset="-120"/>
              </a:rPr>
              <a:t>Definition</a:t>
            </a:r>
            <a:endParaRPr lang="en-US" sz="1400" dirty="0"/>
          </a:p>
        </p:txBody>
      </p:sp>
      <p:sp>
        <p:nvSpPr>
          <p:cNvPr id="9" name="Text 6"/>
          <p:cNvSpPr/>
          <p:nvPr/>
        </p:nvSpPr>
        <p:spPr>
          <a:xfrm>
            <a:off x="411480" y="1572768"/>
            <a:ext cx="3840480" cy="1097280"/>
          </a:xfrm>
          <a:prstGeom prst="rect">
            <a:avLst/>
          </a:prstGeom>
          <a:noFill/>
          <a:ln/>
        </p:spPr>
        <p:txBody>
          <a:bodyPr wrap="square" lIns="0" tIns="0" rIns="0" bIns="0" rtlCol="0" anchor="ctr"/>
          <a:lstStyle/>
          <a:p>
            <a:pPr indent="0" marL="0">
              <a:buNone/>
            </a:pPr>
            <a:r>
              <a:rPr lang="en-US" sz="1200" dirty="0">
                <a:solidFill>
                  <a:srgbClr val="37474F"/>
                </a:solidFill>
                <a:latin typeface="Calibri" pitchFamily="34" charset="0"/>
                <a:ea typeface="Calibri" pitchFamily="34" charset="-122"/>
                <a:cs typeface="Calibri" pitchFamily="34" charset="-120"/>
              </a:rPr>
              <a:t>Genetic Engineering is the direct manipulation of an organism's genome using molecular biology techniques to alter, delete, or introduce specific DNA sequences — enabling precise control over biological traits.</a:t>
            </a:r>
            <a:endParaRPr lang="en-US" sz="1200" dirty="0"/>
          </a:p>
        </p:txBody>
      </p:sp>
      <p:sp>
        <p:nvSpPr>
          <p:cNvPr id="10" name="Shape 7"/>
          <p:cNvSpPr/>
          <p:nvPr/>
        </p:nvSpPr>
        <p:spPr>
          <a:xfrm>
            <a:off x="274320" y="2880360"/>
            <a:ext cx="4114800" cy="1828800"/>
          </a:xfrm>
          <a:prstGeom prst="roundRect">
            <a:avLst>
              <a:gd name="adj" fmla="val 5000"/>
            </a:avLst>
          </a:prstGeom>
          <a:solidFill>
            <a:srgbClr val="E8F5E9"/>
          </a:solidFill>
          <a:ln w="12700">
            <a:solidFill>
              <a:srgbClr val="C8E6C9"/>
            </a:solidFill>
            <a:prstDash val="solid"/>
          </a:ln>
          <a:effectLst>
            <a:outerShdw sx="100000" sy="100000" kx="0" ky="0" algn="bl" rotWithShape="0" blurRad="76200" dist="25400" dir="2700000">
              <a:srgbClr val="000000">
                <a:alpha val="9000"/>
              </a:srgbClr>
            </a:outerShdw>
          </a:effectLst>
        </p:spPr>
      </p:sp>
      <p:pic>
        <p:nvPicPr>
          <p:cNvPr id="11" name="Image 1" descr="preencoded.png">    </p:cNvPr>
          <p:cNvPicPr>
            <a:picLocks noChangeAspect="1"/>
          </p:cNvPicPr>
          <p:nvPr/>
        </p:nvPicPr>
        <p:blipFill>
          <a:blip r:embed="rId2"/>
          <a:stretch>
            <a:fillRect/>
          </a:stretch>
        </p:blipFill>
        <p:spPr>
          <a:xfrm>
            <a:off x="411480" y="2953512"/>
            <a:ext cx="457200" cy="457200"/>
          </a:xfrm>
          <a:prstGeom prst="rect">
            <a:avLst/>
          </a:prstGeom>
        </p:spPr>
      </p:pic>
      <p:sp>
        <p:nvSpPr>
          <p:cNvPr id="12" name="Text 8"/>
          <p:cNvSpPr/>
          <p:nvPr/>
        </p:nvSpPr>
        <p:spPr>
          <a:xfrm>
            <a:off x="960120" y="2971800"/>
            <a:ext cx="3291840" cy="320040"/>
          </a:xfrm>
          <a:prstGeom prst="rect">
            <a:avLst/>
          </a:prstGeom>
          <a:noFill/>
          <a:ln/>
        </p:spPr>
        <p:txBody>
          <a:bodyPr wrap="square" lIns="0" tIns="0" rIns="0" bIns="0" rtlCol="0" anchor="ctr"/>
          <a:lstStyle/>
          <a:p>
            <a:pPr indent="0" marL="0">
              <a:buNone/>
            </a:pPr>
            <a:r>
              <a:rPr lang="en-US" sz="1400" b="1" dirty="0">
                <a:solidFill>
                  <a:srgbClr val="2E7D32"/>
                </a:solidFill>
                <a:latin typeface="Calibri" pitchFamily="34" charset="0"/>
                <a:ea typeface="Calibri" pitchFamily="34" charset="-122"/>
                <a:cs typeface="Calibri" pitchFamily="34" charset="-120"/>
              </a:rPr>
              <a:t>Why It Matters</a:t>
            </a:r>
            <a:endParaRPr lang="en-US" sz="1400" dirty="0"/>
          </a:p>
        </p:txBody>
      </p:sp>
      <p:sp>
        <p:nvSpPr>
          <p:cNvPr id="13" name="Text 9"/>
          <p:cNvSpPr/>
          <p:nvPr/>
        </p:nvSpPr>
        <p:spPr>
          <a:xfrm>
            <a:off x="457200" y="3364992"/>
            <a:ext cx="3840480" cy="1234440"/>
          </a:xfrm>
          <a:prstGeom prst="rect">
            <a:avLst/>
          </a:prstGeom>
          <a:noFill/>
          <a:ln/>
        </p:spPr>
        <p:txBody>
          <a:bodyPr wrap="square" rtlCol="0" anchor="ctr"/>
          <a:lstStyle/>
          <a:p>
            <a:pPr marL="342900" indent="-342900">
              <a:spcAft>
                <a:spcPts val="300"/>
              </a:spcAft>
              <a:buSzPct val="100000"/>
              <a:buChar char="•"/>
            </a:pPr>
            <a:r>
              <a:rPr lang="en-US" sz="1150" dirty="0">
                <a:solidFill>
                  <a:srgbClr val="37474F"/>
                </a:solidFill>
                <a:latin typeface="Calibri" pitchFamily="34" charset="0"/>
                <a:ea typeface="Calibri" pitchFamily="34" charset="-122"/>
                <a:cs typeface="Calibri" pitchFamily="34" charset="-120"/>
              </a:rPr>
              <a:t>Produces life-saving medicines &amp; vaccines</a:t>
            </a:r>
            <a:endParaRPr lang="en-US" sz="1150" dirty="0"/>
          </a:p>
          <a:p>
            <a:pPr marL="342900" indent="-342900">
              <a:spcAft>
                <a:spcPts val="300"/>
              </a:spcAft>
              <a:buSzPct val="100000"/>
              <a:buChar char="•"/>
            </a:pPr>
            <a:r>
              <a:rPr lang="en-US" sz="1150" dirty="0">
                <a:solidFill>
                  <a:srgbClr val="37474F"/>
                </a:solidFill>
                <a:latin typeface="Calibri" pitchFamily="34" charset="0"/>
                <a:ea typeface="Calibri" pitchFamily="34" charset="-122"/>
                <a:cs typeface="Calibri" pitchFamily="34" charset="-120"/>
              </a:rPr>
              <a:t>Engineers disease-resistant crops</a:t>
            </a:r>
            <a:endParaRPr lang="en-US" sz="1150" dirty="0"/>
          </a:p>
          <a:p>
            <a:pPr marL="342900" indent="-342900">
              <a:spcAft>
                <a:spcPts val="300"/>
              </a:spcAft>
              <a:buSzPct val="100000"/>
              <a:buChar char="•"/>
            </a:pPr>
            <a:r>
              <a:rPr lang="en-US" sz="1150" dirty="0">
                <a:solidFill>
                  <a:srgbClr val="37474F"/>
                </a:solidFill>
                <a:latin typeface="Calibri" pitchFamily="34" charset="0"/>
                <a:ea typeface="Calibri" pitchFamily="34" charset="-122"/>
                <a:cs typeface="Calibri" pitchFamily="34" charset="-120"/>
              </a:rPr>
              <a:t>Enables personalized medicine &amp; gene therapy</a:t>
            </a:r>
            <a:endParaRPr lang="en-US" sz="1150" dirty="0"/>
          </a:p>
          <a:p>
            <a:pPr marL="342900" indent="-342900">
              <a:spcAft>
                <a:spcPts val="300"/>
              </a:spcAft>
              <a:buSzPct val="100000"/>
              <a:buChar char="•"/>
            </a:pPr>
            <a:r>
              <a:rPr lang="en-US" sz="1150" dirty="0">
                <a:solidFill>
                  <a:srgbClr val="37474F"/>
                </a:solidFill>
                <a:latin typeface="Calibri" pitchFamily="34" charset="0"/>
                <a:ea typeface="Calibri" pitchFamily="34" charset="-122"/>
                <a:cs typeface="Calibri" pitchFamily="34" charset="-120"/>
              </a:rPr>
              <a:t>Drives industrial biotechnology &amp; biofuels</a:t>
            </a:r>
            <a:endParaRPr lang="en-US" sz="1150" dirty="0"/>
          </a:p>
        </p:txBody>
      </p:sp>
      <p:sp>
        <p:nvSpPr>
          <p:cNvPr id="14" name="Shape 10"/>
          <p:cNvSpPr/>
          <p:nvPr/>
        </p:nvSpPr>
        <p:spPr>
          <a:xfrm>
            <a:off x="4663440" y="1097280"/>
            <a:ext cx="4160520" cy="3566160"/>
          </a:xfrm>
          <a:prstGeom prst="roundRect">
            <a:avLst>
              <a:gd name="adj" fmla="val 2564"/>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pic>
        <p:nvPicPr>
          <p:cNvPr id="15" name="Image 2" descr="preencoded.png">    </p:cNvPr>
          <p:cNvPicPr>
            <a:picLocks noChangeAspect="1"/>
          </p:cNvPicPr>
          <p:nvPr/>
        </p:nvPicPr>
        <p:blipFill>
          <a:blip r:embed="rId3"/>
          <a:stretch>
            <a:fillRect/>
          </a:stretch>
        </p:blipFill>
        <p:spPr>
          <a:xfrm>
            <a:off x="4800600" y="1170432"/>
            <a:ext cx="457200" cy="457200"/>
          </a:xfrm>
          <a:prstGeom prst="rect">
            <a:avLst/>
          </a:prstGeom>
        </p:spPr>
      </p:pic>
      <p:sp>
        <p:nvSpPr>
          <p:cNvPr id="16" name="Text 11"/>
          <p:cNvSpPr/>
          <p:nvPr/>
        </p:nvSpPr>
        <p:spPr>
          <a:xfrm>
            <a:off x="5349240" y="1188720"/>
            <a:ext cx="3383280" cy="320040"/>
          </a:xfrm>
          <a:prstGeom prst="rect">
            <a:avLst/>
          </a:prstGeom>
          <a:noFill/>
          <a:ln/>
        </p:spPr>
        <p:txBody>
          <a:bodyPr wrap="square" lIns="0" tIns="0" rIns="0" bIns="0" rtlCol="0" anchor="ctr"/>
          <a:lstStyle/>
          <a:p>
            <a:pPr indent="0" marL="0">
              <a:buNone/>
            </a:pPr>
            <a:r>
              <a:rPr lang="en-US" sz="1400" b="1" dirty="0">
                <a:solidFill>
                  <a:srgbClr val="0A2342"/>
                </a:solidFill>
                <a:latin typeface="Calibri" pitchFamily="34" charset="0"/>
                <a:ea typeface="Calibri" pitchFamily="34" charset="-122"/>
                <a:cs typeface="Calibri" pitchFamily="34" charset="-120"/>
              </a:rPr>
              <a:t>Presentation Objectives</a:t>
            </a:r>
            <a:endParaRPr lang="en-US" sz="1400" dirty="0"/>
          </a:p>
        </p:txBody>
      </p:sp>
      <p:sp>
        <p:nvSpPr>
          <p:cNvPr id="17" name="Shape 12"/>
          <p:cNvSpPr/>
          <p:nvPr/>
        </p:nvSpPr>
        <p:spPr>
          <a:xfrm>
            <a:off x="4800600" y="1682496"/>
            <a:ext cx="329184" cy="329184"/>
          </a:xfrm>
          <a:prstGeom prst="ellipse">
            <a:avLst/>
          </a:prstGeom>
          <a:solidFill>
            <a:srgbClr val="E3F2FD"/>
          </a:solidFill>
          <a:ln w="12700">
            <a:solidFill>
              <a:srgbClr val="BBDEFB"/>
            </a:solidFill>
            <a:prstDash val="solid"/>
          </a:ln>
        </p:spPr>
      </p:sp>
      <p:pic>
        <p:nvPicPr>
          <p:cNvPr id="18" name="Image 3" descr="preencoded.png">    </p:cNvPr>
          <p:cNvPicPr>
            <a:picLocks noChangeAspect="1"/>
          </p:cNvPicPr>
          <p:nvPr/>
        </p:nvPicPr>
        <p:blipFill>
          <a:blip r:embed="rId4"/>
          <a:stretch>
            <a:fillRect/>
          </a:stretch>
        </p:blipFill>
        <p:spPr>
          <a:xfrm>
            <a:off x="4828032" y="1691640"/>
            <a:ext cx="274320" cy="274320"/>
          </a:xfrm>
          <a:prstGeom prst="rect">
            <a:avLst/>
          </a:prstGeom>
        </p:spPr>
      </p:pic>
      <p:sp>
        <p:nvSpPr>
          <p:cNvPr id="19" name="Text 13"/>
          <p:cNvSpPr/>
          <p:nvPr/>
        </p:nvSpPr>
        <p:spPr>
          <a:xfrm>
            <a:off x="5212080" y="1627632"/>
            <a:ext cx="3474720" cy="438912"/>
          </a:xfrm>
          <a:prstGeom prst="rect">
            <a:avLst/>
          </a:prstGeom>
          <a:noFill/>
          <a:ln/>
        </p:spPr>
        <p:txBody>
          <a:bodyPr wrap="square" lIns="0" tIns="0" rIns="0" bIns="0" rtlCol="0" anchor="ctr"/>
          <a:lstStyle/>
          <a:p>
            <a:pPr indent="0" marL="0">
              <a:buNone/>
            </a:pPr>
            <a:r>
              <a:rPr lang="en-US" sz="1150" dirty="0">
                <a:solidFill>
                  <a:srgbClr val="37474F"/>
                </a:solidFill>
                <a:latin typeface="Calibri" pitchFamily="34" charset="0"/>
                <a:ea typeface="Calibri" pitchFamily="34" charset="-122"/>
                <a:cs typeface="Calibri" pitchFamily="34" charset="-120"/>
              </a:rPr>
              <a:t>Understand core techniques of genetic engineering</a:t>
            </a:r>
            <a:endParaRPr lang="en-US" sz="1150" dirty="0"/>
          </a:p>
        </p:txBody>
      </p:sp>
      <p:sp>
        <p:nvSpPr>
          <p:cNvPr id="20" name="Shape 14"/>
          <p:cNvSpPr/>
          <p:nvPr/>
        </p:nvSpPr>
        <p:spPr>
          <a:xfrm>
            <a:off x="4800600" y="2212848"/>
            <a:ext cx="329184" cy="329184"/>
          </a:xfrm>
          <a:prstGeom prst="ellipse">
            <a:avLst/>
          </a:prstGeom>
          <a:solidFill>
            <a:srgbClr val="E3F2FD"/>
          </a:solidFill>
          <a:ln w="12700">
            <a:solidFill>
              <a:srgbClr val="BBDEFB"/>
            </a:solidFill>
            <a:prstDash val="solid"/>
          </a:ln>
        </p:spPr>
      </p:sp>
      <p:pic>
        <p:nvPicPr>
          <p:cNvPr id="21" name="Image 4" descr="preencoded.png">    </p:cNvPr>
          <p:cNvPicPr>
            <a:picLocks noChangeAspect="1"/>
          </p:cNvPicPr>
          <p:nvPr/>
        </p:nvPicPr>
        <p:blipFill>
          <a:blip r:embed="rId5"/>
          <a:stretch>
            <a:fillRect/>
          </a:stretch>
        </p:blipFill>
        <p:spPr>
          <a:xfrm>
            <a:off x="4828032" y="2221992"/>
            <a:ext cx="274320" cy="274320"/>
          </a:xfrm>
          <a:prstGeom prst="rect">
            <a:avLst/>
          </a:prstGeom>
        </p:spPr>
      </p:pic>
      <p:sp>
        <p:nvSpPr>
          <p:cNvPr id="22" name="Text 15"/>
          <p:cNvSpPr/>
          <p:nvPr/>
        </p:nvSpPr>
        <p:spPr>
          <a:xfrm>
            <a:off x="5212080" y="2157984"/>
            <a:ext cx="3474720" cy="438912"/>
          </a:xfrm>
          <a:prstGeom prst="rect">
            <a:avLst/>
          </a:prstGeom>
          <a:noFill/>
          <a:ln/>
        </p:spPr>
        <p:txBody>
          <a:bodyPr wrap="square" lIns="0" tIns="0" rIns="0" bIns="0" rtlCol="0" anchor="ctr"/>
          <a:lstStyle/>
          <a:p>
            <a:pPr indent="0" marL="0">
              <a:buNone/>
            </a:pPr>
            <a:r>
              <a:rPr lang="en-US" sz="1150" dirty="0">
                <a:solidFill>
                  <a:srgbClr val="37474F"/>
                </a:solidFill>
                <a:latin typeface="Calibri" pitchFamily="34" charset="0"/>
                <a:ea typeface="Calibri" pitchFamily="34" charset="-122"/>
                <a:cs typeface="Calibri" pitchFamily="34" charset="-120"/>
              </a:rPr>
              <a:t>Explore CRISPR-Cas9 mechanism and applications</a:t>
            </a:r>
            <a:endParaRPr lang="en-US" sz="1150" dirty="0"/>
          </a:p>
        </p:txBody>
      </p:sp>
      <p:sp>
        <p:nvSpPr>
          <p:cNvPr id="23" name="Shape 16"/>
          <p:cNvSpPr/>
          <p:nvPr/>
        </p:nvSpPr>
        <p:spPr>
          <a:xfrm>
            <a:off x="4800600" y="2743200"/>
            <a:ext cx="329184" cy="329184"/>
          </a:xfrm>
          <a:prstGeom prst="ellipse">
            <a:avLst/>
          </a:prstGeom>
          <a:solidFill>
            <a:srgbClr val="E3F2FD"/>
          </a:solidFill>
          <a:ln w="12700">
            <a:solidFill>
              <a:srgbClr val="BBDEFB"/>
            </a:solidFill>
            <a:prstDash val="solid"/>
          </a:ln>
        </p:spPr>
      </p:sp>
      <p:pic>
        <p:nvPicPr>
          <p:cNvPr id="24" name="Image 5" descr="preencoded.png">    </p:cNvPr>
          <p:cNvPicPr>
            <a:picLocks noChangeAspect="1"/>
          </p:cNvPicPr>
          <p:nvPr/>
        </p:nvPicPr>
        <p:blipFill>
          <a:blip r:embed="rId6"/>
          <a:stretch>
            <a:fillRect/>
          </a:stretch>
        </p:blipFill>
        <p:spPr>
          <a:xfrm>
            <a:off x="4828032" y="2752344"/>
            <a:ext cx="274320" cy="274320"/>
          </a:xfrm>
          <a:prstGeom prst="rect">
            <a:avLst/>
          </a:prstGeom>
        </p:spPr>
      </p:pic>
      <p:sp>
        <p:nvSpPr>
          <p:cNvPr id="25" name="Text 17"/>
          <p:cNvSpPr/>
          <p:nvPr/>
        </p:nvSpPr>
        <p:spPr>
          <a:xfrm>
            <a:off x="5212080" y="2688336"/>
            <a:ext cx="3474720" cy="438912"/>
          </a:xfrm>
          <a:prstGeom prst="rect">
            <a:avLst/>
          </a:prstGeom>
          <a:noFill/>
          <a:ln/>
        </p:spPr>
        <p:txBody>
          <a:bodyPr wrap="square" lIns="0" tIns="0" rIns="0" bIns="0" rtlCol="0" anchor="ctr"/>
          <a:lstStyle/>
          <a:p>
            <a:pPr indent="0" marL="0">
              <a:buNone/>
            </a:pPr>
            <a:r>
              <a:rPr lang="en-US" sz="1150" dirty="0">
                <a:solidFill>
                  <a:srgbClr val="37474F"/>
                </a:solidFill>
                <a:latin typeface="Calibri" pitchFamily="34" charset="0"/>
                <a:ea typeface="Calibri" pitchFamily="34" charset="-122"/>
                <a:cs typeface="Calibri" pitchFamily="34" charset="-120"/>
              </a:rPr>
              <a:t>Learn gene therapy types and delivery methods</a:t>
            </a:r>
            <a:endParaRPr lang="en-US" sz="1150" dirty="0"/>
          </a:p>
        </p:txBody>
      </p:sp>
      <p:sp>
        <p:nvSpPr>
          <p:cNvPr id="26" name="Shape 18"/>
          <p:cNvSpPr/>
          <p:nvPr/>
        </p:nvSpPr>
        <p:spPr>
          <a:xfrm>
            <a:off x="4800600" y="3273552"/>
            <a:ext cx="329184" cy="329184"/>
          </a:xfrm>
          <a:prstGeom prst="ellipse">
            <a:avLst/>
          </a:prstGeom>
          <a:solidFill>
            <a:srgbClr val="E3F2FD"/>
          </a:solidFill>
          <a:ln w="12700">
            <a:solidFill>
              <a:srgbClr val="BBDEFB"/>
            </a:solidFill>
            <a:prstDash val="solid"/>
          </a:ln>
        </p:spPr>
      </p:sp>
      <p:pic>
        <p:nvPicPr>
          <p:cNvPr id="27" name="Image 6" descr="preencoded.png">    </p:cNvPr>
          <p:cNvPicPr>
            <a:picLocks noChangeAspect="1"/>
          </p:cNvPicPr>
          <p:nvPr/>
        </p:nvPicPr>
        <p:blipFill>
          <a:blip r:embed="rId7"/>
          <a:stretch>
            <a:fillRect/>
          </a:stretch>
        </p:blipFill>
        <p:spPr>
          <a:xfrm>
            <a:off x="4828032" y="3282696"/>
            <a:ext cx="274320" cy="274320"/>
          </a:xfrm>
          <a:prstGeom prst="rect">
            <a:avLst/>
          </a:prstGeom>
        </p:spPr>
      </p:pic>
      <p:sp>
        <p:nvSpPr>
          <p:cNvPr id="28" name="Text 19"/>
          <p:cNvSpPr/>
          <p:nvPr/>
        </p:nvSpPr>
        <p:spPr>
          <a:xfrm>
            <a:off x="5212080" y="3218688"/>
            <a:ext cx="3474720" cy="438912"/>
          </a:xfrm>
          <a:prstGeom prst="rect">
            <a:avLst/>
          </a:prstGeom>
          <a:noFill/>
          <a:ln/>
        </p:spPr>
        <p:txBody>
          <a:bodyPr wrap="square" lIns="0" tIns="0" rIns="0" bIns="0" rtlCol="0" anchor="ctr"/>
          <a:lstStyle/>
          <a:p>
            <a:pPr indent="0" marL="0">
              <a:buNone/>
            </a:pPr>
            <a:r>
              <a:rPr lang="en-US" sz="1150" dirty="0">
                <a:solidFill>
                  <a:srgbClr val="37474F"/>
                </a:solidFill>
                <a:latin typeface="Calibri" pitchFamily="34" charset="0"/>
                <a:ea typeface="Calibri" pitchFamily="34" charset="-122"/>
                <a:cs typeface="Calibri" pitchFamily="34" charset="-120"/>
              </a:rPr>
              <a:t>Analyze real-world case studies and outcomes</a:t>
            </a:r>
            <a:endParaRPr lang="en-US" sz="1150" dirty="0"/>
          </a:p>
        </p:txBody>
      </p:sp>
      <p:sp>
        <p:nvSpPr>
          <p:cNvPr id="29" name="Shape 20"/>
          <p:cNvSpPr/>
          <p:nvPr/>
        </p:nvSpPr>
        <p:spPr>
          <a:xfrm>
            <a:off x="4800600" y="3803904"/>
            <a:ext cx="329184" cy="329184"/>
          </a:xfrm>
          <a:prstGeom prst="ellipse">
            <a:avLst/>
          </a:prstGeom>
          <a:solidFill>
            <a:srgbClr val="E3F2FD"/>
          </a:solidFill>
          <a:ln w="12700">
            <a:solidFill>
              <a:srgbClr val="BBDEFB"/>
            </a:solidFill>
            <a:prstDash val="solid"/>
          </a:ln>
        </p:spPr>
      </p:sp>
      <p:pic>
        <p:nvPicPr>
          <p:cNvPr id="30" name="Image 7" descr="preencoded.png">    </p:cNvPr>
          <p:cNvPicPr>
            <a:picLocks noChangeAspect="1"/>
          </p:cNvPicPr>
          <p:nvPr/>
        </p:nvPicPr>
        <p:blipFill>
          <a:blip r:embed="rId8"/>
          <a:stretch>
            <a:fillRect/>
          </a:stretch>
        </p:blipFill>
        <p:spPr>
          <a:xfrm>
            <a:off x="4828032" y="3813048"/>
            <a:ext cx="274320" cy="274320"/>
          </a:xfrm>
          <a:prstGeom prst="rect">
            <a:avLst/>
          </a:prstGeom>
        </p:spPr>
      </p:pic>
      <p:sp>
        <p:nvSpPr>
          <p:cNvPr id="31" name="Text 21"/>
          <p:cNvSpPr/>
          <p:nvPr/>
        </p:nvSpPr>
        <p:spPr>
          <a:xfrm>
            <a:off x="5212080" y="3749040"/>
            <a:ext cx="3474720" cy="438912"/>
          </a:xfrm>
          <a:prstGeom prst="rect">
            <a:avLst/>
          </a:prstGeom>
          <a:noFill/>
          <a:ln/>
        </p:spPr>
        <p:txBody>
          <a:bodyPr wrap="square" lIns="0" tIns="0" rIns="0" bIns="0" rtlCol="0" anchor="ctr"/>
          <a:lstStyle/>
          <a:p>
            <a:pPr indent="0" marL="0">
              <a:buNone/>
            </a:pPr>
            <a:r>
              <a:rPr lang="en-US" sz="1150" dirty="0">
                <a:solidFill>
                  <a:srgbClr val="37474F"/>
                </a:solidFill>
                <a:latin typeface="Calibri" pitchFamily="34" charset="0"/>
                <a:ea typeface="Calibri" pitchFamily="34" charset="-122"/>
                <a:cs typeface="Calibri" pitchFamily="34" charset="-120"/>
              </a:rPr>
              <a:t>Evaluate ethical concerns and regulatory frameworks</a:t>
            </a:r>
            <a:endParaRPr lang="en-US" sz="1150" dirty="0"/>
          </a:p>
        </p:txBody>
      </p:sp>
      <p:sp>
        <p:nvSpPr>
          <p:cNvPr id="32" name="Shape 22"/>
          <p:cNvSpPr/>
          <p:nvPr/>
        </p:nvSpPr>
        <p:spPr>
          <a:xfrm>
            <a:off x="4800600" y="4334256"/>
            <a:ext cx="329184" cy="329184"/>
          </a:xfrm>
          <a:prstGeom prst="ellipse">
            <a:avLst/>
          </a:prstGeom>
          <a:solidFill>
            <a:srgbClr val="E3F2FD"/>
          </a:solidFill>
          <a:ln w="12700">
            <a:solidFill>
              <a:srgbClr val="BBDEFB"/>
            </a:solidFill>
            <a:prstDash val="solid"/>
          </a:ln>
        </p:spPr>
      </p:sp>
      <p:pic>
        <p:nvPicPr>
          <p:cNvPr id="33" name="Image 8" descr="preencoded.png">    </p:cNvPr>
          <p:cNvPicPr>
            <a:picLocks noChangeAspect="1"/>
          </p:cNvPicPr>
          <p:nvPr/>
        </p:nvPicPr>
        <p:blipFill>
          <a:blip r:embed="rId9"/>
          <a:stretch>
            <a:fillRect/>
          </a:stretch>
        </p:blipFill>
        <p:spPr>
          <a:xfrm>
            <a:off x="4828032" y="4343400"/>
            <a:ext cx="274320" cy="274320"/>
          </a:xfrm>
          <a:prstGeom prst="rect">
            <a:avLst/>
          </a:prstGeom>
        </p:spPr>
      </p:pic>
      <p:sp>
        <p:nvSpPr>
          <p:cNvPr id="34" name="Text 23"/>
          <p:cNvSpPr/>
          <p:nvPr/>
        </p:nvSpPr>
        <p:spPr>
          <a:xfrm>
            <a:off x="5212080" y="4279392"/>
            <a:ext cx="3474720" cy="438912"/>
          </a:xfrm>
          <a:prstGeom prst="rect">
            <a:avLst/>
          </a:prstGeom>
          <a:noFill/>
          <a:ln/>
        </p:spPr>
        <p:txBody>
          <a:bodyPr wrap="square" lIns="0" tIns="0" rIns="0" bIns="0" rtlCol="0" anchor="ctr"/>
          <a:lstStyle/>
          <a:p>
            <a:pPr indent="0" marL="0">
              <a:buNone/>
            </a:pPr>
            <a:r>
              <a:rPr lang="en-US" sz="1150" dirty="0">
                <a:solidFill>
                  <a:srgbClr val="37474F"/>
                </a:solidFill>
                <a:latin typeface="Calibri" pitchFamily="34" charset="0"/>
                <a:ea typeface="Calibri" pitchFamily="34" charset="-122"/>
                <a:cs typeface="Calibri" pitchFamily="34" charset="-120"/>
              </a:rPr>
              <a:t>Explore future trends in genomic medicine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342"/>
          </a:solidFill>
          <a:ln w="12700">
            <a:solidFill>
              <a:srgbClr val="0A2342"/>
            </a:solidFill>
            <a:prstDash val="solid"/>
          </a:ln>
        </p:spPr>
      </p:sp>
      <p:sp>
        <p:nvSpPr>
          <p:cNvPr id="3" name="Shape 1"/>
          <p:cNvSpPr/>
          <p:nvPr/>
        </p:nvSpPr>
        <p:spPr>
          <a:xfrm>
            <a:off x="8595360" y="137160"/>
            <a:ext cx="685800" cy="685800"/>
          </a:xfrm>
          <a:prstGeom prst="ellipse">
            <a:avLst/>
          </a:prstGeom>
          <a:solidFill>
            <a:srgbClr val="43A047"/>
          </a:solidFill>
          <a:ln w="12700">
            <a:solidFill>
              <a:srgbClr val="43A047"/>
            </a:solidFill>
            <a:prstDash val="solid"/>
          </a:ln>
        </p:spPr>
      </p:sp>
      <p:sp>
        <p:nvSpPr>
          <p:cNvPr id="4" name="Text 2"/>
          <p:cNvSpPr/>
          <p:nvPr/>
        </p:nvSpPr>
        <p:spPr>
          <a:xfrm>
            <a:off x="365760" y="91440"/>
            <a:ext cx="80467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History &amp; Evolution of Genetic Engineering</a:t>
            </a:r>
            <a:endParaRPr lang="en-US" sz="2200" dirty="0"/>
          </a:p>
        </p:txBody>
      </p:sp>
      <p:sp>
        <p:nvSpPr>
          <p:cNvPr id="5" name="Text 3"/>
          <p:cNvSpPr/>
          <p:nvPr/>
        </p:nvSpPr>
        <p:spPr>
          <a:xfrm>
            <a:off x="365760" y="621792"/>
            <a:ext cx="8046720" cy="274320"/>
          </a:xfrm>
          <a:prstGeom prst="rect">
            <a:avLst/>
          </a:prstGeom>
          <a:noFill/>
          <a:ln/>
        </p:spPr>
        <p:txBody>
          <a:bodyPr wrap="square" lIns="0" tIns="0" rIns="0" bIns="0" rtlCol="0" anchor="ctr"/>
          <a:lstStyle/>
          <a:p>
            <a:pPr indent="0" marL="0">
              <a:buNone/>
            </a:pPr>
            <a:r>
              <a:rPr lang="en-US" sz="1100" i="1" dirty="0">
                <a:solidFill>
                  <a:srgbClr val="90CAF9"/>
                </a:solidFill>
                <a:latin typeface="Calibri" pitchFamily="34" charset="0"/>
                <a:ea typeface="Calibri" pitchFamily="34" charset="-122"/>
                <a:cs typeface="Calibri" pitchFamily="34" charset="-120"/>
              </a:rPr>
              <a:t>From Mendel to CRISPR — Over 150 Years of Discovery</a:t>
            </a:r>
            <a:endParaRPr lang="en-US" sz="1100" dirty="0"/>
          </a:p>
        </p:txBody>
      </p:sp>
      <p:sp>
        <p:nvSpPr>
          <p:cNvPr id="6" name="Shape 4"/>
          <p:cNvSpPr/>
          <p:nvPr/>
        </p:nvSpPr>
        <p:spPr>
          <a:xfrm>
            <a:off x="274320" y="1051560"/>
            <a:ext cx="1965960" cy="1005840"/>
          </a:xfrm>
          <a:prstGeom prst="roundRect">
            <a:avLst>
              <a:gd name="adj" fmla="val 9091"/>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7" name="Shape 5"/>
          <p:cNvSpPr/>
          <p:nvPr/>
        </p:nvSpPr>
        <p:spPr>
          <a:xfrm>
            <a:off x="274320" y="1051560"/>
            <a:ext cx="1965960" cy="274320"/>
          </a:xfrm>
          <a:prstGeom prst="roundRect">
            <a:avLst>
              <a:gd name="adj" fmla="val 33333"/>
            </a:avLst>
          </a:prstGeom>
          <a:solidFill>
            <a:srgbClr val="0A2342"/>
          </a:solidFill>
          <a:ln w="12700">
            <a:solidFill>
              <a:srgbClr val="0A2342"/>
            </a:solidFill>
            <a:prstDash val="solid"/>
          </a:ln>
        </p:spPr>
      </p:sp>
      <p:sp>
        <p:nvSpPr>
          <p:cNvPr id="8" name="Text 6"/>
          <p:cNvSpPr/>
          <p:nvPr/>
        </p:nvSpPr>
        <p:spPr>
          <a:xfrm>
            <a:off x="274320" y="1051560"/>
            <a:ext cx="196596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1865</a:t>
            </a:r>
            <a:endParaRPr lang="en-US" sz="1200" dirty="0"/>
          </a:p>
        </p:txBody>
      </p:sp>
      <p:sp>
        <p:nvSpPr>
          <p:cNvPr id="9" name="Text 7"/>
          <p:cNvSpPr/>
          <p:nvPr/>
        </p:nvSpPr>
        <p:spPr>
          <a:xfrm>
            <a:off x="347472" y="1344168"/>
            <a:ext cx="1819656" cy="256032"/>
          </a:xfrm>
          <a:prstGeom prst="rect">
            <a:avLst/>
          </a:prstGeom>
          <a:noFill/>
          <a:ln/>
        </p:spPr>
        <p:txBody>
          <a:bodyPr wrap="square" lIns="0" tIns="0" rIns="0" bIns="0" rtlCol="0" anchor="ctr"/>
          <a:lstStyle/>
          <a:p>
            <a:pPr indent="0" marL="0">
              <a:buNone/>
            </a:pPr>
            <a:r>
              <a:rPr lang="en-US" sz="1100" b="1" dirty="0">
                <a:solidFill>
                  <a:srgbClr val="0A2342"/>
                </a:solidFill>
                <a:latin typeface="Calibri" pitchFamily="34" charset="0"/>
                <a:ea typeface="Calibri" pitchFamily="34" charset="-122"/>
                <a:cs typeface="Calibri" pitchFamily="34" charset="-120"/>
              </a:rPr>
              <a:t>Mendel's Laws</a:t>
            </a:r>
            <a:endParaRPr lang="en-US" sz="1100" dirty="0"/>
          </a:p>
        </p:txBody>
      </p:sp>
      <p:sp>
        <p:nvSpPr>
          <p:cNvPr id="10" name="Text 8"/>
          <p:cNvSpPr/>
          <p:nvPr/>
        </p:nvSpPr>
        <p:spPr>
          <a:xfrm>
            <a:off x="347472" y="1600200"/>
            <a:ext cx="1819656" cy="411480"/>
          </a:xfrm>
          <a:prstGeom prst="rect">
            <a:avLst/>
          </a:prstGeom>
          <a:noFill/>
          <a:ln/>
        </p:spPr>
        <p:txBody>
          <a:bodyPr wrap="square" lIns="0" tIns="0" rIns="0" bIns="0" rtlCol="0" anchor="ctr"/>
          <a:lstStyle/>
          <a:p>
            <a:pPr indent="0" marL="0">
              <a:buNone/>
            </a:pPr>
            <a:r>
              <a:rPr lang="en-US" sz="950" dirty="0">
                <a:solidFill>
                  <a:srgbClr val="78909C"/>
                </a:solidFill>
                <a:latin typeface="Calibri" pitchFamily="34" charset="0"/>
                <a:ea typeface="Calibri" pitchFamily="34" charset="-122"/>
                <a:cs typeface="Calibri" pitchFamily="34" charset="-120"/>
              </a:rPr>
              <a:t>Gregor Mendel discovers inheritance patterns in peas — foundation of genetics.</a:t>
            </a:r>
            <a:endParaRPr lang="en-US" sz="950" dirty="0"/>
          </a:p>
        </p:txBody>
      </p:sp>
      <p:sp>
        <p:nvSpPr>
          <p:cNvPr id="11" name="Shape 9"/>
          <p:cNvSpPr/>
          <p:nvPr/>
        </p:nvSpPr>
        <p:spPr>
          <a:xfrm>
            <a:off x="2249424" y="1554480"/>
            <a:ext cx="155448" cy="0"/>
          </a:xfrm>
          <a:prstGeom prst="line">
            <a:avLst/>
          </a:prstGeom>
          <a:noFill/>
          <a:ln w="19050">
            <a:solidFill>
              <a:srgbClr val="78909C"/>
            </a:solidFill>
            <a:prstDash val="solid"/>
          </a:ln>
        </p:spPr>
      </p:sp>
      <p:sp>
        <p:nvSpPr>
          <p:cNvPr id="12" name="Shape 10"/>
          <p:cNvSpPr/>
          <p:nvPr/>
        </p:nvSpPr>
        <p:spPr>
          <a:xfrm>
            <a:off x="2423160" y="1051560"/>
            <a:ext cx="1965960" cy="1005840"/>
          </a:xfrm>
          <a:prstGeom prst="roundRect">
            <a:avLst>
              <a:gd name="adj" fmla="val 9091"/>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13" name="Shape 11"/>
          <p:cNvSpPr/>
          <p:nvPr/>
        </p:nvSpPr>
        <p:spPr>
          <a:xfrm>
            <a:off x="2423160" y="1051560"/>
            <a:ext cx="1965960" cy="274320"/>
          </a:xfrm>
          <a:prstGeom prst="roundRect">
            <a:avLst>
              <a:gd name="adj" fmla="val 33333"/>
            </a:avLst>
          </a:prstGeom>
          <a:solidFill>
            <a:srgbClr val="1565C0"/>
          </a:solidFill>
          <a:ln w="12700">
            <a:solidFill>
              <a:srgbClr val="1565C0"/>
            </a:solidFill>
            <a:prstDash val="solid"/>
          </a:ln>
        </p:spPr>
      </p:sp>
      <p:sp>
        <p:nvSpPr>
          <p:cNvPr id="14" name="Text 12"/>
          <p:cNvSpPr/>
          <p:nvPr/>
        </p:nvSpPr>
        <p:spPr>
          <a:xfrm>
            <a:off x="2423160" y="1051560"/>
            <a:ext cx="196596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1953</a:t>
            </a:r>
            <a:endParaRPr lang="en-US" sz="1200" dirty="0"/>
          </a:p>
        </p:txBody>
      </p:sp>
      <p:sp>
        <p:nvSpPr>
          <p:cNvPr id="15" name="Text 13"/>
          <p:cNvSpPr/>
          <p:nvPr/>
        </p:nvSpPr>
        <p:spPr>
          <a:xfrm>
            <a:off x="2496312" y="1344168"/>
            <a:ext cx="1819656" cy="256032"/>
          </a:xfrm>
          <a:prstGeom prst="rect">
            <a:avLst/>
          </a:prstGeom>
          <a:noFill/>
          <a:ln/>
        </p:spPr>
        <p:txBody>
          <a:bodyPr wrap="square" lIns="0" tIns="0" rIns="0" bIns="0" rtlCol="0" anchor="ctr"/>
          <a:lstStyle/>
          <a:p>
            <a:pPr indent="0" marL="0">
              <a:buNone/>
            </a:pPr>
            <a:r>
              <a:rPr lang="en-US" sz="1100" b="1" dirty="0">
                <a:solidFill>
                  <a:srgbClr val="0A2342"/>
                </a:solidFill>
                <a:latin typeface="Calibri" pitchFamily="34" charset="0"/>
                <a:ea typeface="Calibri" pitchFamily="34" charset="-122"/>
                <a:cs typeface="Calibri" pitchFamily="34" charset="-120"/>
              </a:rPr>
              <a:t>DNA Double Helix</a:t>
            </a:r>
            <a:endParaRPr lang="en-US" sz="1100" dirty="0"/>
          </a:p>
        </p:txBody>
      </p:sp>
      <p:sp>
        <p:nvSpPr>
          <p:cNvPr id="16" name="Text 14"/>
          <p:cNvSpPr/>
          <p:nvPr/>
        </p:nvSpPr>
        <p:spPr>
          <a:xfrm>
            <a:off x="2496312" y="1600200"/>
            <a:ext cx="1819656" cy="411480"/>
          </a:xfrm>
          <a:prstGeom prst="rect">
            <a:avLst/>
          </a:prstGeom>
          <a:noFill/>
          <a:ln/>
        </p:spPr>
        <p:txBody>
          <a:bodyPr wrap="square" lIns="0" tIns="0" rIns="0" bIns="0" rtlCol="0" anchor="ctr"/>
          <a:lstStyle/>
          <a:p>
            <a:pPr indent="0" marL="0">
              <a:buNone/>
            </a:pPr>
            <a:r>
              <a:rPr lang="en-US" sz="950" dirty="0">
                <a:solidFill>
                  <a:srgbClr val="78909C"/>
                </a:solidFill>
                <a:latin typeface="Calibri" pitchFamily="34" charset="0"/>
                <a:ea typeface="Calibri" pitchFamily="34" charset="-122"/>
                <a:cs typeface="Calibri" pitchFamily="34" charset="-120"/>
              </a:rPr>
              <a:t>Watson &amp; Crick describe the double-helix structure of DNA (Nature, 1953).</a:t>
            </a:r>
            <a:endParaRPr lang="en-US" sz="950" dirty="0"/>
          </a:p>
        </p:txBody>
      </p:sp>
      <p:sp>
        <p:nvSpPr>
          <p:cNvPr id="17" name="Shape 15"/>
          <p:cNvSpPr/>
          <p:nvPr/>
        </p:nvSpPr>
        <p:spPr>
          <a:xfrm>
            <a:off x="4398264" y="1554480"/>
            <a:ext cx="155448" cy="0"/>
          </a:xfrm>
          <a:prstGeom prst="line">
            <a:avLst/>
          </a:prstGeom>
          <a:noFill/>
          <a:ln w="19050">
            <a:solidFill>
              <a:srgbClr val="78909C"/>
            </a:solidFill>
            <a:prstDash val="solid"/>
          </a:ln>
        </p:spPr>
      </p:sp>
      <p:sp>
        <p:nvSpPr>
          <p:cNvPr id="18" name="Shape 16"/>
          <p:cNvSpPr/>
          <p:nvPr/>
        </p:nvSpPr>
        <p:spPr>
          <a:xfrm>
            <a:off x="4572000" y="1051560"/>
            <a:ext cx="1965960" cy="1005840"/>
          </a:xfrm>
          <a:prstGeom prst="roundRect">
            <a:avLst>
              <a:gd name="adj" fmla="val 9091"/>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19" name="Shape 17"/>
          <p:cNvSpPr/>
          <p:nvPr/>
        </p:nvSpPr>
        <p:spPr>
          <a:xfrm>
            <a:off x="4572000" y="1051560"/>
            <a:ext cx="1965960" cy="274320"/>
          </a:xfrm>
          <a:prstGeom prst="roundRect">
            <a:avLst>
              <a:gd name="adj" fmla="val 33333"/>
            </a:avLst>
          </a:prstGeom>
          <a:solidFill>
            <a:srgbClr val="1E88E5"/>
          </a:solidFill>
          <a:ln w="12700">
            <a:solidFill>
              <a:srgbClr val="1E88E5"/>
            </a:solidFill>
            <a:prstDash val="solid"/>
          </a:ln>
        </p:spPr>
      </p:sp>
      <p:sp>
        <p:nvSpPr>
          <p:cNvPr id="20" name="Text 18"/>
          <p:cNvSpPr/>
          <p:nvPr/>
        </p:nvSpPr>
        <p:spPr>
          <a:xfrm>
            <a:off x="4572000" y="1051560"/>
            <a:ext cx="196596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1973</a:t>
            </a:r>
            <a:endParaRPr lang="en-US" sz="1200" dirty="0"/>
          </a:p>
        </p:txBody>
      </p:sp>
      <p:sp>
        <p:nvSpPr>
          <p:cNvPr id="21" name="Text 19"/>
          <p:cNvSpPr/>
          <p:nvPr/>
        </p:nvSpPr>
        <p:spPr>
          <a:xfrm>
            <a:off x="4645152" y="1344168"/>
            <a:ext cx="1819656" cy="256032"/>
          </a:xfrm>
          <a:prstGeom prst="rect">
            <a:avLst/>
          </a:prstGeom>
          <a:noFill/>
          <a:ln/>
        </p:spPr>
        <p:txBody>
          <a:bodyPr wrap="square" lIns="0" tIns="0" rIns="0" bIns="0" rtlCol="0" anchor="ctr"/>
          <a:lstStyle/>
          <a:p>
            <a:pPr indent="0" marL="0">
              <a:buNone/>
            </a:pPr>
            <a:r>
              <a:rPr lang="en-US" sz="1100" b="1" dirty="0">
                <a:solidFill>
                  <a:srgbClr val="0A2342"/>
                </a:solidFill>
                <a:latin typeface="Calibri" pitchFamily="34" charset="0"/>
                <a:ea typeface="Calibri" pitchFamily="34" charset="-122"/>
                <a:cs typeface="Calibri" pitchFamily="34" charset="-120"/>
              </a:rPr>
              <a:t>Recombinant DNA</a:t>
            </a:r>
            <a:endParaRPr lang="en-US" sz="1100" dirty="0"/>
          </a:p>
        </p:txBody>
      </p:sp>
      <p:sp>
        <p:nvSpPr>
          <p:cNvPr id="22" name="Text 20"/>
          <p:cNvSpPr/>
          <p:nvPr/>
        </p:nvSpPr>
        <p:spPr>
          <a:xfrm>
            <a:off x="4645152" y="1600200"/>
            <a:ext cx="1819656" cy="411480"/>
          </a:xfrm>
          <a:prstGeom prst="rect">
            <a:avLst/>
          </a:prstGeom>
          <a:noFill/>
          <a:ln/>
        </p:spPr>
        <p:txBody>
          <a:bodyPr wrap="square" lIns="0" tIns="0" rIns="0" bIns="0" rtlCol="0" anchor="ctr"/>
          <a:lstStyle/>
          <a:p>
            <a:pPr indent="0" marL="0">
              <a:buNone/>
            </a:pPr>
            <a:r>
              <a:rPr lang="en-US" sz="950" dirty="0">
                <a:solidFill>
                  <a:srgbClr val="78909C"/>
                </a:solidFill>
                <a:latin typeface="Calibri" pitchFamily="34" charset="0"/>
                <a:ea typeface="Calibri" pitchFamily="34" charset="-122"/>
                <a:cs typeface="Calibri" pitchFamily="34" charset="-120"/>
              </a:rPr>
              <a:t>Cohen &amp; Boyer create first recombinant DNA molecule — birth of genetic engineering.</a:t>
            </a:r>
            <a:endParaRPr lang="en-US" sz="950" dirty="0"/>
          </a:p>
        </p:txBody>
      </p:sp>
      <p:sp>
        <p:nvSpPr>
          <p:cNvPr id="23" name="Shape 21"/>
          <p:cNvSpPr/>
          <p:nvPr/>
        </p:nvSpPr>
        <p:spPr>
          <a:xfrm>
            <a:off x="6547104" y="1554480"/>
            <a:ext cx="155448" cy="0"/>
          </a:xfrm>
          <a:prstGeom prst="line">
            <a:avLst/>
          </a:prstGeom>
          <a:noFill/>
          <a:ln w="19050">
            <a:solidFill>
              <a:srgbClr val="78909C"/>
            </a:solidFill>
            <a:prstDash val="solid"/>
          </a:ln>
        </p:spPr>
      </p:sp>
      <p:sp>
        <p:nvSpPr>
          <p:cNvPr id="24" name="Shape 22"/>
          <p:cNvSpPr/>
          <p:nvPr/>
        </p:nvSpPr>
        <p:spPr>
          <a:xfrm>
            <a:off x="6720840" y="1051560"/>
            <a:ext cx="1965960" cy="1005840"/>
          </a:xfrm>
          <a:prstGeom prst="roundRect">
            <a:avLst>
              <a:gd name="adj" fmla="val 9091"/>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25" name="Shape 23"/>
          <p:cNvSpPr/>
          <p:nvPr/>
        </p:nvSpPr>
        <p:spPr>
          <a:xfrm>
            <a:off x="6720840" y="1051560"/>
            <a:ext cx="1965960" cy="274320"/>
          </a:xfrm>
          <a:prstGeom prst="roundRect">
            <a:avLst>
              <a:gd name="adj" fmla="val 33333"/>
            </a:avLst>
          </a:prstGeom>
          <a:solidFill>
            <a:srgbClr val="00695C"/>
          </a:solidFill>
          <a:ln w="12700">
            <a:solidFill>
              <a:srgbClr val="00695C"/>
            </a:solidFill>
            <a:prstDash val="solid"/>
          </a:ln>
        </p:spPr>
      </p:sp>
      <p:sp>
        <p:nvSpPr>
          <p:cNvPr id="26" name="Text 24"/>
          <p:cNvSpPr/>
          <p:nvPr/>
        </p:nvSpPr>
        <p:spPr>
          <a:xfrm>
            <a:off x="6720840" y="1051560"/>
            <a:ext cx="196596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1982</a:t>
            </a:r>
            <a:endParaRPr lang="en-US" sz="1200" dirty="0"/>
          </a:p>
        </p:txBody>
      </p:sp>
      <p:sp>
        <p:nvSpPr>
          <p:cNvPr id="27" name="Text 25"/>
          <p:cNvSpPr/>
          <p:nvPr/>
        </p:nvSpPr>
        <p:spPr>
          <a:xfrm>
            <a:off x="6793992" y="1344168"/>
            <a:ext cx="1819656" cy="256032"/>
          </a:xfrm>
          <a:prstGeom prst="rect">
            <a:avLst/>
          </a:prstGeom>
          <a:noFill/>
          <a:ln/>
        </p:spPr>
        <p:txBody>
          <a:bodyPr wrap="square" lIns="0" tIns="0" rIns="0" bIns="0" rtlCol="0" anchor="ctr"/>
          <a:lstStyle/>
          <a:p>
            <a:pPr indent="0" marL="0">
              <a:buNone/>
            </a:pPr>
            <a:r>
              <a:rPr lang="en-US" sz="1100" b="1" dirty="0">
                <a:solidFill>
                  <a:srgbClr val="0A2342"/>
                </a:solidFill>
                <a:latin typeface="Calibri" pitchFamily="34" charset="0"/>
                <a:ea typeface="Calibri" pitchFamily="34" charset="-122"/>
                <a:cs typeface="Calibri" pitchFamily="34" charset="-120"/>
              </a:rPr>
              <a:t>First GMO Drug</a:t>
            </a:r>
            <a:endParaRPr lang="en-US" sz="1100" dirty="0"/>
          </a:p>
        </p:txBody>
      </p:sp>
      <p:sp>
        <p:nvSpPr>
          <p:cNvPr id="28" name="Text 26"/>
          <p:cNvSpPr/>
          <p:nvPr/>
        </p:nvSpPr>
        <p:spPr>
          <a:xfrm>
            <a:off x="6793992" y="1600200"/>
            <a:ext cx="1819656" cy="411480"/>
          </a:xfrm>
          <a:prstGeom prst="rect">
            <a:avLst/>
          </a:prstGeom>
          <a:noFill/>
          <a:ln/>
        </p:spPr>
        <p:txBody>
          <a:bodyPr wrap="square" lIns="0" tIns="0" rIns="0" bIns="0" rtlCol="0" anchor="ctr"/>
          <a:lstStyle/>
          <a:p>
            <a:pPr indent="0" marL="0">
              <a:buNone/>
            </a:pPr>
            <a:r>
              <a:rPr lang="en-US" sz="950" dirty="0">
                <a:solidFill>
                  <a:srgbClr val="78909C"/>
                </a:solidFill>
                <a:latin typeface="Calibri" pitchFamily="34" charset="0"/>
                <a:ea typeface="Calibri" pitchFamily="34" charset="-122"/>
                <a:cs typeface="Calibri" pitchFamily="34" charset="-120"/>
              </a:rPr>
              <a:t>Humulin (human insulin) produced by E. coli — first FDA-approved biotech drug.</a:t>
            </a:r>
            <a:endParaRPr lang="en-US" sz="950" dirty="0"/>
          </a:p>
        </p:txBody>
      </p:sp>
      <p:sp>
        <p:nvSpPr>
          <p:cNvPr id="29" name="Shape 27"/>
          <p:cNvSpPr/>
          <p:nvPr/>
        </p:nvSpPr>
        <p:spPr>
          <a:xfrm>
            <a:off x="274320" y="2404872"/>
            <a:ext cx="1965960" cy="1005840"/>
          </a:xfrm>
          <a:prstGeom prst="roundRect">
            <a:avLst>
              <a:gd name="adj" fmla="val 9091"/>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30" name="Shape 28"/>
          <p:cNvSpPr/>
          <p:nvPr/>
        </p:nvSpPr>
        <p:spPr>
          <a:xfrm>
            <a:off x="274320" y="2404872"/>
            <a:ext cx="1965960" cy="274320"/>
          </a:xfrm>
          <a:prstGeom prst="roundRect">
            <a:avLst>
              <a:gd name="adj" fmla="val 33333"/>
            </a:avLst>
          </a:prstGeom>
          <a:solidFill>
            <a:srgbClr val="2E7D32"/>
          </a:solidFill>
          <a:ln w="12700">
            <a:solidFill>
              <a:srgbClr val="2E7D32"/>
            </a:solidFill>
            <a:prstDash val="solid"/>
          </a:ln>
        </p:spPr>
      </p:sp>
      <p:sp>
        <p:nvSpPr>
          <p:cNvPr id="31" name="Text 29"/>
          <p:cNvSpPr/>
          <p:nvPr/>
        </p:nvSpPr>
        <p:spPr>
          <a:xfrm>
            <a:off x="274320" y="2404872"/>
            <a:ext cx="196596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1990</a:t>
            </a:r>
            <a:endParaRPr lang="en-US" sz="1200" dirty="0"/>
          </a:p>
        </p:txBody>
      </p:sp>
      <p:sp>
        <p:nvSpPr>
          <p:cNvPr id="32" name="Text 30"/>
          <p:cNvSpPr/>
          <p:nvPr/>
        </p:nvSpPr>
        <p:spPr>
          <a:xfrm>
            <a:off x="347472" y="2697480"/>
            <a:ext cx="1819656" cy="256032"/>
          </a:xfrm>
          <a:prstGeom prst="rect">
            <a:avLst/>
          </a:prstGeom>
          <a:noFill/>
          <a:ln/>
        </p:spPr>
        <p:txBody>
          <a:bodyPr wrap="square" lIns="0" tIns="0" rIns="0" bIns="0" rtlCol="0" anchor="ctr"/>
          <a:lstStyle/>
          <a:p>
            <a:pPr indent="0" marL="0">
              <a:buNone/>
            </a:pPr>
            <a:r>
              <a:rPr lang="en-US" sz="1100" b="1" dirty="0">
                <a:solidFill>
                  <a:srgbClr val="0A2342"/>
                </a:solidFill>
                <a:latin typeface="Calibri" pitchFamily="34" charset="0"/>
                <a:ea typeface="Calibri" pitchFamily="34" charset="-122"/>
                <a:cs typeface="Calibri" pitchFamily="34" charset="-120"/>
              </a:rPr>
              <a:t>Human Genome Project</a:t>
            </a:r>
            <a:endParaRPr lang="en-US" sz="1100" dirty="0"/>
          </a:p>
        </p:txBody>
      </p:sp>
      <p:sp>
        <p:nvSpPr>
          <p:cNvPr id="33" name="Text 31"/>
          <p:cNvSpPr/>
          <p:nvPr/>
        </p:nvSpPr>
        <p:spPr>
          <a:xfrm>
            <a:off x="347472" y="2953512"/>
            <a:ext cx="1819656" cy="411480"/>
          </a:xfrm>
          <a:prstGeom prst="rect">
            <a:avLst/>
          </a:prstGeom>
          <a:noFill/>
          <a:ln/>
        </p:spPr>
        <p:txBody>
          <a:bodyPr wrap="square" lIns="0" tIns="0" rIns="0" bIns="0" rtlCol="0" anchor="ctr"/>
          <a:lstStyle/>
          <a:p>
            <a:pPr indent="0" marL="0">
              <a:buNone/>
            </a:pPr>
            <a:r>
              <a:rPr lang="en-US" sz="950" dirty="0">
                <a:solidFill>
                  <a:srgbClr val="78909C"/>
                </a:solidFill>
                <a:latin typeface="Calibri" pitchFamily="34" charset="0"/>
                <a:ea typeface="Calibri" pitchFamily="34" charset="-122"/>
                <a:cs typeface="Calibri" pitchFamily="34" charset="-120"/>
              </a:rPr>
              <a:t>International project to sequence entire human genome (completed 2003).</a:t>
            </a:r>
            <a:endParaRPr lang="en-US" sz="950" dirty="0"/>
          </a:p>
        </p:txBody>
      </p:sp>
      <p:sp>
        <p:nvSpPr>
          <p:cNvPr id="34" name="Shape 32"/>
          <p:cNvSpPr/>
          <p:nvPr/>
        </p:nvSpPr>
        <p:spPr>
          <a:xfrm>
            <a:off x="2249424" y="2907792"/>
            <a:ext cx="155448" cy="0"/>
          </a:xfrm>
          <a:prstGeom prst="line">
            <a:avLst/>
          </a:prstGeom>
          <a:noFill/>
          <a:ln w="19050">
            <a:solidFill>
              <a:srgbClr val="78909C"/>
            </a:solidFill>
            <a:prstDash val="solid"/>
          </a:ln>
        </p:spPr>
      </p:sp>
      <p:sp>
        <p:nvSpPr>
          <p:cNvPr id="35" name="Shape 33"/>
          <p:cNvSpPr/>
          <p:nvPr/>
        </p:nvSpPr>
        <p:spPr>
          <a:xfrm>
            <a:off x="2423160" y="2404872"/>
            <a:ext cx="1965960" cy="1005840"/>
          </a:xfrm>
          <a:prstGeom prst="roundRect">
            <a:avLst>
              <a:gd name="adj" fmla="val 9091"/>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36" name="Shape 34"/>
          <p:cNvSpPr/>
          <p:nvPr/>
        </p:nvSpPr>
        <p:spPr>
          <a:xfrm>
            <a:off x="2423160" y="2404872"/>
            <a:ext cx="1965960" cy="274320"/>
          </a:xfrm>
          <a:prstGeom prst="roundRect">
            <a:avLst>
              <a:gd name="adj" fmla="val 33333"/>
            </a:avLst>
          </a:prstGeom>
          <a:solidFill>
            <a:srgbClr val="43A047"/>
          </a:solidFill>
          <a:ln w="12700">
            <a:solidFill>
              <a:srgbClr val="43A047"/>
            </a:solidFill>
            <a:prstDash val="solid"/>
          </a:ln>
        </p:spPr>
      </p:sp>
      <p:sp>
        <p:nvSpPr>
          <p:cNvPr id="37" name="Text 35"/>
          <p:cNvSpPr/>
          <p:nvPr/>
        </p:nvSpPr>
        <p:spPr>
          <a:xfrm>
            <a:off x="2423160" y="2404872"/>
            <a:ext cx="196596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2003</a:t>
            </a:r>
            <a:endParaRPr lang="en-US" sz="1200" dirty="0"/>
          </a:p>
        </p:txBody>
      </p:sp>
      <p:sp>
        <p:nvSpPr>
          <p:cNvPr id="38" name="Text 36"/>
          <p:cNvSpPr/>
          <p:nvPr/>
        </p:nvSpPr>
        <p:spPr>
          <a:xfrm>
            <a:off x="2496312" y="2697480"/>
            <a:ext cx="1819656" cy="256032"/>
          </a:xfrm>
          <a:prstGeom prst="rect">
            <a:avLst/>
          </a:prstGeom>
          <a:noFill/>
          <a:ln/>
        </p:spPr>
        <p:txBody>
          <a:bodyPr wrap="square" lIns="0" tIns="0" rIns="0" bIns="0" rtlCol="0" anchor="ctr"/>
          <a:lstStyle/>
          <a:p>
            <a:pPr indent="0" marL="0">
              <a:buNone/>
            </a:pPr>
            <a:r>
              <a:rPr lang="en-US" sz="1100" b="1" dirty="0">
                <a:solidFill>
                  <a:srgbClr val="0A2342"/>
                </a:solidFill>
                <a:latin typeface="Calibri" pitchFamily="34" charset="0"/>
                <a:ea typeface="Calibri" pitchFamily="34" charset="-122"/>
                <a:cs typeface="Calibri" pitchFamily="34" charset="-120"/>
              </a:rPr>
              <a:t>RNAi Discovery</a:t>
            </a:r>
            <a:endParaRPr lang="en-US" sz="1100" dirty="0"/>
          </a:p>
        </p:txBody>
      </p:sp>
      <p:sp>
        <p:nvSpPr>
          <p:cNvPr id="39" name="Text 37"/>
          <p:cNvSpPr/>
          <p:nvPr/>
        </p:nvSpPr>
        <p:spPr>
          <a:xfrm>
            <a:off x="2496312" y="2953512"/>
            <a:ext cx="1819656" cy="411480"/>
          </a:xfrm>
          <a:prstGeom prst="rect">
            <a:avLst/>
          </a:prstGeom>
          <a:noFill/>
          <a:ln/>
        </p:spPr>
        <p:txBody>
          <a:bodyPr wrap="square" lIns="0" tIns="0" rIns="0" bIns="0" rtlCol="0" anchor="ctr"/>
          <a:lstStyle/>
          <a:p>
            <a:pPr indent="0" marL="0">
              <a:buNone/>
            </a:pPr>
            <a:r>
              <a:rPr lang="en-US" sz="950" dirty="0">
                <a:solidFill>
                  <a:srgbClr val="78909C"/>
                </a:solidFill>
                <a:latin typeface="Calibri" pitchFamily="34" charset="0"/>
                <a:ea typeface="Calibri" pitchFamily="34" charset="-122"/>
                <a:cs typeface="Calibri" pitchFamily="34" charset="-120"/>
              </a:rPr>
              <a:t>Fire &amp; Mello win Nobel Prize for RNA interference gene silencing (2006).</a:t>
            </a:r>
            <a:endParaRPr lang="en-US" sz="950" dirty="0"/>
          </a:p>
        </p:txBody>
      </p:sp>
      <p:sp>
        <p:nvSpPr>
          <p:cNvPr id="40" name="Shape 38"/>
          <p:cNvSpPr/>
          <p:nvPr/>
        </p:nvSpPr>
        <p:spPr>
          <a:xfrm>
            <a:off x="4398264" y="2907792"/>
            <a:ext cx="155448" cy="0"/>
          </a:xfrm>
          <a:prstGeom prst="line">
            <a:avLst/>
          </a:prstGeom>
          <a:noFill/>
          <a:ln w="19050">
            <a:solidFill>
              <a:srgbClr val="78909C"/>
            </a:solidFill>
            <a:prstDash val="solid"/>
          </a:ln>
        </p:spPr>
      </p:sp>
      <p:sp>
        <p:nvSpPr>
          <p:cNvPr id="41" name="Shape 39"/>
          <p:cNvSpPr/>
          <p:nvPr/>
        </p:nvSpPr>
        <p:spPr>
          <a:xfrm>
            <a:off x="4572000" y="2404872"/>
            <a:ext cx="1965960" cy="1005840"/>
          </a:xfrm>
          <a:prstGeom prst="roundRect">
            <a:avLst>
              <a:gd name="adj" fmla="val 9091"/>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42" name="Shape 40"/>
          <p:cNvSpPr/>
          <p:nvPr/>
        </p:nvSpPr>
        <p:spPr>
          <a:xfrm>
            <a:off x="4572000" y="2404872"/>
            <a:ext cx="1965960" cy="274320"/>
          </a:xfrm>
          <a:prstGeom prst="roundRect">
            <a:avLst>
              <a:gd name="adj" fmla="val 33333"/>
            </a:avLst>
          </a:prstGeom>
          <a:solidFill>
            <a:srgbClr val="F9A825"/>
          </a:solidFill>
          <a:ln w="12700">
            <a:solidFill>
              <a:srgbClr val="F9A825"/>
            </a:solidFill>
            <a:prstDash val="solid"/>
          </a:ln>
        </p:spPr>
      </p:sp>
      <p:sp>
        <p:nvSpPr>
          <p:cNvPr id="43" name="Text 41"/>
          <p:cNvSpPr/>
          <p:nvPr/>
        </p:nvSpPr>
        <p:spPr>
          <a:xfrm>
            <a:off x="4572000" y="2404872"/>
            <a:ext cx="196596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2012</a:t>
            </a:r>
            <a:endParaRPr lang="en-US" sz="1200" dirty="0"/>
          </a:p>
        </p:txBody>
      </p:sp>
      <p:sp>
        <p:nvSpPr>
          <p:cNvPr id="44" name="Text 42"/>
          <p:cNvSpPr/>
          <p:nvPr/>
        </p:nvSpPr>
        <p:spPr>
          <a:xfrm>
            <a:off x="4645152" y="2697480"/>
            <a:ext cx="1819656" cy="256032"/>
          </a:xfrm>
          <a:prstGeom prst="rect">
            <a:avLst/>
          </a:prstGeom>
          <a:noFill/>
          <a:ln/>
        </p:spPr>
        <p:txBody>
          <a:bodyPr wrap="square" lIns="0" tIns="0" rIns="0" bIns="0" rtlCol="0" anchor="ctr"/>
          <a:lstStyle/>
          <a:p>
            <a:pPr indent="0" marL="0">
              <a:buNone/>
            </a:pPr>
            <a:r>
              <a:rPr lang="en-US" sz="1100" b="1" dirty="0">
                <a:solidFill>
                  <a:srgbClr val="0A2342"/>
                </a:solidFill>
                <a:latin typeface="Calibri" pitchFamily="34" charset="0"/>
                <a:ea typeface="Calibri" pitchFamily="34" charset="-122"/>
                <a:cs typeface="Calibri" pitchFamily="34" charset="-120"/>
              </a:rPr>
              <a:t>CRISPR-Cas9</a:t>
            </a:r>
            <a:endParaRPr lang="en-US" sz="1100" dirty="0"/>
          </a:p>
        </p:txBody>
      </p:sp>
      <p:sp>
        <p:nvSpPr>
          <p:cNvPr id="45" name="Text 43"/>
          <p:cNvSpPr/>
          <p:nvPr/>
        </p:nvSpPr>
        <p:spPr>
          <a:xfrm>
            <a:off x="4645152" y="2953512"/>
            <a:ext cx="1819656" cy="411480"/>
          </a:xfrm>
          <a:prstGeom prst="rect">
            <a:avLst/>
          </a:prstGeom>
          <a:noFill/>
          <a:ln/>
        </p:spPr>
        <p:txBody>
          <a:bodyPr wrap="square" lIns="0" tIns="0" rIns="0" bIns="0" rtlCol="0" anchor="ctr"/>
          <a:lstStyle/>
          <a:p>
            <a:pPr indent="0" marL="0">
              <a:buNone/>
            </a:pPr>
            <a:r>
              <a:rPr lang="en-US" sz="950" dirty="0">
                <a:solidFill>
                  <a:srgbClr val="78909C"/>
                </a:solidFill>
                <a:latin typeface="Calibri" pitchFamily="34" charset="0"/>
                <a:ea typeface="Calibri" pitchFamily="34" charset="-122"/>
                <a:cs typeface="Calibri" pitchFamily="34" charset="-120"/>
              </a:rPr>
              <a:t>Doudna &amp; Charpentier demonstrate programmable gene editing with CRISPR (Science).</a:t>
            </a:r>
            <a:endParaRPr lang="en-US" sz="950" dirty="0"/>
          </a:p>
        </p:txBody>
      </p:sp>
      <p:sp>
        <p:nvSpPr>
          <p:cNvPr id="46" name="Shape 44"/>
          <p:cNvSpPr/>
          <p:nvPr/>
        </p:nvSpPr>
        <p:spPr>
          <a:xfrm>
            <a:off x="6547104" y="2907792"/>
            <a:ext cx="155448" cy="0"/>
          </a:xfrm>
          <a:prstGeom prst="line">
            <a:avLst/>
          </a:prstGeom>
          <a:noFill/>
          <a:ln w="19050">
            <a:solidFill>
              <a:srgbClr val="78909C"/>
            </a:solidFill>
            <a:prstDash val="solid"/>
          </a:ln>
        </p:spPr>
      </p:sp>
      <p:sp>
        <p:nvSpPr>
          <p:cNvPr id="47" name="Shape 45"/>
          <p:cNvSpPr/>
          <p:nvPr/>
        </p:nvSpPr>
        <p:spPr>
          <a:xfrm>
            <a:off x="6720840" y="2404872"/>
            <a:ext cx="1965960" cy="1005840"/>
          </a:xfrm>
          <a:prstGeom prst="roundRect">
            <a:avLst>
              <a:gd name="adj" fmla="val 9091"/>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48" name="Shape 46"/>
          <p:cNvSpPr/>
          <p:nvPr/>
        </p:nvSpPr>
        <p:spPr>
          <a:xfrm>
            <a:off x="6720840" y="2404872"/>
            <a:ext cx="1965960" cy="274320"/>
          </a:xfrm>
          <a:prstGeom prst="roundRect">
            <a:avLst>
              <a:gd name="adj" fmla="val 33333"/>
            </a:avLst>
          </a:prstGeom>
          <a:solidFill>
            <a:srgbClr val="C62828"/>
          </a:solidFill>
          <a:ln w="12700">
            <a:solidFill>
              <a:srgbClr val="C62828"/>
            </a:solidFill>
            <a:prstDash val="solid"/>
          </a:ln>
        </p:spPr>
      </p:sp>
      <p:sp>
        <p:nvSpPr>
          <p:cNvPr id="49" name="Text 47"/>
          <p:cNvSpPr/>
          <p:nvPr/>
        </p:nvSpPr>
        <p:spPr>
          <a:xfrm>
            <a:off x="6720840" y="2404872"/>
            <a:ext cx="196596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2023+</a:t>
            </a:r>
            <a:endParaRPr lang="en-US" sz="1200" dirty="0"/>
          </a:p>
        </p:txBody>
      </p:sp>
      <p:sp>
        <p:nvSpPr>
          <p:cNvPr id="50" name="Text 48"/>
          <p:cNvSpPr/>
          <p:nvPr/>
        </p:nvSpPr>
        <p:spPr>
          <a:xfrm>
            <a:off x="6793992" y="2697480"/>
            <a:ext cx="1819656" cy="256032"/>
          </a:xfrm>
          <a:prstGeom prst="rect">
            <a:avLst/>
          </a:prstGeom>
          <a:noFill/>
          <a:ln/>
        </p:spPr>
        <p:txBody>
          <a:bodyPr wrap="square" lIns="0" tIns="0" rIns="0" bIns="0" rtlCol="0" anchor="ctr"/>
          <a:lstStyle/>
          <a:p>
            <a:pPr indent="0" marL="0">
              <a:buNone/>
            </a:pPr>
            <a:r>
              <a:rPr lang="en-US" sz="1100" b="1" dirty="0">
                <a:solidFill>
                  <a:srgbClr val="0A2342"/>
                </a:solidFill>
                <a:latin typeface="Calibri" pitchFamily="34" charset="0"/>
                <a:ea typeface="Calibri" pitchFamily="34" charset="-122"/>
                <a:cs typeface="Calibri" pitchFamily="34" charset="-120"/>
              </a:rPr>
              <a:t>Clinical Approvals</a:t>
            </a:r>
            <a:endParaRPr lang="en-US" sz="1100" dirty="0"/>
          </a:p>
        </p:txBody>
      </p:sp>
      <p:sp>
        <p:nvSpPr>
          <p:cNvPr id="51" name="Text 49"/>
          <p:cNvSpPr/>
          <p:nvPr/>
        </p:nvSpPr>
        <p:spPr>
          <a:xfrm>
            <a:off x="6793992" y="2953512"/>
            <a:ext cx="1819656" cy="411480"/>
          </a:xfrm>
          <a:prstGeom prst="rect">
            <a:avLst/>
          </a:prstGeom>
          <a:noFill/>
          <a:ln/>
        </p:spPr>
        <p:txBody>
          <a:bodyPr wrap="square" lIns="0" tIns="0" rIns="0" bIns="0" rtlCol="0" anchor="ctr"/>
          <a:lstStyle/>
          <a:p>
            <a:pPr indent="0" marL="0">
              <a:buNone/>
            </a:pPr>
            <a:r>
              <a:rPr lang="en-US" sz="950" dirty="0">
                <a:solidFill>
                  <a:srgbClr val="78909C"/>
                </a:solidFill>
                <a:latin typeface="Calibri" pitchFamily="34" charset="0"/>
                <a:ea typeface="Calibri" pitchFamily="34" charset="-122"/>
                <a:cs typeface="Calibri" pitchFamily="34" charset="-120"/>
              </a:rPr>
              <a:t>FDA approves Casgevy — first CRISPR-based therapy for sickle cell disease.</a:t>
            </a:r>
            <a:endParaRPr lang="en-US" sz="950" dirty="0"/>
          </a:p>
        </p:txBody>
      </p:sp>
      <p:sp>
        <p:nvSpPr>
          <p:cNvPr id="52" name="Shape 50"/>
          <p:cNvSpPr/>
          <p:nvPr/>
        </p:nvSpPr>
        <p:spPr>
          <a:xfrm>
            <a:off x="274320" y="3703320"/>
            <a:ext cx="8595360" cy="1207008"/>
          </a:xfrm>
          <a:prstGeom prst="roundRect">
            <a:avLst>
              <a:gd name="adj" fmla="val 7576"/>
            </a:avLst>
          </a:prstGeom>
          <a:solidFill>
            <a:srgbClr val="0A2342"/>
          </a:solidFill>
          <a:ln w="12700">
            <a:solidFill>
              <a:srgbClr val="0A2342"/>
            </a:solidFill>
            <a:prstDash val="solid"/>
          </a:ln>
          <a:effectLst>
            <a:outerShdw sx="100000" sy="100000" kx="0" ky="0" algn="bl" rotWithShape="0" blurRad="76200" dist="25400" dir="2700000">
              <a:srgbClr val="000000">
                <a:alpha val="9000"/>
              </a:srgbClr>
            </a:outerShdw>
          </a:effectLst>
        </p:spPr>
      </p:sp>
      <p:pic>
        <p:nvPicPr>
          <p:cNvPr id="53" name="Image 0" descr="preencoded.png">    </p:cNvPr>
          <p:cNvPicPr>
            <a:picLocks noChangeAspect="1"/>
          </p:cNvPicPr>
          <p:nvPr/>
        </p:nvPicPr>
        <p:blipFill>
          <a:blip r:embed="rId1"/>
          <a:stretch>
            <a:fillRect/>
          </a:stretch>
        </p:blipFill>
        <p:spPr>
          <a:xfrm>
            <a:off x="411480" y="4023360"/>
            <a:ext cx="548640" cy="548640"/>
          </a:xfrm>
          <a:prstGeom prst="rect">
            <a:avLst/>
          </a:prstGeom>
        </p:spPr>
      </p:pic>
      <p:sp>
        <p:nvSpPr>
          <p:cNvPr id="54" name="Text 51"/>
          <p:cNvSpPr/>
          <p:nvPr/>
        </p:nvSpPr>
        <p:spPr>
          <a:xfrm>
            <a:off x="1097280" y="3803904"/>
            <a:ext cx="75895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From Discovery to the Clinic</a:t>
            </a:r>
            <a:endParaRPr lang="en-US" sz="1300" dirty="0"/>
          </a:p>
        </p:txBody>
      </p:sp>
      <p:sp>
        <p:nvSpPr>
          <p:cNvPr id="55" name="Text 52"/>
          <p:cNvSpPr/>
          <p:nvPr/>
        </p:nvSpPr>
        <p:spPr>
          <a:xfrm>
            <a:off x="1097280" y="4078224"/>
            <a:ext cx="7589520" cy="749808"/>
          </a:xfrm>
          <a:prstGeom prst="rect">
            <a:avLst/>
          </a:prstGeom>
          <a:noFill/>
          <a:ln/>
        </p:spPr>
        <p:txBody>
          <a:bodyPr wrap="square" lIns="0" tIns="0" rIns="0" bIns="0" rtlCol="0" anchor="ctr"/>
          <a:lstStyle/>
          <a:p>
            <a:pPr indent="0" marL="0">
              <a:buNone/>
            </a:pPr>
            <a:r>
              <a:rPr lang="en-US" sz="1050" dirty="0">
                <a:solidFill>
                  <a:srgbClr val="B0BEC5"/>
                </a:solidFill>
                <a:latin typeface="Calibri" pitchFamily="34" charset="0"/>
                <a:ea typeface="Calibri" pitchFamily="34" charset="-122"/>
                <a:cs typeface="Calibri" pitchFamily="34" charset="-120"/>
              </a:rPr>
              <a:t>What began as basic research into inheritance in 1865 evolved into a precision toolkit capable of curing genetic disease — CRISPR-based Casgevy reached patients just 11 years after the technology's discovery, one of the fastest bench-to-bedside translations in medical history.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342"/>
          </a:solidFill>
          <a:ln w="12700">
            <a:solidFill>
              <a:srgbClr val="0A2342"/>
            </a:solidFill>
            <a:prstDash val="solid"/>
          </a:ln>
        </p:spPr>
      </p:sp>
      <p:sp>
        <p:nvSpPr>
          <p:cNvPr id="3" name="Shape 1"/>
          <p:cNvSpPr/>
          <p:nvPr/>
        </p:nvSpPr>
        <p:spPr>
          <a:xfrm>
            <a:off x="8595360" y="137160"/>
            <a:ext cx="685800" cy="685800"/>
          </a:xfrm>
          <a:prstGeom prst="ellipse">
            <a:avLst/>
          </a:prstGeom>
          <a:solidFill>
            <a:srgbClr val="43A047"/>
          </a:solidFill>
          <a:ln w="12700">
            <a:solidFill>
              <a:srgbClr val="43A047"/>
            </a:solidFill>
            <a:prstDash val="solid"/>
          </a:ln>
        </p:spPr>
      </p:sp>
      <p:sp>
        <p:nvSpPr>
          <p:cNvPr id="4" name="Text 2"/>
          <p:cNvSpPr/>
          <p:nvPr/>
        </p:nvSpPr>
        <p:spPr>
          <a:xfrm>
            <a:off x="365760" y="91440"/>
            <a:ext cx="80467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Principles &amp; Techniques of Genetic Engineering</a:t>
            </a:r>
            <a:endParaRPr lang="en-US" sz="2200" dirty="0"/>
          </a:p>
        </p:txBody>
      </p:sp>
      <p:sp>
        <p:nvSpPr>
          <p:cNvPr id="5" name="Text 3"/>
          <p:cNvSpPr/>
          <p:nvPr/>
        </p:nvSpPr>
        <p:spPr>
          <a:xfrm>
            <a:off x="365760" y="621792"/>
            <a:ext cx="8046720" cy="274320"/>
          </a:xfrm>
          <a:prstGeom prst="rect">
            <a:avLst/>
          </a:prstGeom>
          <a:noFill/>
          <a:ln/>
        </p:spPr>
        <p:txBody>
          <a:bodyPr wrap="square" lIns="0" tIns="0" rIns="0" bIns="0" rtlCol="0" anchor="ctr"/>
          <a:lstStyle/>
          <a:p>
            <a:pPr indent="0" marL="0">
              <a:buNone/>
            </a:pPr>
            <a:r>
              <a:rPr lang="en-US" sz="1100" i="1" dirty="0">
                <a:solidFill>
                  <a:srgbClr val="90CAF9"/>
                </a:solidFill>
                <a:latin typeface="Calibri" pitchFamily="34" charset="0"/>
                <a:ea typeface="Calibri" pitchFamily="34" charset="-122"/>
                <a:cs typeface="Calibri" pitchFamily="34" charset="-120"/>
              </a:rPr>
              <a:t>Core Molecular Biology Methods</a:t>
            </a:r>
            <a:endParaRPr lang="en-US" sz="1100" dirty="0"/>
          </a:p>
        </p:txBody>
      </p:sp>
      <p:sp>
        <p:nvSpPr>
          <p:cNvPr id="6" name="Shape 4"/>
          <p:cNvSpPr/>
          <p:nvPr/>
        </p:nvSpPr>
        <p:spPr>
          <a:xfrm>
            <a:off x="274320" y="1051560"/>
            <a:ext cx="2011680" cy="3291840"/>
          </a:xfrm>
          <a:prstGeom prst="roundRect">
            <a:avLst>
              <a:gd name="adj" fmla="val 4545"/>
            </a:avLst>
          </a:prstGeom>
          <a:solidFill>
            <a:srgbClr val="FFFFFF"/>
          </a:solidFill>
          <a:ln w="12700">
            <a:solidFill>
              <a:srgbClr val="ECEFF1"/>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274320" y="1051560"/>
            <a:ext cx="2011680" cy="822960"/>
          </a:xfrm>
          <a:prstGeom prst="roundRect">
            <a:avLst>
              <a:gd name="adj" fmla="val 11111"/>
            </a:avLst>
          </a:prstGeom>
          <a:solidFill>
            <a:srgbClr val="1565C0"/>
          </a:solidFill>
          <a:ln w="12700">
            <a:solidFill>
              <a:srgbClr val="1565C0"/>
            </a:solidFill>
            <a:prstDash val="solid"/>
          </a:ln>
        </p:spPr>
      </p:sp>
      <p:sp>
        <p:nvSpPr>
          <p:cNvPr id="8" name="Shape 6"/>
          <p:cNvSpPr/>
          <p:nvPr/>
        </p:nvSpPr>
        <p:spPr>
          <a:xfrm>
            <a:off x="1600200" y="1124712"/>
            <a:ext cx="594360" cy="219456"/>
          </a:xfrm>
          <a:prstGeom prst="roundRect">
            <a:avLst>
              <a:gd name="adj" fmla="val 25000"/>
            </a:avLst>
          </a:prstGeom>
          <a:solidFill>
            <a:srgbClr val="FFFFFF">
              <a:alpha val="70000"/>
            </a:srgbClr>
          </a:solidFill>
          <a:ln w="12700">
            <a:solidFill>
              <a:srgbClr val="FFFFFF">
                <a:alpha val="60000"/>
              </a:srgbClr>
            </a:solidFill>
            <a:prstDash val="solid"/>
          </a:ln>
        </p:spPr>
      </p:sp>
      <p:sp>
        <p:nvSpPr>
          <p:cNvPr id="9" name="Text 7"/>
          <p:cNvSpPr/>
          <p:nvPr/>
        </p:nvSpPr>
        <p:spPr>
          <a:xfrm>
            <a:off x="1600200" y="1124712"/>
            <a:ext cx="59436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rDNA</a:t>
            </a:r>
            <a:endParaRPr lang="en-US" sz="800" dirty="0"/>
          </a:p>
        </p:txBody>
      </p:sp>
      <p:pic>
        <p:nvPicPr>
          <p:cNvPr id="10" name="Image 0" descr="preencoded.png">    </p:cNvPr>
          <p:cNvPicPr>
            <a:picLocks noChangeAspect="1"/>
          </p:cNvPicPr>
          <p:nvPr/>
        </p:nvPicPr>
        <p:blipFill>
          <a:blip r:embed="rId1"/>
          <a:stretch>
            <a:fillRect/>
          </a:stretch>
        </p:blipFill>
        <p:spPr>
          <a:xfrm>
            <a:off x="347472" y="1143000"/>
            <a:ext cx="475488" cy="475488"/>
          </a:xfrm>
          <a:prstGeom prst="rect">
            <a:avLst/>
          </a:prstGeom>
        </p:spPr>
      </p:pic>
      <p:sp>
        <p:nvSpPr>
          <p:cNvPr id="11" name="Text 8"/>
          <p:cNvSpPr/>
          <p:nvPr/>
        </p:nvSpPr>
        <p:spPr>
          <a:xfrm>
            <a:off x="329184" y="1618488"/>
            <a:ext cx="1901952"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Recombinant DNA Technology</a:t>
            </a:r>
            <a:endParaRPr lang="en-US" sz="1050" dirty="0"/>
          </a:p>
        </p:txBody>
      </p:sp>
      <p:sp>
        <p:nvSpPr>
          <p:cNvPr id="12" name="Shape 9"/>
          <p:cNvSpPr/>
          <p:nvPr/>
        </p:nvSpPr>
        <p:spPr>
          <a:xfrm>
            <a:off x="365760" y="2002536"/>
            <a:ext cx="256032" cy="256032"/>
          </a:xfrm>
          <a:prstGeom prst="ellipse">
            <a:avLst/>
          </a:prstGeom>
          <a:solidFill>
            <a:srgbClr val="1565C0"/>
          </a:solidFill>
          <a:ln w="12700">
            <a:solidFill>
              <a:srgbClr val="1565C0"/>
            </a:solidFill>
            <a:prstDash val="solid"/>
          </a:ln>
        </p:spPr>
      </p:sp>
      <p:sp>
        <p:nvSpPr>
          <p:cNvPr id="13" name="Text 10"/>
          <p:cNvSpPr/>
          <p:nvPr/>
        </p:nvSpPr>
        <p:spPr>
          <a:xfrm>
            <a:off x="365760" y="20025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4" name="Text 11"/>
          <p:cNvSpPr/>
          <p:nvPr/>
        </p:nvSpPr>
        <p:spPr>
          <a:xfrm>
            <a:off x="676656" y="1965960"/>
            <a:ext cx="1499616" cy="34747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Isolate gene of interest</a:t>
            </a:r>
            <a:endParaRPr lang="en-US" sz="1050" dirty="0"/>
          </a:p>
        </p:txBody>
      </p:sp>
      <p:sp>
        <p:nvSpPr>
          <p:cNvPr id="15" name="Shape 12"/>
          <p:cNvSpPr/>
          <p:nvPr/>
        </p:nvSpPr>
        <p:spPr>
          <a:xfrm>
            <a:off x="365760" y="2551176"/>
            <a:ext cx="256032" cy="256032"/>
          </a:xfrm>
          <a:prstGeom prst="ellipse">
            <a:avLst/>
          </a:prstGeom>
          <a:solidFill>
            <a:srgbClr val="1565C0"/>
          </a:solidFill>
          <a:ln w="12700">
            <a:solidFill>
              <a:srgbClr val="1565C0"/>
            </a:solidFill>
            <a:prstDash val="solid"/>
          </a:ln>
        </p:spPr>
      </p:sp>
      <p:sp>
        <p:nvSpPr>
          <p:cNvPr id="16" name="Text 13"/>
          <p:cNvSpPr/>
          <p:nvPr/>
        </p:nvSpPr>
        <p:spPr>
          <a:xfrm>
            <a:off x="365760" y="255117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7" name="Text 14"/>
          <p:cNvSpPr/>
          <p:nvPr/>
        </p:nvSpPr>
        <p:spPr>
          <a:xfrm>
            <a:off x="676656" y="2514600"/>
            <a:ext cx="1499616" cy="34747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Insert into vector (plasmid)</a:t>
            </a:r>
            <a:endParaRPr lang="en-US" sz="1050" dirty="0"/>
          </a:p>
        </p:txBody>
      </p:sp>
      <p:sp>
        <p:nvSpPr>
          <p:cNvPr id="18" name="Shape 15"/>
          <p:cNvSpPr/>
          <p:nvPr/>
        </p:nvSpPr>
        <p:spPr>
          <a:xfrm>
            <a:off x="365760" y="3099816"/>
            <a:ext cx="256032" cy="256032"/>
          </a:xfrm>
          <a:prstGeom prst="ellipse">
            <a:avLst/>
          </a:prstGeom>
          <a:solidFill>
            <a:srgbClr val="1565C0"/>
          </a:solidFill>
          <a:ln w="12700">
            <a:solidFill>
              <a:srgbClr val="1565C0"/>
            </a:solidFill>
            <a:prstDash val="solid"/>
          </a:ln>
        </p:spPr>
      </p:sp>
      <p:sp>
        <p:nvSpPr>
          <p:cNvPr id="19" name="Text 16"/>
          <p:cNvSpPr/>
          <p:nvPr/>
        </p:nvSpPr>
        <p:spPr>
          <a:xfrm>
            <a:off x="365760" y="30998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0" name="Text 17"/>
          <p:cNvSpPr/>
          <p:nvPr/>
        </p:nvSpPr>
        <p:spPr>
          <a:xfrm>
            <a:off x="676656" y="3063240"/>
            <a:ext cx="1499616" cy="34747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Transform into host cell</a:t>
            </a:r>
            <a:endParaRPr lang="en-US" sz="1050" dirty="0"/>
          </a:p>
        </p:txBody>
      </p:sp>
      <p:sp>
        <p:nvSpPr>
          <p:cNvPr id="21" name="Shape 18"/>
          <p:cNvSpPr/>
          <p:nvPr/>
        </p:nvSpPr>
        <p:spPr>
          <a:xfrm>
            <a:off x="365760" y="3648456"/>
            <a:ext cx="256032" cy="256032"/>
          </a:xfrm>
          <a:prstGeom prst="ellipse">
            <a:avLst/>
          </a:prstGeom>
          <a:solidFill>
            <a:srgbClr val="1565C0"/>
          </a:solidFill>
          <a:ln w="12700">
            <a:solidFill>
              <a:srgbClr val="1565C0"/>
            </a:solidFill>
            <a:prstDash val="solid"/>
          </a:ln>
        </p:spPr>
      </p:sp>
      <p:sp>
        <p:nvSpPr>
          <p:cNvPr id="22" name="Text 19"/>
          <p:cNvSpPr/>
          <p:nvPr/>
        </p:nvSpPr>
        <p:spPr>
          <a:xfrm>
            <a:off x="365760" y="36484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3" name="Text 20"/>
          <p:cNvSpPr/>
          <p:nvPr/>
        </p:nvSpPr>
        <p:spPr>
          <a:xfrm>
            <a:off x="676656" y="3611880"/>
            <a:ext cx="1499616" cy="34747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Express desired protein</a:t>
            </a:r>
            <a:endParaRPr lang="en-US" sz="1050" dirty="0"/>
          </a:p>
        </p:txBody>
      </p:sp>
      <p:sp>
        <p:nvSpPr>
          <p:cNvPr id="24" name="Shape 21"/>
          <p:cNvSpPr/>
          <p:nvPr/>
        </p:nvSpPr>
        <p:spPr>
          <a:xfrm>
            <a:off x="2532888" y="1051560"/>
            <a:ext cx="2011680" cy="3291840"/>
          </a:xfrm>
          <a:prstGeom prst="roundRect">
            <a:avLst>
              <a:gd name="adj" fmla="val 4545"/>
            </a:avLst>
          </a:prstGeom>
          <a:solidFill>
            <a:srgbClr val="FFFFFF"/>
          </a:solidFill>
          <a:ln w="12700">
            <a:solidFill>
              <a:srgbClr val="ECEFF1"/>
            </a:solidFill>
            <a:prstDash val="solid"/>
          </a:ln>
          <a:effectLst>
            <a:outerShdw sx="100000" sy="100000" kx="0" ky="0" algn="bl" rotWithShape="0" blurRad="101600" dist="38100" dir="2700000">
              <a:srgbClr val="000000">
                <a:alpha val="12000"/>
              </a:srgbClr>
            </a:outerShdw>
          </a:effectLst>
        </p:spPr>
      </p:sp>
      <p:sp>
        <p:nvSpPr>
          <p:cNvPr id="25" name="Shape 22"/>
          <p:cNvSpPr/>
          <p:nvPr/>
        </p:nvSpPr>
        <p:spPr>
          <a:xfrm>
            <a:off x="2532888" y="1051560"/>
            <a:ext cx="2011680" cy="822960"/>
          </a:xfrm>
          <a:prstGeom prst="roundRect">
            <a:avLst>
              <a:gd name="adj" fmla="val 11111"/>
            </a:avLst>
          </a:prstGeom>
          <a:solidFill>
            <a:srgbClr val="00695C"/>
          </a:solidFill>
          <a:ln w="12700">
            <a:solidFill>
              <a:srgbClr val="00695C"/>
            </a:solidFill>
            <a:prstDash val="solid"/>
          </a:ln>
        </p:spPr>
      </p:sp>
      <p:sp>
        <p:nvSpPr>
          <p:cNvPr id="26" name="Shape 23"/>
          <p:cNvSpPr/>
          <p:nvPr/>
        </p:nvSpPr>
        <p:spPr>
          <a:xfrm>
            <a:off x="3858768" y="1124712"/>
            <a:ext cx="594360" cy="219456"/>
          </a:xfrm>
          <a:prstGeom prst="roundRect">
            <a:avLst>
              <a:gd name="adj" fmla="val 25000"/>
            </a:avLst>
          </a:prstGeom>
          <a:solidFill>
            <a:srgbClr val="FFFFFF">
              <a:alpha val="70000"/>
            </a:srgbClr>
          </a:solidFill>
          <a:ln w="12700">
            <a:solidFill>
              <a:srgbClr val="FFFFFF">
                <a:alpha val="60000"/>
              </a:srgbClr>
            </a:solidFill>
            <a:prstDash val="solid"/>
          </a:ln>
        </p:spPr>
      </p:sp>
      <p:sp>
        <p:nvSpPr>
          <p:cNvPr id="27" name="Text 24"/>
          <p:cNvSpPr/>
          <p:nvPr/>
        </p:nvSpPr>
        <p:spPr>
          <a:xfrm>
            <a:off x="3858768" y="1124712"/>
            <a:ext cx="59436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CLONE</a:t>
            </a:r>
            <a:endParaRPr lang="en-US" sz="800" dirty="0"/>
          </a:p>
        </p:txBody>
      </p:sp>
      <p:pic>
        <p:nvPicPr>
          <p:cNvPr id="28" name="Image 1" descr="preencoded.png">    </p:cNvPr>
          <p:cNvPicPr>
            <a:picLocks noChangeAspect="1"/>
          </p:cNvPicPr>
          <p:nvPr/>
        </p:nvPicPr>
        <p:blipFill>
          <a:blip r:embed="rId2"/>
          <a:stretch>
            <a:fillRect/>
          </a:stretch>
        </p:blipFill>
        <p:spPr>
          <a:xfrm>
            <a:off x="2606040" y="1143000"/>
            <a:ext cx="475488" cy="475488"/>
          </a:xfrm>
          <a:prstGeom prst="rect">
            <a:avLst/>
          </a:prstGeom>
        </p:spPr>
      </p:pic>
      <p:sp>
        <p:nvSpPr>
          <p:cNvPr id="29" name="Text 25"/>
          <p:cNvSpPr/>
          <p:nvPr/>
        </p:nvSpPr>
        <p:spPr>
          <a:xfrm>
            <a:off x="2587752" y="1618488"/>
            <a:ext cx="1901952"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DNA Cloning</a:t>
            </a:r>
            <a:endParaRPr lang="en-US" sz="1050" dirty="0"/>
          </a:p>
        </p:txBody>
      </p:sp>
      <p:sp>
        <p:nvSpPr>
          <p:cNvPr id="30" name="Shape 26"/>
          <p:cNvSpPr/>
          <p:nvPr/>
        </p:nvSpPr>
        <p:spPr>
          <a:xfrm>
            <a:off x="2624328" y="2002536"/>
            <a:ext cx="256032" cy="256032"/>
          </a:xfrm>
          <a:prstGeom prst="ellipse">
            <a:avLst/>
          </a:prstGeom>
          <a:solidFill>
            <a:srgbClr val="00695C"/>
          </a:solidFill>
          <a:ln w="12700">
            <a:solidFill>
              <a:srgbClr val="00695C"/>
            </a:solidFill>
            <a:prstDash val="solid"/>
          </a:ln>
        </p:spPr>
      </p:sp>
      <p:sp>
        <p:nvSpPr>
          <p:cNvPr id="31" name="Text 27"/>
          <p:cNvSpPr/>
          <p:nvPr/>
        </p:nvSpPr>
        <p:spPr>
          <a:xfrm>
            <a:off x="2624328" y="20025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32" name="Text 28"/>
          <p:cNvSpPr/>
          <p:nvPr/>
        </p:nvSpPr>
        <p:spPr>
          <a:xfrm>
            <a:off x="2935224" y="1965960"/>
            <a:ext cx="1499616" cy="34747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Digest DNA with restriction enzymes</a:t>
            </a:r>
            <a:endParaRPr lang="en-US" sz="1050" dirty="0"/>
          </a:p>
        </p:txBody>
      </p:sp>
      <p:sp>
        <p:nvSpPr>
          <p:cNvPr id="33" name="Shape 29"/>
          <p:cNvSpPr/>
          <p:nvPr/>
        </p:nvSpPr>
        <p:spPr>
          <a:xfrm>
            <a:off x="2624328" y="2551176"/>
            <a:ext cx="256032" cy="256032"/>
          </a:xfrm>
          <a:prstGeom prst="ellipse">
            <a:avLst/>
          </a:prstGeom>
          <a:solidFill>
            <a:srgbClr val="00695C"/>
          </a:solidFill>
          <a:ln w="12700">
            <a:solidFill>
              <a:srgbClr val="00695C"/>
            </a:solidFill>
            <a:prstDash val="solid"/>
          </a:ln>
        </p:spPr>
      </p:sp>
      <p:sp>
        <p:nvSpPr>
          <p:cNvPr id="34" name="Text 30"/>
          <p:cNvSpPr/>
          <p:nvPr/>
        </p:nvSpPr>
        <p:spPr>
          <a:xfrm>
            <a:off x="2624328" y="255117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35" name="Text 31"/>
          <p:cNvSpPr/>
          <p:nvPr/>
        </p:nvSpPr>
        <p:spPr>
          <a:xfrm>
            <a:off x="2935224" y="2514600"/>
            <a:ext cx="1499616" cy="34747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Ligate into cloning vector</a:t>
            </a:r>
            <a:endParaRPr lang="en-US" sz="1050" dirty="0"/>
          </a:p>
        </p:txBody>
      </p:sp>
      <p:sp>
        <p:nvSpPr>
          <p:cNvPr id="36" name="Shape 32"/>
          <p:cNvSpPr/>
          <p:nvPr/>
        </p:nvSpPr>
        <p:spPr>
          <a:xfrm>
            <a:off x="2624328" y="3099816"/>
            <a:ext cx="256032" cy="256032"/>
          </a:xfrm>
          <a:prstGeom prst="ellipse">
            <a:avLst/>
          </a:prstGeom>
          <a:solidFill>
            <a:srgbClr val="00695C"/>
          </a:solidFill>
          <a:ln w="12700">
            <a:solidFill>
              <a:srgbClr val="00695C"/>
            </a:solidFill>
            <a:prstDash val="solid"/>
          </a:ln>
        </p:spPr>
      </p:sp>
      <p:sp>
        <p:nvSpPr>
          <p:cNvPr id="37" name="Text 33"/>
          <p:cNvSpPr/>
          <p:nvPr/>
        </p:nvSpPr>
        <p:spPr>
          <a:xfrm>
            <a:off x="2624328" y="30998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38" name="Text 34"/>
          <p:cNvSpPr/>
          <p:nvPr/>
        </p:nvSpPr>
        <p:spPr>
          <a:xfrm>
            <a:off x="2935224" y="3063240"/>
            <a:ext cx="1499616" cy="34747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Amplify in bacterial host</a:t>
            </a:r>
            <a:endParaRPr lang="en-US" sz="1050" dirty="0"/>
          </a:p>
        </p:txBody>
      </p:sp>
      <p:sp>
        <p:nvSpPr>
          <p:cNvPr id="39" name="Shape 35"/>
          <p:cNvSpPr/>
          <p:nvPr/>
        </p:nvSpPr>
        <p:spPr>
          <a:xfrm>
            <a:off x="2624328" y="3648456"/>
            <a:ext cx="256032" cy="256032"/>
          </a:xfrm>
          <a:prstGeom prst="ellipse">
            <a:avLst/>
          </a:prstGeom>
          <a:solidFill>
            <a:srgbClr val="00695C"/>
          </a:solidFill>
          <a:ln w="12700">
            <a:solidFill>
              <a:srgbClr val="00695C"/>
            </a:solidFill>
            <a:prstDash val="solid"/>
          </a:ln>
        </p:spPr>
      </p:sp>
      <p:sp>
        <p:nvSpPr>
          <p:cNvPr id="40" name="Text 36"/>
          <p:cNvSpPr/>
          <p:nvPr/>
        </p:nvSpPr>
        <p:spPr>
          <a:xfrm>
            <a:off x="2624328" y="36484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41" name="Text 37"/>
          <p:cNvSpPr/>
          <p:nvPr/>
        </p:nvSpPr>
        <p:spPr>
          <a:xfrm>
            <a:off x="2935224" y="3611880"/>
            <a:ext cx="1499616" cy="34747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Select positive clones</a:t>
            </a:r>
            <a:endParaRPr lang="en-US" sz="1050" dirty="0"/>
          </a:p>
        </p:txBody>
      </p:sp>
      <p:sp>
        <p:nvSpPr>
          <p:cNvPr id="42" name="Shape 38"/>
          <p:cNvSpPr/>
          <p:nvPr/>
        </p:nvSpPr>
        <p:spPr>
          <a:xfrm>
            <a:off x="4791456" y="1051560"/>
            <a:ext cx="2011680" cy="3291840"/>
          </a:xfrm>
          <a:prstGeom prst="roundRect">
            <a:avLst>
              <a:gd name="adj" fmla="val 4545"/>
            </a:avLst>
          </a:prstGeom>
          <a:solidFill>
            <a:srgbClr val="FFFFFF"/>
          </a:solidFill>
          <a:ln w="12700">
            <a:solidFill>
              <a:srgbClr val="ECEFF1"/>
            </a:solidFill>
            <a:prstDash val="solid"/>
          </a:ln>
          <a:effectLst>
            <a:outerShdw sx="100000" sy="100000" kx="0" ky="0" algn="bl" rotWithShape="0" blurRad="101600" dist="38100" dir="2700000">
              <a:srgbClr val="000000">
                <a:alpha val="12000"/>
              </a:srgbClr>
            </a:outerShdw>
          </a:effectLst>
        </p:spPr>
      </p:sp>
      <p:sp>
        <p:nvSpPr>
          <p:cNvPr id="43" name="Shape 39"/>
          <p:cNvSpPr/>
          <p:nvPr/>
        </p:nvSpPr>
        <p:spPr>
          <a:xfrm>
            <a:off x="4791456" y="1051560"/>
            <a:ext cx="2011680" cy="822960"/>
          </a:xfrm>
          <a:prstGeom prst="roundRect">
            <a:avLst>
              <a:gd name="adj" fmla="val 11111"/>
            </a:avLst>
          </a:prstGeom>
          <a:solidFill>
            <a:srgbClr val="2E7D32"/>
          </a:solidFill>
          <a:ln w="12700">
            <a:solidFill>
              <a:srgbClr val="2E7D32"/>
            </a:solidFill>
            <a:prstDash val="solid"/>
          </a:ln>
        </p:spPr>
      </p:sp>
      <p:sp>
        <p:nvSpPr>
          <p:cNvPr id="44" name="Shape 40"/>
          <p:cNvSpPr/>
          <p:nvPr/>
        </p:nvSpPr>
        <p:spPr>
          <a:xfrm>
            <a:off x="6117336" y="1124712"/>
            <a:ext cx="594360" cy="219456"/>
          </a:xfrm>
          <a:prstGeom prst="roundRect">
            <a:avLst>
              <a:gd name="adj" fmla="val 25000"/>
            </a:avLst>
          </a:prstGeom>
          <a:solidFill>
            <a:srgbClr val="FFFFFF">
              <a:alpha val="70000"/>
            </a:srgbClr>
          </a:solidFill>
          <a:ln w="12700">
            <a:solidFill>
              <a:srgbClr val="FFFFFF">
                <a:alpha val="60000"/>
              </a:srgbClr>
            </a:solidFill>
            <a:prstDash val="solid"/>
          </a:ln>
        </p:spPr>
      </p:sp>
      <p:sp>
        <p:nvSpPr>
          <p:cNvPr id="45" name="Text 41"/>
          <p:cNvSpPr/>
          <p:nvPr/>
        </p:nvSpPr>
        <p:spPr>
          <a:xfrm>
            <a:off x="6117336" y="1124712"/>
            <a:ext cx="59436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PCR</a:t>
            </a:r>
            <a:endParaRPr lang="en-US" sz="800" dirty="0"/>
          </a:p>
        </p:txBody>
      </p:sp>
      <p:pic>
        <p:nvPicPr>
          <p:cNvPr id="46" name="Image 2" descr="preencoded.png">    </p:cNvPr>
          <p:cNvPicPr>
            <a:picLocks noChangeAspect="1"/>
          </p:cNvPicPr>
          <p:nvPr/>
        </p:nvPicPr>
        <p:blipFill>
          <a:blip r:embed="rId3"/>
          <a:stretch>
            <a:fillRect/>
          </a:stretch>
        </p:blipFill>
        <p:spPr>
          <a:xfrm>
            <a:off x="4864608" y="1143000"/>
            <a:ext cx="475488" cy="475488"/>
          </a:xfrm>
          <a:prstGeom prst="rect">
            <a:avLst/>
          </a:prstGeom>
        </p:spPr>
      </p:pic>
      <p:sp>
        <p:nvSpPr>
          <p:cNvPr id="47" name="Text 42"/>
          <p:cNvSpPr/>
          <p:nvPr/>
        </p:nvSpPr>
        <p:spPr>
          <a:xfrm>
            <a:off x="4846320" y="1618488"/>
            <a:ext cx="1901952"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PCR (Polymerase Chain Reaction)</a:t>
            </a:r>
            <a:endParaRPr lang="en-US" sz="1050" dirty="0"/>
          </a:p>
        </p:txBody>
      </p:sp>
      <p:sp>
        <p:nvSpPr>
          <p:cNvPr id="48" name="Shape 43"/>
          <p:cNvSpPr/>
          <p:nvPr/>
        </p:nvSpPr>
        <p:spPr>
          <a:xfrm>
            <a:off x="4882896" y="2002536"/>
            <a:ext cx="256032" cy="256032"/>
          </a:xfrm>
          <a:prstGeom prst="ellipse">
            <a:avLst/>
          </a:prstGeom>
          <a:solidFill>
            <a:srgbClr val="2E7D32"/>
          </a:solidFill>
          <a:ln w="12700">
            <a:solidFill>
              <a:srgbClr val="2E7D32"/>
            </a:solidFill>
            <a:prstDash val="solid"/>
          </a:ln>
        </p:spPr>
      </p:sp>
      <p:sp>
        <p:nvSpPr>
          <p:cNvPr id="49" name="Text 44"/>
          <p:cNvSpPr/>
          <p:nvPr/>
        </p:nvSpPr>
        <p:spPr>
          <a:xfrm>
            <a:off x="4882896" y="20025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0" name="Text 45"/>
          <p:cNvSpPr/>
          <p:nvPr/>
        </p:nvSpPr>
        <p:spPr>
          <a:xfrm>
            <a:off x="5193792" y="1965960"/>
            <a:ext cx="1499616" cy="34747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Denaturation at 95°C</a:t>
            </a:r>
            <a:endParaRPr lang="en-US" sz="1050" dirty="0"/>
          </a:p>
        </p:txBody>
      </p:sp>
      <p:sp>
        <p:nvSpPr>
          <p:cNvPr id="51" name="Shape 46"/>
          <p:cNvSpPr/>
          <p:nvPr/>
        </p:nvSpPr>
        <p:spPr>
          <a:xfrm>
            <a:off x="4882896" y="2551176"/>
            <a:ext cx="256032" cy="256032"/>
          </a:xfrm>
          <a:prstGeom prst="ellipse">
            <a:avLst/>
          </a:prstGeom>
          <a:solidFill>
            <a:srgbClr val="2E7D32"/>
          </a:solidFill>
          <a:ln w="12700">
            <a:solidFill>
              <a:srgbClr val="2E7D32"/>
            </a:solidFill>
            <a:prstDash val="solid"/>
          </a:ln>
        </p:spPr>
      </p:sp>
      <p:sp>
        <p:nvSpPr>
          <p:cNvPr id="52" name="Text 47"/>
          <p:cNvSpPr/>
          <p:nvPr/>
        </p:nvSpPr>
        <p:spPr>
          <a:xfrm>
            <a:off x="4882896" y="255117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53" name="Text 48"/>
          <p:cNvSpPr/>
          <p:nvPr/>
        </p:nvSpPr>
        <p:spPr>
          <a:xfrm>
            <a:off x="5193792" y="2514600"/>
            <a:ext cx="1499616" cy="34747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Primer annealing at 55–65°C</a:t>
            </a:r>
            <a:endParaRPr lang="en-US" sz="1050" dirty="0"/>
          </a:p>
        </p:txBody>
      </p:sp>
      <p:sp>
        <p:nvSpPr>
          <p:cNvPr id="54" name="Shape 49"/>
          <p:cNvSpPr/>
          <p:nvPr/>
        </p:nvSpPr>
        <p:spPr>
          <a:xfrm>
            <a:off x="4882896" y="3099816"/>
            <a:ext cx="256032" cy="256032"/>
          </a:xfrm>
          <a:prstGeom prst="ellipse">
            <a:avLst/>
          </a:prstGeom>
          <a:solidFill>
            <a:srgbClr val="2E7D32"/>
          </a:solidFill>
          <a:ln w="12700">
            <a:solidFill>
              <a:srgbClr val="2E7D32"/>
            </a:solidFill>
            <a:prstDash val="solid"/>
          </a:ln>
        </p:spPr>
      </p:sp>
      <p:sp>
        <p:nvSpPr>
          <p:cNvPr id="55" name="Text 50"/>
          <p:cNvSpPr/>
          <p:nvPr/>
        </p:nvSpPr>
        <p:spPr>
          <a:xfrm>
            <a:off x="4882896" y="30998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56" name="Text 51"/>
          <p:cNvSpPr/>
          <p:nvPr/>
        </p:nvSpPr>
        <p:spPr>
          <a:xfrm>
            <a:off x="5193792" y="3063240"/>
            <a:ext cx="1499616" cy="34747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Extension by Taq polymerase</a:t>
            </a:r>
            <a:endParaRPr lang="en-US" sz="1050" dirty="0"/>
          </a:p>
        </p:txBody>
      </p:sp>
      <p:sp>
        <p:nvSpPr>
          <p:cNvPr id="57" name="Shape 52"/>
          <p:cNvSpPr/>
          <p:nvPr/>
        </p:nvSpPr>
        <p:spPr>
          <a:xfrm>
            <a:off x="4882896" y="3648456"/>
            <a:ext cx="256032" cy="256032"/>
          </a:xfrm>
          <a:prstGeom prst="ellipse">
            <a:avLst/>
          </a:prstGeom>
          <a:solidFill>
            <a:srgbClr val="2E7D32"/>
          </a:solidFill>
          <a:ln w="12700">
            <a:solidFill>
              <a:srgbClr val="2E7D32"/>
            </a:solidFill>
            <a:prstDash val="solid"/>
          </a:ln>
        </p:spPr>
      </p:sp>
      <p:sp>
        <p:nvSpPr>
          <p:cNvPr id="58" name="Text 53"/>
          <p:cNvSpPr/>
          <p:nvPr/>
        </p:nvSpPr>
        <p:spPr>
          <a:xfrm>
            <a:off x="4882896" y="36484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59" name="Text 54"/>
          <p:cNvSpPr/>
          <p:nvPr/>
        </p:nvSpPr>
        <p:spPr>
          <a:xfrm>
            <a:off x="5193792" y="3611880"/>
            <a:ext cx="1499616" cy="34747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Exponential amplification</a:t>
            </a:r>
            <a:endParaRPr lang="en-US" sz="1050" dirty="0"/>
          </a:p>
        </p:txBody>
      </p:sp>
      <p:sp>
        <p:nvSpPr>
          <p:cNvPr id="60" name="Shape 55"/>
          <p:cNvSpPr/>
          <p:nvPr/>
        </p:nvSpPr>
        <p:spPr>
          <a:xfrm>
            <a:off x="7050024" y="1051560"/>
            <a:ext cx="2011680" cy="3291840"/>
          </a:xfrm>
          <a:prstGeom prst="roundRect">
            <a:avLst>
              <a:gd name="adj" fmla="val 4545"/>
            </a:avLst>
          </a:prstGeom>
          <a:solidFill>
            <a:srgbClr val="FFFFFF"/>
          </a:solidFill>
          <a:ln w="12700">
            <a:solidFill>
              <a:srgbClr val="ECEFF1"/>
            </a:solidFill>
            <a:prstDash val="solid"/>
          </a:ln>
          <a:effectLst>
            <a:outerShdw sx="100000" sy="100000" kx="0" ky="0" algn="bl" rotWithShape="0" blurRad="101600" dist="38100" dir="2700000">
              <a:srgbClr val="000000">
                <a:alpha val="12000"/>
              </a:srgbClr>
            </a:outerShdw>
          </a:effectLst>
        </p:spPr>
      </p:sp>
      <p:sp>
        <p:nvSpPr>
          <p:cNvPr id="61" name="Shape 56"/>
          <p:cNvSpPr/>
          <p:nvPr/>
        </p:nvSpPr>
        <p:spPr>
          <a:xfrm>
            <a:off x="7050024" y="1051560"/>
            <a:ext cx="2011680" cy="822960"/>
          </a:xfrm>
          <a:prstGeom prst="roundRect">
            <a:avLst>
              <a:gd name="adj" fmla="val 11111"/>
            </a:avLst>
          </a:prstGeom>
          <a:solidFill>
            <a:srgbClr val="0A2342"/>
          </a:solidFill>
          <a:ln w="12700">
            <a:solidFill>
              <a:srgbClr val="0A2342"/>
            </a:solidFill>
            <a:prstDash val="solid"/>
          </a:ln>
        </p:spPr>
      </p:sp>
      <p:sp>
        <p:nvSpPr>
          <p:cNvPr id="62" name="Shape 57"/>
          <p:cNvSpPr/>
          <p:nvPr/>
        </p:nvSpPr>
        <p:spPr>
          <a:xfrm>
            <a:off x="8375904" y="1124712"/>
            <a:ext cx="594360" cy="219456"/>
          </a:xfrm>
          <a:prstGeom prst="roundRect">
            <a:avLst>
              <a:gd name="adj" fmla="val 25000"/>
            </a:avLst>
          </a:prstGeom>
          <a:solidFill>
            <a:srgbClr val="FFFFFF">
              <a:alpha val="70000"/>
            </a:srgbClr>
          </a:solidFill>
          <a:ln w="12700">
            <a:solidFill>
              <a:srgbClr val="FFFFFF">
                <a:alpha val="60000"/>
              </a:srgbClr>
            </a:solidFill>
            <a:prstDash val="solid"/>
          </a:ln>
        </p:spPr>
      </p:sp>
      <p:sp>
        <p:nvSpPr>
          <p:cNvPr id="63" name="Text 58"/>
          <p:cNvSpPr/>
          <p:nvPr/>
        </p:nvSpPr>
        <p:spPr>
          <a:xfrm>
            <a:off x="8375904" y="1124712"/>
            <a:ext cx="59436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EDIT</a:t>
            </a:r>
            <a:endParaRPr lang="en-US" sz="800" dirty="0"/>
          </a:p>
        </p:txBody>
      </p:sp>
      <p:pic>
        <p:nvPicPr>
          <p:cNvPr id="64" name="Image 3" descr="preencoded.png">    </p:cNvPr>
          <p:cNvPicPr>
            <a:picLocks noChangeAspect="1"/>
          </p:cNvPicPr>
          <p:nvPr/>
        </p:nvPicPr>
        <p:blipFill>
          <a:blip r:embed="rId4"/>
          <a:stretch>
            <a:fillRect/>
          </a:stretch>
        </p:blipFill>
        <p:spPr>
          <a:xfrm>
            <a:off x="7123176" y="1143000"/>
            <a:ext cx="475488" cy="475488"/>
          </a:xfrm>
          <a:prstGeom prst="rect">
            <a:avLst/>
          </a:prstGeom>
        </p:spPr>
      </p:pic>
      <p:sp>
        <p:nvSpPr>
          <p:cNvPr id="65" name="Text 59"/>
          <p:cNvSpPr/>
          <p:nvPr/>
        </p:nvSpPr>
        <p:spPr>
          <a:xfrm>
            <a:off x="7104888" y="1618488"/>
            <a:ext cx="1901952"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Gene Editing (CRISPR/ZFN/TALEN)</a:t>
            </a:r>
            <a:endParaRPr lang="en-US" sz="1050" dirty="0"/>
          </a:p>
        </p:txBody>
      </p:sp>
      <p:sp>
        <p:nvSpPr>
          <p:cNvPr id="66" name="Shape 60"/>
          <p:cNvSpPr/>
          <p:nvPr/>
        </p:nvSpPr>
        <p:spPr>
          <a:xfrm>
            <a:off x="7141464" y="2002536"/>
            <a:ext cx="256032" cy="256032"/>
          </a:xfrm>
          <a:prstGeom prst="ellipse">
            <a:avLst/>
          </a:prstGeom>
          <a:solidFill>
            <a:srgbClr val="0A2342"/>
          </a:solidFill>
          <a:ln w="12700">
            <a:solidFill>
              <a:srgbClr val="0A2342"/>
            </a:solidFill>
            <a:prstDash val="solid"/>
          </a:ln>
        </p:spPr>
      </p:sp>
      <p:sp>
        <p:nvSpPr>
          <p:cNvPr id="67" name="Text 61"/>
          <p:cNvSpPr/>
          <p:nvPr/>
        </p:nvSpPr>
        <p:spPr>
          <a:xfrm>
            <a:off x="7141464" y="20025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8" name="Text 62"/>
          <p:cNvSpPr/>
          <p:nvPr/>
        </p:nvSpPr>
        <p:spPr>
          <a:xfrm>
            <a:off x="7452360" y="1965960"/>
            <a:ext cx="1499616" cy="34747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Design guide RNA or nuclease</a:t>
            </a:r>
            <a:endParaRPr lang="en-US" sz="1050" dirty="0"/>
          </a:p>
        </p:txBody>
      </p:sp>
      <p:sp>
        <p:nvSpPr>
          <p:cNvPr id="69" name="Shape 63"/>
          <p:cNvSpPr/>
          <p:nvPr/>
        </p:nvSpPr>
        <p:spPr>
          <a:xfrm>
            <a:off x="7141464" y="2551176"/>
            <a:ext cx="256032" cy="256032"/>
          </a:xfrm>
          <a:prstGeom prst="ellipse">
            <a:avLst/>
          </a:prstGeom>
          <a:solidFill>
            <a:srgbClr val="0A2342"/>
          </a:solidFill>
          <a:ln w="12700">
            <a:solidFill>
              <a:srgbClr val="0A2342"/>
            </a:solidFill>
            <a:prstDash val="solid"/>
          </a:ln>
        </p:spPr>
      </p:sp>
      <p:sp>
        <p:nvSpPr>
          <p:cNvPr id="70" name="Text 64"/>
          <p:cNvSpPr/>
          <p:nvPr/>
        </p:nvSpPr>
        <p:spPr>
          <a:xfrm>
            <a:off x="7141464" y="255117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71" name="Text 65"/>
          <p:cNvSpPr/>
          <p:nvPr/>
        </p:nvSpPr>
        <p:spPr>
          <a:xfrm>
            <a:off x="7452360" y="2514600"/>
            <a:ext cx="1499616" cy="34747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Create targeted double-strand break</a:t>
            </a:r>
            <a:endParaRPr lang="en-US" sz="1050" dirty="0"/>
          </a:p>
        </p:txBody>
      </p:sp>
      <p:sp>
        <p:nvSpPr>
          <p:cNvPr id="72" name="Shape 66"/>
          <p:cNvSpPr/>
          <p:nvPr/>
        </p:nvSpPr>
        <p:spPr>
          <a:xfrm>
            <a:off x="7141464" y="3099816"/>
            <a:ext cx="256032" cy="256032"/>
          </a:xfrm>
          <a:prstGeom prst="ellipse">
            <a:avLst/>
          </a:prstGeom>
          <a:solidFill>
            <a:srgbClr val="0A2342"/>
          </a:solidFill>
          <a:ln w="12700">
            <a:solidFill>
              <a:srgbClr val="0A2342"/>
            </a:solidFill>
            <a:prstDash val="solid"/>
          </a:ln>
        </p:spPr>
      </p:sp>
      <p:sp>
        <p:nvSpPr>
          <p:cNvPr id="73" name="Text 67"/>
          <p:cNvSpPr/>
          <p:nvPr/>
        </p:nvSpPr>
        <p:spPr>
          <a:xfrm>
            <a:off x="7141464" y="30998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74" name="Text 68"/>
          <p:cNvSpPr/>
          <p:nvPr/>
        </p:nvSpPr>
        <p:spPr>
          <a:xfrm>
            <a:off x="7452360" y="3063240"/>
            <a:ext cx="1499616" cy="34747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Cell repairs via NHEJ or HDR</a:t>
            </a:r>
            <a:endParaRPr lang="en-US" sz="1050" dirty="0"/>
          </a:p>
        </p:txBody>
      </p:sp>
      <p:sp>
        <p:nvSpPr>
          <p:cNvPr id="75" name="Shape 69"/>
          <p:cNvSpPr/>
          <p:nvPr/>
        </p:nvSpPr>
        <p:spPr>
          <a:xfrm>
            <a:off x="7141464" y="3648456"/>
            <a:ext cx="256032" cy="256032"/>
          </a:xfrm>
          <a:prstGeom prst="ellipse">
            <a:avLst/>
          </a:prstGeom>
          <a:solidFill>
            <a:srgbClr val="0A2342"/>
          </a:solidFill>
          <a:ln w="12700">
            <a:solidFill>
              <a:srgbClr val="0A2342"/>
            </a:solidFill>
            <a:prstDash val="solid"/>
          </a:ln>
        </p:spPr>
      </p:sp>
      <p:sp>
        <p:nvSpPr>
          <p:cNvPr id="76" name="Text 70"/>
          <p:cNvSpPr/>
          <p:nvPr/>
        </p:nvSpPr>
        <p:spPr>
          <a:xfrm>
            <a:off x="7141464" y="36484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77" name="Text 71"/>
          <p:cNvSpPr/>
          <p:nvPr/>
        </p:nvSpPr>
        <p:spPr>
          <a:xfrm>
            <a:off x="7452360" y="3611880"/>
            <a:ext cx="1499616" cy="34747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Knock-out or knock-in mutation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342"/>
          </a:solidFill>
          <a:ln w="12700">
            <a:solidFill>
              <a:srgbClr val="0A2342"/>
            </a:solidFill>
            <a:prstDash val="solid"/>
          </a:ln>
        </p:spPr>
      </p:sp>
      <p:sp>
        <p:nvSpPr>
          <p:cNvPr id="3" name="Shape 1"/>
          <p:cNvSpPr/>
          <p:nvPr/>
        </p:nvSpPr>
        <p:spPr>
          <a:xfrm>
            <a:off x="8595360" y="137160"/>
            <a:ext cx="685800" cy="685800"/>
          </a:xfrm>
          <a:prstGeom prst="ellipse">
            <a:avLst/>
          </a:prstGeom>
          <a:solidFill>
            <a:srgbClr val="43A047"/>
          </a:solidFill>
          <a:ln w="12700">
            <a:solidFill>
              <a:srgbClr val="43A047"/>
            </a:solidFill>
            <a:prstDash val="solid"/>
          </a:ln>
        </p:spPr>
      </p:sp>
      <p:sp>
        <p:nvSpPr>
          <p:cNvPr id="4" name="Text 2"/>
          <p:cNvSpPr/>
          <p:nvPr/>
        </p:nvSpPr>
        <p:spPr>
          <a:xfrm>
            <a:off x="365760" y="91440"/>
            <a:ext cx="80467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Applications of Genetic Engineering</a:t>
            </a:r>
            <a:endParaRPr lang="en-US" sz="2200" dirty="0"/>
          </a:p>
        </p:txBody>
      </p:sp>
      <p:sp>
        <p:nvSpPr>
          <p:cNvPr id="5" name="Text 3"/>
          <p:cNvSpPr/>
          <p:nvPr/>
        </p:nvSpPr>
        <p:spPr>
          <a:xfrm>
            <a:off x="365760" y="621792"/>
            <a:ext cx="8046720" cy="274320"/>
          </a:xfrm>
          <a:prstGeom prst="rect">
            <a:avLst/>
          </a:prstGeom>
          <a:noFill/>
          <a:ln/>
        </p:spPr>
        <p:txBody>
          <a:bodyPr wrap="square" lIns="0" tIns="0" rIns="0" bIns="0" rtlCol="0" anchor="ctr"/>
          <a:lstStyle/>
          <a:p>
            <a:pPr indent="0" marL="0">
              <a:buNone/>
            </a:pPr>
            <a:r>
              <a:rPr lang="en-US" sz="1100" i="1" dirty="0">
                <a:solidFill>
                  <a:srgbClr val="90CAF9"/>
                </a:solidFill>
                <a:latin typeface="Calibri" pitchFamily="34" charset="0"/>
                <a:ea typeface="Calibri" pitchFamily="34" charset="-122"/>
                <a:cs typeface="Calibri" pitchFamily="34" charset="-120"/>
              </a:rPr>
              <a:t>Transforming Medicine, Agriculture, Industry &amp; Research</a:t>
            </a:r>
            <a:endParaRPr lang="en-US" sz="1100" dirty="0"/>
          </a:p>
        </p:txBody>
      </p:sp>
      <p:sp>
        <p:nvSpPr>
          <p:cNvPr id="6" name="Shape 4"/>
          <p:cNvSpPr/>
          <p:nvPr/>
        </p:nvSpPr>
        <p:spPr>
          <a:xfrm>
            <a:off x="274320" y="1078992"/>
            <a:ext cx="4160520" cy="1783080"/>
          </a:xfrm>
          <a:prstGeom prst="roundRect">
            <a:avLst>
              <a:gd name="adj" fmla="val 6154"/>
            </a:avLst>
          </a:prstGeom>
          <a:solidFill>
            <a:srgbClr val="FFEBEE"/>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7" name="Shape 5"/>
          <p:cNvSpPr/>
          <p:nvPr/>
        </p:nvSpPr>
        <p:spPr>
          <a:xfrm>
            <a:off x="365760" y="1188720"/>
            <a:ext cx="640080" cy="640080"/>
          </a:xfrm>
          <a:prstGeom prst="ellipse">
            <a:avLst/>
          </a:prstGeom>
          <a:solidFill>
            <a:srgbClr val="C62828"/>
          </a:solidFill>
          <a:ln w="12700">
            <a:solidFill>
              <a:srgbClr val="C62828"/>
            </a:solidFill>
            <a:prstDash val="solid"/>
          </a:ln>
        </p:spPr>
      </p:sp>
      <p:pic>
        <p:nvPicPr>
          <p:cNvPr id="8" name="Image 0" descr="preencoded.png">    </p:cNvPr>
          <p:cNvPicPr>
            <a:picLocks noChangeAspect="1"/>
          </p:cNvPicPr>
          <p:nvPr/>
        </p:nvPicPr>
        <p:blipFill>
          <a:blip r:embed="rId1"/>
          <a:stretch>
            <a:fillRect/>
          </a:stretch>
        </p:blipFill>
        <p:spPr>
          <a:xfrm>
            <a:off x="411480" y="1225296"/>
            <a:ext cx="548640" cy="548640"/>
          </a:xfrm>
          <a:prstGeom prst="rect">
            <a:avLst/>
          </a:prstGeom>
        </p:spPr>
      </p:pic>
      <p:sp>
        <p:nvSpPr>
          <p:cNvPr id="9" name="Text 6"/>
          <p:cNvSpPr/>
          <p:nvPr/>
        </p:nvSpPr>
        <p:spPr>
          <a:xfrm>
            <a:off x="1097280" y="1243584"/>
            <a:ext cx="3200400" cy="329184"/>
          </a:xfrm>
          <a:prstGeom prst="rect">
            <a:avLst/>
          </a:prstGeom>
          <a:noFill/>
          <a:ln/>
        </p:spPr>
        <p:txBody>
          <a:bodyPr wrap="square" lIns="0" tIns="0" rIns="0" bIns="0" rtlCol="0" anchor="ctr"/>
          <a:lstStyle/>
          <a:p>
            <a:pPr indent="0" marL="0">
              <a:buNone/>
            </a:pPr>
            <a:r>
              <a:rPr lang="en-US" sz="1600" b="1" dirty="0">
                <a:solidFill>
                  <a:srgbClr val="C62828"/>
                </a:solidFill>
                <a:latin typeface="Calibri" pitchFamily="34" charset="0"/>
                <a:ea typeface="Calibri" pitchFamily="34" charset="-122"/>
                <a:cs typeface="Calibri" pitchFamily="34" charset="-120"/>
              </a:rPr>
              <a:t>Medicine</a:t>
            </a:r>
            <a:endParaRPr lang="en-US" sz="1600" dirty="0"/>
          </a:p>
        </p:txBody>
      </p:sp>
      <p:sp>
        <p:nvSpPr>
          <p:cNvPr id="10" name="Text 7"/>
          <p:cNvSpPr/>
          <p:nvPr/>
        </p:nvSpPr>
        <p:spPr>
          <a:xfrm>
            <a:off x="438912" y="1856232"/>
            <a:ext cx="3867912" cy="237744"/>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Recombinant insulin &amp; growth hormone</a:t>
            </a:r>
            <a:endParaRPr lang="en-US" sz="1050" dirty="0"/>
          </a:p>
        </p:txBody>
      </p:sp>
      <p:sp>
        <p:nvSpPr>
          <p:cNvPr id="11" name="Text 8"/>
          <p:cNvSpPr/>
          <p:nvPr/>
        </p:nvSpPr>
        <p:spPr>
          <a:xfrm>
            <a:off x="438912" y="2093976"/>
            <a:ext cx="3867912" cy="237744"/>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Monoclonal antibodies (Herceptin, Rituximab)</a:t>
            </a:r>
            <a:endParaRPr lang="en-US" sz="1050" dirty="0"/>
          </a:p>
        </p:txBody>
      </p:sp>
      <p:sp>
        <p:nvSpPr>
          <p:cNvPr id="12" name="Text 9"/>
          <p:cNvSpPr/>
          <p:nvPr/>
        </p:nvSpPr>
        <p:spPr>
          <a:xfrm>
            <a:off x="438912" y="2331720"/>
            <a:ext cx="3867912" cy="237744"/>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mRNA vaccines (COVID-19, flu)</a:t>
            </a:r>
            <a:endParaRPr lang="en-US" sz="1050" dirty="0"/>
          </a:p>
        </p:txBody>
      </p:sp>
      <p:sp>
        <p:nvSpPr>
          <p:cNvPr id="13" name="Text 10"/>
          <p:cNvSpPr/>
          <p:nvPr/>
        </p:nvSpPr>
        <p:spPr>
          <a:xfrm>
            <a:off x="438912" y="2569464"/>
            <a:ext cx="3867912" cy="237744"/>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Erythropoietin for anemia treatment</a:t>
            </a:r>
            <a:endParaRPr lang="en-US" sz="1050" dirty="0"/>
          </a:p>
        </p:txBody>
      </p:sp>
      <p:sp>
        <p:nvSpPr>
          <p:cNvPr id="14" name="Shape 11"/>
          <p:cNvSpPr/>
          <p:nvPr/>
        </p:nvSpPr>
        <p:spPr>
          <a:xfrm>
            <a:off x="4709160" y="1078992"/>
            <a:ext cx="4160520" cy="1783080"/>
          </a:xfrm>
          <a:prstGeom prst="roundRect">
            <a:avLst>
              <a:gd name="adj" fmla="val 6154"/>
            </a:avLst>
          </a:prstGeom>
          <a:solidFill>
            <a:srgbClr val="E8F5E9"/>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15" name="Shape 12"/>
          <p:cNvSpPr/>
          <p:nvPr/>
        </p:nvSpPr>
        <p:spPr>
          <a:xfrm>
            <a:off x="4800600" y="1188720"/>
            <a:ext cx="640080" cy="640080"/>
          </a:xfrm>
          <a:prstGeom prst="ellipse">
            <a:avLst/>
          </a:prstGeom>
          <a:solidFill>
            <a:srgbClr val="2E7D32"/>
          </a:solidFill>
          <a:ln w="12700">
            <a:solidFill>
              <a:srgbClr val="2E7D32"/>
            </a:solidFill>
            <a:prstDash val="solid"/>
          </a:ln>
        </p:spPr>
      </p:sp>
      <p:pic>
        <p:nvPicPr>
          <p:cNvPr id="16" name="Image 1" descr="preencoded.png">    </p:cNvPr>
          <p:cNvPicPr>
            <a:picLocks noChangeAspect="1"/>
          </p:cNvPicPr>
          <p:nvPr/>
        </p:nvPicPr>
        <p:blipFill>
          <a:blip r:embed="rId2"/>
          <a:stretch>
            <a:fillRect/>
          </a:stretch>
        </p:blipFill>
        <p:spPr>
          <a:xfrm>
            <a:off x="4846320" y="1225296"/>
            <a:ext cx="548640" cy="548640"/>
          </a:xfrm>
          <a:prstGeom prst="rect">
            <a:avLst/>
          </a:prstGeom>
        </p:spPr>
      </p:pic>
      <p:sp>
        <p:nvSpPr>
          <p:cNvPr id="17" name="Text 13"/>
          <p:cNvSpPr/>
          <p:nvPr/>
        </p:nvSpPr>
        <p:spPr>
          <a:xfrm>
            <a:off x="5532120" y="1243584"/>
            <a:ext cx="3200400" cy="329184"/>
          </a:xfrm>
          <a:prstGeom prst="rect">
            <a:avLst/>
          </a:prstGeom>
          <a:noFill/>
          <a:ln/>
        </p:spPr>
        <p:txBody>
          <a:bodyPr wrap="square" lIns="0" tIns="0" rIns="0" bIns="0" rtlCol="0" anchor="ctr"/>
          <a:lstStyle/>
          <a:p>
            <a:pPr indent="0" marL="0">
              <a:buNone/>
            </a:pPr>
            <a:r>
              <a:rPr lang="en-US" sz="1600" b="1" dirty="0">
                <a:solidFill>
                  <a:srgbClr val="2E7D32"/>
                </a:solidFill>
                <a:latin typeface="Calibri" pitchFamily="34" charset="0"/>
                <a:ea typeface="Calibri" pitchFamily="34" charset="-122"/>
                <a:cs typeface="Calibri" pitchFamily="34" charset="-120"/>
              </a:rPr>
              <a:t>Agriculture</a:t>
            </a:r>
            <a:endParaRPr lang="en-US" sz="1600" dirty="0"/>
          </a:p>
        </p:txBody>
      </p:sp>
      <p:sp>
        <p:nvSpPr>
          <p:cNvPr id="18" name="Text 14"/>
          <p:cNvSpPr/>
          <p:nvPr/>
        </p:nvSpPr>
        <p:spPr>
          <a:xfrm>
            <a:off x="4873752" y="1856232"/>
            <a:ext cx="3867912" cy="237744"/>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Bt-crops resistant to pests (Bt-cotton)</a:t>
            </a:r>
            <a:endParaRPr lang="en-US" sz="1050" dirty="0"/>
          </a:p>
        </p:txBody>
      </p:sp>
      <p:sp>
        <p:nvSpPr>
          <p:cNvPr id="19" name="Text 15"/>
          <p:cNvSpPr/>
          <p:nvPr/>
        </p:nvSpPr>
        <p:spPr>
          <a:xfrm>
            <a:off x="4873752" y="2093976"/>
            <a:ext cx="3867912" cy="237744"/>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Golden Rice — Vitamin A enriched</a:t>
            </a:r>
            <a:endParaRPr lang="en-US" sz="1050" dirty="0"/>
          </a:p>
        </p:txBody>
      </p:sp>
      <p:sp>
        <p:nvSpPr>
          <p:cNvPr id="20" name="Text 16"/>
          <p:cNvSpPr/>
          <p:nvPr/>
        </p:nvSpPr>
        <p:spPr>
          <a:xfrm>
            <a:off x="4873752" y="2331720"/>
            <a:ext cx="3867912" cy="237744"/>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Herbicide-tolerant soybeans (Roundup Ready)</a:t>
            </a:r>
            <a:endParaRPr lang="en-US" sz="1050" dirty="0"/>
          </a:p>
        </p:txBody>
      </p:sp>
      <p:sp>
        <p:nvSpPr>
          <p:cNvPr id="21" name="Text 17"/>
          <p:cNvSpPr/>
          <p:nvPr/>
        </p:nvSpPr>
        <p:spPr>
          <a:xfrm>
            <a:off x="4873752" y="2569464"/>
            <a:ext cx="3867912" cy="237744"/>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Drought/salinity-resistant crops (GM wheat)</a:t>
            </a:r>
            <a:endParaRPr lang="en-US" sz="1050" dirty="0"/>
          </a:p>
        </p:txBody>
      </p:sp>
      <p:sp>
        <p:nvSpPr>
          <p:cNvPr id="22" name="Shape 18"/>
          <p:cNvSpPr/>
          <p:nvPr/>
        </p:nvSpPr>
        <p:spPr>
          <a:xfrm>
            <a:off x="274320" y="3044952"/>
            <a:ext cx="4160520" cy="1783080"/>
          </a:xfrm>
          <a:prstGeom prst="roundRect">
            <a:avLst>
              <a:gd name="adj" fmla="val 6154"/>
            </a:avLst>
          </a:prstGeom>
          <a:solidFill>
            <a:srgbClr val="E3F2FD"/>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23" name="Shape 19"/>
          <p:cNvSpPr/>
          <p:nvPr/>
        </p:nvSpPr>
        <p:spPr>
          <a:xfrm>
            <a:off x="365760" y="3154680"/>
            <a:ext cx="640080" cy="640080"/>
          </a:xfrm>
          <a:prstGeom prst="ellipse">
            <a:avLst/>
          </a:prstGeom>
          <a:solidFill>
            <a:srgbClr val="0A2342"/>
          </a:solidFill>
          <a:ln w="12700">
            <a:solidFill>
              <a:srgbClr val="0A2342"/>
            </a:solidFill>
            <a:prstDash val="solid"/>
          </a:ln>
        </p:spPr>
      </p:sp>
      <p:pic>
        <p:nvPicPr>
          <p:cNvPr id="24" name="Image 2" descr="preencoded.png">    </p:cNvPr>
          <p:cNvPicPr>
            <a:picLocks noChangeAspect="1"/>
          </p:cNvPicPr>
          <p:nvPr/>
        </p:nvPicPr>
        <p:blipFill>
          <a:blip r:embed="rId3"/>
          <a:stretch>
            <a:fillRect/>
          </a:stretch>
        </p:blipFill>
        <p:spPr>
          <a:xfrm>
            <a:off x="411480" y="3191256"/>
            <a:ext cx="548640" cy="548640"/>
          </a:xfrm>
          <a:prstGeom prst="rect">
            <a:avLst/>
          </a:prstGeom>
        </p:spPr>
      </p:pic>
      <p:sp>
        <p:nvSpPr>
          <p:cNvPr id="25" name="Text 20"/>
          <p:cNvSpPr/>
          <p:nvPr/>
        </p:nvSpPr>
        <p:spPr>
          <a:xfrm>
            <a:off x="1097280" y="3209544"/>
            <a:ext cx="3200400" cy="329184"/>
          </a:xfrm>
          <a:prstGeom prst="rect">
            <a:avLst/>
          </a:prstGeom>
          <a:noFill/>
          <a:ln/>
        </p:spPr>
        <p:txBody>
          <a:bodyPr wrap="square" lIns="0" tIns="0" rIns="0" bIns="0" rtlCol="0" anchor="ctr"/>
          <a:lstStyle/>
          <a:p>
            <a:pPr indent="0" marL="0">
              <a:buNone/>
            </a:pPr>
            <a:r>
              <a:rPr lang="en-US" sz="1600" b="1" dirty="0">
                <a:solidFill>
                  <a:srgbClr val="0A2342"/>
                </a:solidFill>
                <a:latin typeface="Calibri" pitchFamily="34" charset="0"/>
                <a:ea typeface="Calibri" pitchFamily="34" charset="-122"/>
                <a:cs typeface="Calibri" pitchFamily="34" charset="-120"/>
              </a:rPr>
              <a:t>Industry</a:t>
            </a:r>
            <a:endParaRPr lang="en-US" sz="1600" dirty="0"/>
          </a:p>
        </p:txBody>
      </p:sp>
      <p:sp>
        <p:nvSpPr>
          <p:cNvPr id="26" name="Text 21"/>
          <p:cNvSpPr/>
          <p:nvPr/>
        </p:nvSpPr>
        <p:spPr>
          <a:xfrm>
            <a:off x="438912" y="3822192"/>
            <a:ext cx="3867912" cy="237744"/>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Biofuels from engineered microbes</a:t>
            </a:r>
            <a:endParaRPr lang="en-US" sz="1050" dirty="0"/>
          </a:p>
        </p:txBody>
      </p:sp>
      <p:sp>
        <p:nvSpPr>
          <p:cNvPr id="27" name="Text 22"/>
          <p:cNvSpPr/>
          <p:nvPr/>
        </p:nvSpPr>
        <p:spPr>
          <a:xfrm>
            <a:off x="438912" y="4059936"/>
            <a:ext cx="3867912" cy="237744"/>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Biodegradable plastics (PHA production)</a:t>
            </a:r>
            <a:endParaRPr lang="en-US" sz="1050" dirty="0"/>
          </a:p>
        </p:txBody>
      </p:sp>
      <p:sp>
        <p:nvSpPr>
          <p:cNvPr id="28" name="Text 23"/>
          <p:cNvSpPr/>
          <p:nvPr/>
        </p:nvSpPr>
        <p:spPr>
          <a:xfrm>
            <a:off x="438912" y="4297680"/>
            <a:ext cx="3867912" cy="237744"/>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Enzyme production for detergents &amp; food</a:t>
            </a:r>
            <a:endParaRPr lang="en-US" sz="1050" dirty="0"/>
          </a:p>
        </p:txBody>
      </p:sp>
      <p:sp>
        <p:nvSpPr>
          <p:cNvPr id="29" name="Text 24"/>
          <p:cNvSpPr/>
          <p:nvPr/>
        </p:nvSpPr>
        <p:spPr>
          <a:xfrm>
            <a:off x="438912" y="4535424"/>
            <a:ext cx="3867912" cy="237744"/>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Biosensors for environmental monitoring</a:t>
            </a:r>
            <a:endParaRPr lang="en-US" sz="1050" dirty="0"/>
          </a:p>
        </p:txBody>
      </p:sp>
      <p:sp>
        <p:nvSpPr>
          <p:cNvPr id="30" name="Shape 25"/>
          <p:cNvSpPr/>
          <p:nvPr/>
        </p:nvSpPr>
        <p:spPr>
          <a:xfrm>
            <a:off x="4709160" y="3044952"/>
            <a:ext cx="4160520" cy="1783080"/>
          </a:xfrm>
          <a:prstGeom prst="roundRect">
            <a:avLst>
              <a:gd name="adj" fmla="val 6154"/>
            </a:avLst>
          </a:prstGeom>
          <a:solidFill>
            <a:srgbClr val="F3E5F5"/>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31" name="Shape 26"/>
          <p:cNvSpPr/>
          <p:nvPr/>
        </p:nvSpPr>
        <p:spPr>
          <a:xfrm>
            <a:off x="4800600" y="3154680"/>
            <a:ext cx="640080" cy="640080"/>
          </a:xfrm>
          <a:prstGeom prst="ellipse">
            <a:avLst/>
          </a:prstGeom>
          <a:solidFill>
            <a:srgbClr val="6A1B9A"/>
          </a:solidFill>
          <a:ln w="12700">
            <a:solidFill>
              <a:srgbClr val="6A1B9A"/>
            </a:solidFill>
            <a:prstDash val="solid"/>
          </a:ln>
        </p:spPr>
      </p:sp>
      <p:pic>
        <p:nvPicPr>
          <p:cNvPr id="32" name="Image 3" descr="preencoded.png">    </p:cNvPr>
          <p:cNvPicPr>
            <a:picLocks noChangeAspect="1"/>
          </p:cNvPicPr>
          <p:nvPr/>
        </p:nvPicPr>
        <p:blipFill>
          <a:blip r:embed="rId4"/>
          <a:stretch>
            <a:fillRect/>
          </a:stretch>
        </p:blipFill>
        <p:spPr>
          <a:xfrm>
            <a:off x="4846320" y="3191256"/>
            <a:ext cx="548640" cy="548640"/>
          </a:xfrm>
          <a:prstGeom prst="rect">
            <a:avLst/>
          </a:prstGeom>
        </p:spPr>
      </p:pic>
      <p:sp>
        <p:nvSpPr>
          <p:cNvPr id="33" name="Text 27"/>
          <p:cNvSpPr/>
          <p:nvPr/>
        </p:nvSpPr>
        <p:spPr>
          <a:xfrm>
            <a:off x="5532120" y="3209544"/>
            <a:ext cx="3200400" cy="329184"/>
          </a:xfrm>
          <a:prstGeom prst="rect">
            <a:avLst/>
          </a:prstGeom>
          <a:noFill/>
          <a:ln/>
        </p:spPr>
        <p:txBody>
          <a:bodyPr wrap="square" lIns="0" tIns="0" rIns="0" bIns="0" rtlCol="0" anchor="ctr"/>
          <a:lstStyle/>
          <a:p>
            <a:pPr indent="0" marL="0">
              <a:buNone/>
            </a:pPr>
            <a:r>
              <a:rPr lang="en-US" sz="1600" b="1" dirty="0">
                <a:solidFill>
                  <a:srgbClr val="6A1B9A"/>
                </a:solidFill>
                <a:latin typeface="Calibri" pitchFamily="34" charset="0"/>
                <a:ea typeface="Calibri" pitchFamily="34" charset="-122"/>
                <a:cs typeface="Calibri" pitchFamily="34" charset="-120"/>
              </a:rPr>
              <a:t>Research</a:t>
            </a:r>
            <a:endParaRPr lang="en-US" sz="1600" dirty="0"/>
          </a:p>
        </p:txBody>
      </p:sp>
      <p:sp>
        <p:nvSpPr>
          <p:cNvPr id="34" name="Text 28"/>
          <p:cNvSpPr/>
          <p:nvPr/>
        </p:nvSpPr>
        <p:spPr>
          <a:xfrm>
            <a:off x="4873752" y="3822192"/>
            <a:ext cx="3867912" cy="237744"/>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Knockout mouse models for disease study</a:t>
            </a:r>
            <a:endParaRPr lang="en-US" sz="1050" dirty="0"/>
          </a:p>
        </p:txBody>
      </p:sp>
      <p:sp>
        <p:nvSpPr>
          <p:cNvPr id="35" name="Text 29"/>
          <p:cNvSpPr/>
          <p:nvPr/>
        </p:nvSpPr>
        <p:spPr>
          <a:xfrm>
            <a:off x="4873752" y="4059936"/>
            <a:ext cx="3867912" cy="237744"/>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Fluorescent reporter genes (GFP)</a:t>
            </a:r>
            <a:endParaRPr lang="en-US" sz="1050" dirty="0"/>
          </a:p>
        </p:txBody>
      </p:sp>
      <p:sp>
        <p:nvSpPr>
          <p:cNvPr id="36" name="Text 30"/>
          <p:cNvSpPr/>
          <p:nvPr/>
        </p:nvSpPr>
        <p:spPr>
          <a:xfrm>
            <a:off x="4873752" y="4297680"/>
            <a:ext cx="3867912" cy="237744"/>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Functional genomics &amp; proteomics</a:t>
            </a:r>
            <a:endParaRPr lang="en-US" sz="1050" dirty="0"/>
          </a:p>
        </p:txBody>
      </p:sp>
      <p:sp>
        <p:nvSpPr>
          <p:cNvPr id="37" name="Text 31"/>
          <p:cNvSpPr/>
          <p:nvPr/>
        </p:nvSpPr>
        <p:spPr>
          <a:xfrm>
            <a:off x="4873752" y="4535424"/>
            <a:ext cx="3867912" cy="237744"/>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Drug target discovery &amp; validation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342"/>
          </a:solidFill>
          <a:ln w="12700">
            <a:solidFill>
              <a:srgbClr val="0A2342"/>
            </a:solidFill>
            <a:prstDash val="solid"/>
          </a:ln>
        </p:spPr>
      </p:sp>
      <p:sp>
        <p:nvSpPr>
          <p:cNvPr id="3" name="Shape 1"/>
          <p:cNvSpPr/>
          <p:nvPr/>
        </p:nvSpPr>
        <p:spPr>
          <a:xfrm>
            <a:off x="8595360" y="137160"/>
            <a:ext cx="685800" cy="685800"/>
          </a:xfrm>
          <a:prstGeom prst="ellipse">
            <a:avLst/>
          </a:prstGeom>
          <a:solidFill>
            <a:srgbClr val="43A047"/>
          </a:solidFill>
          <a:ln w="12700">
            <a:solidFill>
              <a:srgbClr val="43A047"/>
            </a:solidFill>
            <a:prstDash val="solid"/>
          </a:ln>
        </p:spPr>
      </p:sp>
      <p:sp>
        <p:nvSpPr>
          <p:cNvPr id="4" name="Text 2"/>
          <p:cNvSpPr/>
          <p:nvPr/>
        </p:nvSpPr>
        <p:spPr>
          <a:xfrm>
            <a:off x="365760" y="91440"/>
            <a:ext cx="80467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CRISPR-Cas9 Technology</a:t>
            </a:r>
            <a:endParaRPr lang="en-US" sz="2200" dirty="0"/>
          </a:p>
        </p:txBody>
      </p:sp>
      <p:sp>
        <p:nvSpPr>
          <p:cNvPr id="5" name="Text 3"/>
          <p:cNvSpPr/>
          <p:nvPr/>
        </p:nvSpPr>
        <p:spPr>
          <a:xfrm>
            <a:off x="365760" y="621792"/>
            <a:ext cx="8046720" cy="274320"/>
          </a:xfrm>
          <a:prstGeom prst="rect">
            <a:avLst/>
          </a:prstGeom>
          <a:noFill/>
          <a:ln/>
        </p:spPr>
        <p:txBody>
          <a:bodyPr wrap="square" lIns="0" tIns="0" rIns="0" bIns="0" rtlCol="0" anchor="ctr"/>
          <a:lstStyle/>
          <a:p>
            <a:pPr indent="0" marL="0">
              <a:buNone/>
            </a:pPr>
            <a:r>
              <a:rPr lang="en-US" sz="1100" i="1" dirty="0">
                <a:solidFill>
                  <a:srgbClr val="90CAF9"/>
                </a:solidFill>
                <a:latin typeface="Calibri" pitchFamily="34" charset="0"/>
                <a:ea typeface="Calibri" pitchFamily="34" charset="-122"/>
                <a:cs typeface="Calibri" pitchFamily="34" charset="-120"/>
              </a:rPr>
              <a:t>Clustered Regularly Interspaced Short Palindromic Repeats</a:t>
            </a:r>
            <a:endParaRPr lang="en-US" sz="1100" dirty="0"/>
          </a:p>
        </p:txBody>
      </p:sp>
      <p:sp>
        <p:nvSpPr>
          <p:cNvPr id="6" name="Shape 4"/>
          <p:cNvSpPr/>
          <p:nvPr/>
        </p:nvSpPr>
        <p:spPr>
          <a:xfrm>
            <a:off x="274320" y="1078992"/>
            <a:ext cx="2743200" cy="868680"/>
          </a:xfrm>
          <a:prstGeom prst="roundRect">
            <a:avLst>
              <a:gd name="adj" fmla="val 10526"/>
            </a:avLst>
          </a:prstGeom>
          <a:solidFill>
            <a:srgbClr val="E3F2FD"/>
          </a:solidFill>
          <a:ln w="12700">
            <a:solidFill>
              <a:srgbClr val="BBDEFB"/>
            </a:solidFill>
            <a:prstDash val="solid"/>
          </a:ln>
          <a:effectLst>
            <a:outerShdw sx="100000" sy="100000" kx="0" ky="0" algn="bl" rotWithShape="0" blurRad="76200" dist="25400" dir="2700000">
              <a:srgbClr val="000000">
                <a:alpha val="9000"/>
              </a:srgbClr>
            </a:outerShdw>
          </a:effectLst>
        </p:spPr>
      </p:sp>
      <p:sp>
        <p:nvSpPr>
          <p:cNvPr id="7" name="Text 5"/>
          <p:cNvSpPr/>
          <p:nvPr/>
        </p:nvSpPr>
        <p:spPr>
          <a:xfrm>
            <a:off x="411480" y="1133856"/>
            <a:ext cx="2468880" cy="237744"/>
          </a:xfrm>
          <a:prstGeom prst="rect">
            <a:avLst/>
          </a:prstGeom>
          <a:noFill/>
          <a:ln/>
        </p:spPr>
        <p:txBody>
          <a:bodyPr wrap="square" lIns="0" tIns="0" rIns="0" bIns="0" rtlCol="0" anchor="ctr"/>
          <a:lstStyle/>
          <a:p>
            <a:pPr indent="0" marL="0">
              <a:buNone/>
            </a:pPr>
            <a:r>
              <a:rPr lang="en-US" sz="1200" b="1" dirty="0">
                <a:solidFill>
                  <a:srgbClr val="1565C0"/>
                </a:solidFill>
                <a:latin typeface="Calibri" pitchFamily="34" charset="0"/>
                <a:ea typeface="Calibri" pitchFamily="34" charset="-122"/>
                <a:cs typeface="Calibri" pitchFamily="34" charset="-120"/>
              </a:rPr>
              <a:t>Discovery</a:t>
            </a:r>
            <a:endParaRPr lang="en-US" sz="1200" dirty="0"/>
          </a:p>
        </p:txBody>
      </p:sp>
      <p:sp>
        <p:nvSpPr>
          <p:cNvPr id="8" name="Text 6"/>
          <p:cNvSpPr/>
          <p:nvPr/>
        </p:nvSpPr>
        <p:spPr>
          <a:xfrm>
            <a:off x="365760" y="1389888"/>
            <a:ext cx="2542032" cy="512064"/>
          </a:xfrm>
          <a:prstGeom prst="rect">
            <a:avLst/>
          </a:prstGeom>
          <a:noFill/>
          <a:ln/>
        </p:spPr>
        <p:txBody>
          <a:bodyPr wrap="square" lIns="0" tIns="0" rIns="0" bIns="0" rtlCol="0" anchor="ctr"/>
          <a:lstStyle/>
          <a:p>
            <a:pPr indent="0" marL="0">
              <a:buNone/>
            </a:pPr>
            <a:r>
              <a:rPr lang="en-US" sz="900" dirty="0">
                <a:solidFill>
                  <a:srgbClr val="37474F"/>
                </a:solidFill>
                <a:latin typeface="Calibri" pitchFamily="34" charset="0"/>
                <a:ea typeface="Calibri" pitchFamily="34" charset="-122"/>
                <a:cs typeface="Calibri" pitchFamily="34" charset="-120"/>
              </a:rPr>
              <a:t>Originally found as a bacterial immune defense (2012). Doudna &amp; Charpentier adapted it for programmable gene editing — Nobel Prize 2020.</a:t>
            </a:r>
            <a:endParaRPr lang="en-US" sz="900" dirty="0"/>
          </a:p>
        </p:txBody>
      </p:sp>
      <p:sp>
        <p:nvSpPr>
          <p:cNvPr id="9" name="Shape 7"/>
          <p:cNvSpPr/>
          <p:nvPr/>
        </p:nvSpPr>
        <p:spPr>
          <a:xfrm>
            <a:off x="274320" y="2057400"/>
            <a:ext cx="2743200" cy="2834640"/>
          </a:xfrm>
          <a:prstGeom prst="roundRect">
            <a:avLst>
              <a:gd name="adj" fmla="val 3333"/>
            </a:avLst>
          </a:prstGeom>
          <a:solidFill>
            <a:srgbClr val="E8F5E9"/>
          </a:solidFill>
          <a:ln w="12700">
            <a:solidFill>
              <a:srgbClr val="C8E6C9"/>
            </a:solidFill>
            <a:prstDash val="solid"/>
          </a:ln>
          <a:effectLst>
            <a:outerShdw sx="100000" sy="100000" kx="0" ky="0" algn="bl" rotWithShape="0" blurRad="76200" dist="25400" dir="2700000">
              <a:srgbClr val="000000">
                <a:alpha val="9000"/>
              </a:srgbClr>
            </a:outerShdw>
          </a:effectLst>
        </p:spPr>
      </p:sp>
      <p:sp>
        <p:nvSpPr>
          <p:cNvPr id="10" name="Text 8"/>
          <p:cNvSpPr/>
          <p:nvPr/>
        </p:nvSpPr>
        <p:spPr>
          <a:xfrm>
            <a:off x="411480" y="2112264"/>
            <a:ext cx="2468880" cy="256032"/>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Components</a:t>
            </a:r>
            <a:endParaRPr lang="en-US" sz="1200" dirty="0"/>
          </a:p>
        </p:txBody>
      </p:sp>
      <p:sp>
        <p:nvSpPr>
          <p:cNvPr id="11" name="Text 9"/>
          <p:cNvSpPr/>
          <p:nvPr/>
        </p:nvSpPr>
        <p:spPr>
          <a:xfrm>
            <a:off x="384048" y="2450592"/>
            <a:ext cx="2523744" cy="219456"/>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Cas9 Enzyme</a:t>
            </a:r>
            <a:endParaRPr lang="en-US" sz="1050" dirty="0"/>
          </a:p>
        </p:txBody>
      </p:sp>
      <p:sp>
        <p:nvSpPr>
          <p:cNvPr id="12" name="Text 10"/>
          <p:cNvSpPr/>
          <p:nvPr/>
        </p:nvSpPr>
        <p:spPr>
          <a:xfrm>
            <a:off x="384048" y="2660904"/>
            <a:ext cx="2523744" cy="365760"/>
          </a:xfrm>
          <a:prstGeom prst="rect">
            <a:avLst/>
          </a:prstGeom>
          <a:noFill/>
          <a:ln/>
        </p:spPr>
        <p:txBody>
          <a:bodyPr wrap="square" lIns="0" tIns="0" rIns="0" bIns="0" rtlCol="0" anchor="ctr"/>
          <a:lstStyle/>
          <a:p>
            <a:pPr indent="0" marL="0">
              <a:buNone/>
            </a:pPr>
            <a:r>
              <a:rPr lang="en-US" sz="870" dirty="0">
                <a:solidFill>
                  <a:srgbClr val="37474F"/>
                </a:solidFill>
                <a:latin typeface="Calibri" pitchFamily="34" charset="0"/>
                <a:ea typeface="Calibri" pitchFamily="34" charset="-122"/>
                <a:cs typeface="Calibri" pitchFamily="34" charset="-120"/>
              </a:rPr>
              <a:t>Nuclease (protein) that cuts double-stranded DNA at the target site</a:t>
            </a:r>
            <a:endParaRPr lang="en-US" sz="870" dirty="0"/>
          </a:p>
        </p:txBody>
      </p:sp>
      <p:sp>
        <p:nvSpPr>
          <p:cNvPr id="13" name="Text 11"/>
          <p:cNvSpPr/>
          <p:nvPr/>
        </p:nvSpPr>
        <p:spPr>
          <a:xfrm>
            <a:off x="384048" y="3044952"/>
            <a:ext cx="2523744" cy="219456"/>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sgRNA</a:t>
            </a:r>
            <a:endParaRPr lang="en-US" sz="1050" dirty="0"/>
          </a:p>
        </p:txBody>
      </p:sp>
      <p:sp>
        <p:nvSpPr>
          <p:cNvPr id="14" name="Text 12"/>
          <p:cNvSpPr/>
          <p:nvPr/>
        </p:nvSpPr>
        <p:spPr>
          <a:xfrm>
            <a:off x="384048" y="3255264"/>
            <a:ext cx="2523744" cy="365760"/>
          </a:xfrm>
          <a:prstGeom prst="rect">
            <a:avLst/>
          </a:prstGeom>
          <a:noFill/>
          <a:ln/>
        </p:spPr>
        <p:txBody>
          <a:bodyPr wrap="square" lIns="0" tIns="0" rIns="0" bIns="0" rtlCol="0" anchor="ctr"/>
          <a:lstStyle/>
          <a:p>
            <a:pPr indent="0" marL="0">
              <a:buNone/>
            </a:pPr>
            <a:r>
              <a:rPr lang="en-US" sz="870" dirty="0">
                <a:solidFill>
                  <a:srgbClr val="37474F"/>
                </a:solidFill>
                <a:latin typeface="Calibri" pitchFamily="34" charset="0"/>
                <a:ea typeface="Calibri" pitchFamily="34" charset="-122"/>
                <a:cs typeface="Calibri" pitchFamily="34" charset="-120"/>
              </a:rPr>
              <a:t>Single guide RNA — a short synthetic RNA that directs Cas9 to the target</a:t>
            </a:r>
            <a:endParaRPr lang="en-US" sz="870" dirty="0"/>
          </a:p>
        </p:txBody>
      </p:sp>
      <p:sp>
        <p:nvSpPr>
          <p:cNvPr id="15" name="Text 13"/>
          <p:cNvSpPr/>
          <p:nvPr/>
        </p:nvSpPr>
        <p:spPr>
          <a:xfrm>
            <a:off x="384048" y="3639312"/>
            <a:ext cx="2523744" cy="219456"/>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PAM Sequence</a:t>
            </a:r>
            <a:endParaRPr lang="en-US" sz="1050" dirty="0"/>
          </a:p>
        </p:txBody>
      </p:sp>
      <p:sp>
        <p:nvSpPr>
          <p:cNvPr id="16" name="Text 14"/>
          <p:cNvSpPr/>
          <p:nvPr/>
        </p:nvSpPr>
        <p:spPr>
          <a:xfrm>
            <a:off x="384048" y="3849624"/>
            <a:ext cx="2523744" cy="365760"/>
          </a:xfrm>
          <a:prstGeom prst="rect">
            <a:avLst/>
          </a:prstGeom>
          <a:noFill/>
          <a:ln/>
        </p:spPr>
        <p:txBody>
          <a:bodyPr wrap="square" lIns="0" tIns="0" rIns="0" bIns="0" rtlCol="0" anchor="ctr"/>
          <a:lstStyle/>
          <a:p>
            <a:pPr indent="0" marL="0">
              <a:buNone/>
            </a:pPr>
            <a:r>
              <a:rPr lang="en-US" sz="870" dirty="0">
                <a:solidFill>
                  <a:srgbClr val="37474F"/>
                </a:solidFill>
                <a:latin typeface="Calibri" pitchFamily="34" charset="0"/>
                <a:ea typeface="Calibri" pitchFamily="34" charset="-122"/>
                <a:cs typeface="Calibri" pitchFamily="34" charset="-120"/>
              </a:rPr>
              <a:t>NGG motif immediately adjacent to target — required for Cas9 binding</a:t>
            </a:r>
            <a:endParaRPr lang="en-US" sz="870" dirty="0"/>
          </a:p>
        </p:txBody>
      </p:sp>
      <p:sp>
        <p:nvSpPr>
          <p:cNvPr id="17" name="Text 15"/>
          <p:cNvSpPr/>
          <p:nvPr/>
        </p:nvSpPr>
        <p:spPr>
          <a:xfrm>
            <a:off x="384048" y="4233672"/>
            <a:ext cx="2523744" cy="219456"/>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Target DNA</a:t>
            </a:r>
            <a:endParaRPr lang="en-US" sz="1050" dirty="0"/>
          </a:p>
        </p:txBody>
      </p:sp>
      <p:sp>
        <p:nvSpPr>
          <p:cNvPr id="18" name="Text 16"/>
          <p:cNvSpPr/>
          <p:nvPr/>
        </p:nvSpPr>
        <p:spPr>
          <a:xfrm>
            <a:off x="384048" y="4443984"/>
            <a:ext cx="2523744" cy="365760"/>
          </a:xfrm>
          <a:prstGeom prst="rect">
            <a:avLst/>
          </a:prstGeom>
          <a:noFill/>
          <a:ln/>
        </p:spPr>
        <p:txBody>
          <a:bodyPr wrap="square" lIns="0" tIns="0" rIns="0" bIns="0" rtlCol="0" anchor="ctr"/>
          <a:lstStyle/>
          <a:p>
            <a:pPr indent="0" marL="0">
              <a:buNone/>
            </a:pPr>
            <a:r>
              <a:rPr lang="en-US" sz="870" dirty="0">
                <a:solidFill>
                  <a:srgbClr val="37474F"/>
                </a:solidFill>
                <a:latin typeface="Calibri" pitchFamily="34" charset="0"/>
                <a:ea typeface="Calibri" pitchFamily="34" charset="-122"/>
                <a:cs typeface="Calibri" pitchFamily="34" charset="-120"/>
              </a:rPr>
              <a:t>20-nucleotide genomic sequence complementary to the guide RNA</a:t>
            </a:r>
            <a:endParaRPr lang="en-US" sz="870" dirty="0"/>
          </a:p>
        </p:txBody>
      </p:sp>
      <p:sp>
        <p:nvSpPr>
          <p:cNvPr id="19" name="Shape 17"/>
          <p:cNvSpPr/>
          <p:nvPr/>
        </p:nvSpPr>
        <p:spPr>
          <a:xfrm>
            <a:off x="3291840" y="1051560"/>
            <a:ext cx="5532120" cy="3886200"/>
          </a:xfrm>
          <a:prstGeom prst="roundRect">
            <a:avLst>
              <a:gd name="adj" fmla="val 2824"/>
            </a:avLst>
          </a:prstGeom>
          <a:solidFill>
            <a:srgbClr val="FFFFFF"/>
          </a:solidFill>
          <a:ln w="12700">
            <a:solidFill>
              <a:srgbClr val="ECEFF1"/>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3383280" y="1143000"/>
            <a:ext cx="5349240" cy="274320"/>
          </a:xfrm>
          <a:prstGeom prst="rect">
            <a:avLst/>
          </a:prstGeom>
          <a:noFill/>
          <a:ln/>
        </p:spPr>
        <p:txBody>
          <a:bodyPr wrap="square" lIns="0" tIns="0" rIns="0" bIns="0" rtlCol="0" anchor="ctr"/>
          <a:lstStyle/>
          <a:p>
            <a:pPr algn="ctr" indent="0" marL="0">
              <a:buNone/>
            </a:pPr>
            <a:r>
              <a:rPr lang="en-US" sz="1300" b="1" dirty="0">
                <a:solidFill>
                  <a:srgbClr val="0A2342"/>
                </a:solidFill>
                <a:latin typeface="Calibri" pitchFamily="34" charset="0"/>
                <a:ea typeface="Calibri" pitchFamily="34" charset="-122"/>
                <a:cs typeface="Calibri" pitchFamily="34" charset="-120"/>
              </a:rPr>
              <a:t>CRISPR-Cas9 Mechanism</a:t>
            </a:r>
            <a:endParaRPr lang="en-US" sz="1300" dirty="0"/>
          </a:p>
        </p:txBody>
      </p:sp>
      <p:sp>
        <p:nvSpPr>
          <p:cNvPr id="21" name="Shape 19"/>
          <p:cNvSpPr/>
          <p:nvPr/>
        </p:nvSpPr>
        <p:spPr>
          <a:xfrm>
            <a:off x="3474720" y="1527048"/>
            <a:ext cx="329184" cy="329184"/>
          </a:xfrm>
          <a:prstGeom prst="ellipse">
            <a:avLst/>
          </a:prstGeom>
          <a:solidFill>
            <a:srgbClr val="1565C0"/>
          </a:solidFill>
          <a:ln w="12700">
            <a:solidFill>
              <a:srgbClr val="1565C0"/>
            </a:solidFill>
            <a:prstDash val="solid"/>
          </a:ln>
        </p:spPr>
      </p:sp>
      <p:sp>
        <p:nvSpPr>
          <p:cNvPr id="22" name="Text 20"/>
          <p:cNvSpPr/>
          <p:nvPr/>
        </p:nvSpPr>
        <p:spPr>
          <a:xfrm>
            <a:off x="3474720" y="15270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3" name="Shape 21"/>
          <p:cNvSpPr/>
          <p:nvPr/>
        </p:nvSpPr>
        <p:spPr>
          <a:xfrm>
            <a:off x="3639312" y="1856232"/>
            <a:ext cx="0" cy="237744"/>
          </a:xfrm>
          <a:prstGeom prst="line">
            <a:avLst/>
          </a:prstGeom>
          <a:noFill/>
          <a:ln w="19050">
            <a:solidFill>
              <a:srgbClr val="ECEFF1"/>
            </a:solidFill>
            <a:prstDash val="solid"/>
          </a:ln>
        </p:spPr>
      </p:sp>
      <p:sp>
        <p:nvSpPr>
          <p:cNvPr id="24" name="Text 22"/>
          <p:cNvSpPr/>
          <p:nvPr/>
        </p:nvSpPr>
        <p:spPr>
          <a:xfrm>
            <a:off x="3931920" y="1517904"/>
            <a:ext cx="4663440" cy="201168"/>
          </a:xfrm>
          <a:prstGeom prst="rect">
            <a:avLst/>
          </a:prstGeom>
          <a:noFill/>
          <a:ln/>
        </p:spPr>
        <p:txBody>
          <a:bodyPr wrap="square" lIns="0" tIns="0" rIns="0" bIns="0" rtlCol="0" anchor="ctr"/>
          <a:lstStyle/>
          <a:p>
            <a:pPr indent="0" marL="0">
              <a:buNone/>
            </a:pPr>
            <a:r>
              <a:rPr lang="en-US" sz="1150" b="1" dirty="0">
                <a:solidFill>
                  <a:srgbClr val="1565C0"/>
                </a:solidFill>
                <a:latin typeface="Calibri" pitchFamily="34" charset="0"/>
                <a:ea typeface="Calibri" pitchFamily="34" charset="-122"/>
                <a:cs typeface="Calibri" pitchFamily="34" charset="-120"/>
              </a:rPr>
              <a:t>Design sgRNA</a:t>
            </a:r>
            <a:endParaRPr lang="en-US" sz="1150" dirty="0"/>
          </a:p>
        </p:txBody>
      </p:sp>
      <p:sp>
        <p:nvSpPr>
          <p:cNvPr id="25" name="Text 23"/>
          <p:cNvSpPr/>
          <p:nvPr/>
        </p:nvSpPr>
        <p:spPr>
          <a:xfrm>
            <a:off x="3931920" y="1719072"/>
            <a:ext cx="4709160" cy="182880"/>
          </a:xfrm>
          <a:prstGeom prst="rect">
            <a:avLst/>
          </a:prstGeom>
          <a:noFill/>
          <a:ln/>
        </p:spPr>
        <p:txBody>
          <a:bodyPr wrap="square" lIns="0" tIns="0" rIns="0" bIns="0" rtlCol="0" anchor="ctr"/>
          <a:lstStyle/>
          <a:p>
            <a:pPr indent="0" marL="0">
              <a:buNone/>
            </a:pPr>
            <a:r>
              <a:rPr lang="en-US" sz="900" dirty="0">
                <a:solidFill>
                  <a:srgbClr val="78909C"/>
                </a:solidFill>
                <a:latin typeface="Calibri" pitchFamily="34" charset="0"/>
                <a:ea typeface="Calibri" pitchFamily="34" charset="-122"/>
                <a:cs typeface="Calibri" pitchFamily="34" charset="-120"/>
              </a:rPr>
              <a:t>20-nt guide RNA complementary to target DNA sequence</a:t>
            </a:r>
            <a:endParaRPr lang="en-US" sz="900" dirty="0"/>
          </a:p>
        </p:txBody>
      </p:sp>
      <p:sp>
        <p:nvSpPr>
          <p:cNvPr id="26" name="Shape 24"/>
          <p:cNvSpPr/>
          <p:nvPr/>
        </p:nvSpPr>
        <p:spPr>
          <a:xfrm>
            <a:off x="3474720" y="2093976"/>
            <a:ext cx="329184" cy="329184"/>
          </a:xfrm>
          <a:prstGeom prst="ellipse">
            <a:avLst/>
          </a:prstGeom>
          <a:solidFill>
            <a:srgbClr val="00695C"/>
          </a:solidFill>
          <a:ln w="12700">
            <a:solidFill>
              <a:srgbClr val="00695C"/>
            </a:solidFill>
            <a:prstDash val="solid"/>
          </a:ln>
        </p:spPr>
      </p:sp>
      <p:sp>
        <p:nvSpPr>
          <p:cNvPr id="27" name="Text 25"/>
          <p:cNvSpPr/>
          <p:nvPr/>
        </p:nvSpPr>
        <p:spPr>
          <a:xfrm>
            <a:off x="3474720" y="20939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Shape 26"/>
          <p:cNvSpPr/>
          <p:nvPr/>
        </p:nvSpPr>
        <p:spPr>
          <a:xfrm>
            <a:off x="3639312" y="2423160"/>
            <a:ext cx="0" cy="237744"/>
          </a:xfrm>
          <a:prstGeom prst="line">
            <a:avLst/>
          </a:prstGeom>
          <a:noFill/>
          <a:ln w="19050">
            <a:solidFill>
              <a:srgbClr val="ECEFF1"/>
            </a:solidFill>
            <a:prstDash val="solid"/>
          </a:ln>
        </p:spPr>
      </p:sp>
      <p:sp>
        <p:nvSpPr>
          <p:cNvPr id="29" name="Text 27"/>
          <p:cNvSpPr/>
          <p:nvPr/>
        </p:nvSpPr>
        <p:spPr>
          <a:xfrm>
            <a:off x="3931920" y="2084832"/>
            <a:ext cx="4663440" cy="201168"/>
          </a:xfrm>
          <a:prstGeom prst="rect">
            <a:avLst/>
          </a:prstGeom>
          <a:noFill/>
          <a:ln/>
        </p:spPr>
        <p:txBody>
          <a:bodyPr wrap="square" lIns="0" tIns="0" rIns="0" bIns="0" rtlCol="0" anchor="ctr"/>
          <a:lstStyle/>
          <a:p>
            <a:pPr indent="0" marL="0">
              <a:buNone/>
            </a:pPr>
            <a:r>
              <a:rPr lang="en-US" sz="1150" b="1" dirty="0">
                <a:solidFill>
                  <a:srgbClr val="00695C"/>
                </a:solidFill>
                <a:latin typeface="Calibri" pitchFamily="34" charset="0"/>
                <a:ea typeface="Calibri" pitchFamily="34" charset="-122"/>
                <a:cs typeface="Calibri" pitchFamily="34" charset="-120"/>
              </a:rPr>
              <a:t>Cas9 Binding</a:t>
            </a:r>
            <a:endParaRPr lang="en-US" sz="1150" dirty="0"/>
          </a:p>
        </p:txBody>
      </p:sp>
      <p:sp>
        <p:nvSpPr>
          <p:cNvPr id="30" name="Text 28"/>
          <p:cNvSpPr/>
          <p:nvPr/>
        </p:nvSpPr>
        <p:spPr>
          <a:xfrm>
            <a:off x="3931920" y="2286000"/>
            <a:ext cx="4709160" cy="182880"/>
          </a:xfrm>
          <a:prstGeom prst="rect">
            <a:avLst/>
          </a:prstGeom>
          <a:noFill/>
          <a:ln/>
        </p:spPr>
        <p:txBody>
          <a:bodyPr wrap="square" lIns="0" tIns="0" rIns="0" bIns="0" rtlCol="0" anchor="ctr"/>
          <a:lstStyle/>
          <a:p>
            <a:pPr indent="0" marL="0">
              <a:buNone/>
            </a:pPr>
            <a:r>
              <a:rPr lang="en-US" sz="900" dirty="0">
                <a:solidFill>
                  <a:srgbClr val="78909C"/>
                </a:solidFill>
                <a:latin typeface="Calibri" pitchFamily="34" charset="0"/>
                <a:ea typeface="Calibri" pitchFamily="34" charset="-122"/>
                <a:cs typeface="Calibri" pitchFamily="34" charset="-120"/>
              </a:rPr>
              <a:t>sgRNA guides Cas9 protein to the target DNA locus</a:t>
            </a:r>
            <a:endParaRPr lang="en-US" sz="900" dirty="0"/>
          </a:p>
        </p:txBody>
      </p:sp>
      <p:sp>
        <p:nvSpPr>
          <p:cNvPr id="31" name="Shape 29"/>
          <p:cNvSpPr/>
          <p:nvPr/>
        </p:nvSpPr>
        <p:spPr>
          <a:xfrm>
            <a:off x="3474720" y="2660904"/>
            <a:ext cx="329184" cy="329184"/>
          </a:xfrm>
          <a:prstGeom prst="ellipse">
            <a:avLst/>
          </a:prstGeom>
          <a:solidFill>
            <a:srgbClr val="2E7D32"/>
          </a:solidFill>
          <a:ln w="12700">
            <a:solidFill>
              <a:srgbClr val="2E7D32"/>
            </a:solidFill>
            <a:prstDash val="solid"/>
          </a:ln>
        </p:spPr>
      </p:sp>
      <p:sp>
        <p:nvSpPr>
          <p:cNvPr id="32" name="Text 30"/>
          <p:cNvSpPr/>
          <p:nvPr/>
        </p:nvSpPr>
        <p:spPr>
          <a:xfrm>
            <a:off x="3474720" y="26609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3" name="Shape 31"/>
          <p:cNvSpPr/>
          <p:nvPr/>
        </p:nvSpPr>
        <p:spPr>
          <a:xfrm>
            <a:off x="3639312" y="2990088"/>
            <a:ext cx="0" cy="237744"/>
          </a:xfrm>
          <a:prstGeom prst="line">
            <a:avLst/>
          </a:prstGeom>
          <a:noFill/>
          <a:ln w="19050">
            <a:solidFill>
              <a:srgbClr val="ECEFF1"/>
            </a:solidFill>
            <a:prstDash val="solid"/>
          </a:ln>
        </p:spPr>
      </p:sp>
      <p:sp>
        <p:nvSpPr>
          <p:cNvPr id="34" name="Text 32"/>
          <p:cNvSpPr/>
          <p:nvPr/>
        </p:nvSpPr>
        <p:spPr>
          <a:xfrm>
            <a:off x="3931920" y="2651760"/>
            <a:ext cx="4663440" cy="201168"/>
          </a:xfrm>
          <a:prstGeom prst="rect">
            <a:avLst/>
          </a:prstGeom>
          <a:noFill/>
          <a:ln/>
        </p:spPr>
        <p:txBody>
          <a:bodyPr wrap="square" lIns="0" tIns="0" rIns="0" bIns="0" rtlCol="0" anchor="ctr"/>
          <a:lstStyle/>
          <a:p>
            <a:pPr indent="0" marL="0">
              <a:buNone/>
            </a:pPr>
            <a:r>
              <a:rPr lang="en-US" sz="1150" b="1" dirty="0">
                <a:solidFill>
                  <a:srgbClr val="2E7D32"/>
                </a:solidFill>
                <a:latin typeface="Calibri" pitchFamily="34" charset="0"/>
                <a:ea typeface="Calibri" pitchFamily="34" charset="-122"/>
                <a:cs typeface="Calibri" pitchFamily="34" charset="-120"/>
              </a:rPr>
              <a:t>DNA Cleavage</a:t>
            </a:r>
            <a:endParaRPr lang="en-US" sz="1150" dirty="0"/>
          </a:p>
        </p:txBody>
      </p:sp>
      <p:sp>
        <p:nvSpPr>
          <p:cNvPr id="35" name="Text 33"/>
          <p:cNvSpPr/>
          <p:nvPr/>
        </p:nvSpPr>
        <p:spPr>
          <a:xfrm>
            <a:off x="3931920" y="2852928"/>
            <a:ext cx="4709160" cy="182880"/>
          </a:xfrm>
          <a:prstGeom prst="rect">
            <a:avLst/>
          </a:prstGeom>
          <a:noFill/>
          <a:ln/>
        </p:spPr>
        <p:txBody>
          <a:bodyPr wrap="square" lIns="0" tIns="0" rIns="0" bIns="0" rtlCol="0" anchor="ctr"/>
          <a:lstStyle/>
          <a:p>
            <a:pPr indent="0" marL="0">
              <a:buNone/>
            </a:pPr>
            <a:r>
              <a:rPr lang="en-US" sz="900" dirty="0">
                <a:solidFill>
                  <a:srgbClr val="78909C"/>
                </a:solidFill>
                <a:latin typeface="Calibri" pitchFamily="34" charset="0"/>
                <a:ea typeface="Calibri" pitchFamily="34" charset="-122"/>
                <a:cs typeface="Calibri" pitchFamily="34" charset="-120"/>
              </a:rPr>
              <a:t>Cas9 creates a double-strand break (DSB) 3bp upstream of PAM</a:t>
            </a:r>
            <a:endParaRPr lang="en-US" sz="900" dirty="0"/>
          </a:p>
        </p:txBody>
      </p:sp>
      <p:sp>
        <p:nvSpPr>
          <p:cNvPr id="36" name="Shape 34"/>
          <p:cNvSpPr/>
          <p:nvPr/>
        </p:nvSpPr>
        <p:spPr>
          <a:xfrm>
            <a:off x="3474720" y="3227832"/>
            <a:ext cx="329184" cy="329184"/>
          </a:xfrm>
          <a:prstGeom prst="ellipse">
            <a:avLst/>
          </a:prstGeom>
          <a:solidFill>
            <a:srgbClr val="6A1B9A"/>
          </a:solidFill>
          <a:ln w="12700">
            <a:solidFill>
              <a:srgbClr val="6A1B9A"/>
            </a:solidFill>
            <a:prstDash val="solid"/>
          </a:ln>
        </p:spPr>
      </p:sp>
      <p:sp>
        <p:nvSpPr>
          <p:cNvPr id="37" name="Text 35"/>
          <p:cNvSpPr/>
          <p:nvPr/>
        </p:nvSpPr>
        <p:spPr>
          <a:xfrm>
            <a:off x="3474720" y="32278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8" name="Text 36"/>
          <p:cNvSpPr/>
          <p:nvPr/>
        </p:nvSpPr>
        <p:spPr>
          <a:xfrm>
            <a:off x="3931920" y="3218688"/>
            <a:ext cx="4663440" cy="201168"/>
          </a:xfrm>
          <a:prstGeom prst="rect">
            <a:avLst/>
          </a:prstGeom>
          <a:noFill/>
          <a:ln/>
        </p:spPr>
        <p:txBody>
          <a:bodyPr wrap="square" lIns="0" tIns="0" rIns="0" bIns="0" rtlCol="0" anchor="ctr"/>
          <a:lstStyle/>
          <a:p>
            <a:pPr indent="0" marL="0">
              <a:buNone/>
            </a:pPr>
            <a:r>
              <a:rPr lang="en-US" sz="1150" b="1" dirty="0">
                <a:solidFill>
                  <a:srgbClr val="6A1B9A"/>
                </a:solidFill>
                <a:latin typeface="Calibri" pitchFamily="34" charset="0"/>
                <a:ea typeface="Calibri" pitchFamily="34" charset="-122"/>
                <a:cs typeface="Calibri" pitchFamily="34" charset="-120"/>
              </a:rPr>
              <a:t>DNA Repair</a:t>
            </a:r>
            <a:endParaRPr lang="en-US" sz="1150" dirty="0"/>
          </a:p>
        </p:txBody>
      </p:sp>
      <p:sp>
        <p:nvSpPr>
          <p:cNvPr id="39" name="Text 37"/>
          <p:cNvSpPr/>
          <p:nvPr/>
        </p:nvSpPr>
        <p:spPr>
          <a:xfrm>
            <a:off x="3931920" y="3419856"/>
            <a:ext cx="4709160" cy="182880"/>
          </a:xfrm>
          <a:prstGeom prst="rect">
            <a:avLst/>
          </a:prstGeom>
          <a:noFill/>
          <a:ln/>
        </p:spPr>
        <p:txBody>
          <a:bodyPr wrap="square" lIns="0" tIns="0" rIns="0" bIns="0" rtlCol="0" anchor="ctr"/>
          <a:lstStyle/>
          <a:p>
            <a:pPr indent="0" marL="0">
              <a:buNone/>
            </a:pPr>
            <a:r>
              <a:rPr lang="en-US" sz="900" dirty="0">
                <a:solidFill>
                  <a:srgbClr val="78909C"/>
                </a:solidFill>
                <a:latin typeface="Calibri" pitchFamily="34" charset="0"/>
                <a:ea typeface="Calibri" pitchFamily="34" charset="-122"/>
                <a:cs typeface="Calibri" pitchFamily="34" charset="-120"/>
              </a:rPr>
              <a:t>Cell repairs the break via NHEJ or HDR pathway</a:t>
            </a:r>
            <a:endParaRPr lang="en-US" sz="900" dirty="0"/>
          </a:p>
        </p:txBody>
      </p:sp>
      <p:sp>
        <p:nvSpPr>
          <p:cNvPr id="40" name="Text 38"/>
          <p:cNvSpPr/>
          <p:nvPr/>
        </p:nvSpPr>
        <p:spPr>
          <a:xfrm>
            <a:off x="3474720" y="3904488"/>
            <a:ext cx="1005840" cy="237744"/>
          </a:xfrm>
          <a:prstGeom prst="rect">
            <a:avLst/>
          </a:prstGeom>
          <a:noFill/>
          <a:ln/>
        </p:spPr>
        <p:txBody>
          <a:bodyPr wrap="square" lIns="0" tIns="0" rIns="0" bIns="0" rtlCol="0" anchor="ctr"/>
          <a:lstStyle/>
          <a:p>
            <a:pPr indent="0" marL="0">
              <a:buNone/>
            </a:pPr>
            <a:r>
              <a:rPr lang="en-US" sz="1000" b="1" dirty="0">
                <a:solidFill>
                  <a:srgbClr val="0A2342"/>
                </a:solidFill>
                <a:latin typeface="Calibri" pitchFamily="34" charset="0"/>
                <a:ea typeface="Calibri" pitchFamily="34" charset="-122"/>
                <a:cs typeface="Calibri" pitchFamily="34" charset="-120"/>
              </a:rPr>
              <a:t>Outcome:</a:t>
            </a:r>
            <a:endParaRPr lang="en-US" sz="1000" dirty="0"/>
          </a:p>
        </p:txBody>
      </p:sp>
      <p:sp>
        <p:nvSpPr>
          <p:cNvPr id="41" name="Shape 39"/>
          <p:cNvSpPr/>
          <p:nvPr/>
        </p:nvSpPr>
        <p:spPr>
          <a:xfrm>
            <a:off x="3474720" y="4178808"/>
            <a:ext cx="2542032" cy="566928"/>
          </a:xfrm>
          <a:prstGeom prst="roundRect">
            <a:avLst>
              <a:gd name="adj" fmla="val 9677"/>
            </a:avLst>
          </a:prstGeom>
          <a:solidFill>
            <a:srgbClr val="FFEBEE"/>
          </a:solidFill>
          <a:ln w="12700">
            <a:solidFill>
              <a:srgbClr val="FFCDD2"/>
            </a:solidFill>
            <a:prstDash val="solid"/>
          </a:ln>
        </p:spPr>
      </p:sp>
      <p:sp>
        <p:nvSpPr>
          <p:cNvPr id="42" name="Text 40"/>
          <p:cNvSpPr/>
          <p:nvPr/>
        </p:nvSpPr>
        <p:spPr>
          <a:xfrm>
            <a:off x="3584448" y="4224528"/>
            <a:ext cx="2340864" cy="219456"/>
          </a:xfrm>
          <a:prstGeom prst="rect">
            <a:avLst/>
          </a:prstGeom>
          <a:noFill/>
          <a:ln/>
        </p:spPr>
        <p:txBody>
          <a:bodyPr wrap="square" lIns="0" tIns="0" rIns="0" bIns="0" rtlCol="0" anchor="ctr"/>
          <a:lstStyle/>
          <a:p>
            <a:pPr indent="0" marL="0">
              <a:buNone/>
            </a:pPr>
            <a:r>
              <a:rPr lang="en-US" sz="950" b="1" dirty="0">
                <a:solidFill>
                  <a:srgbClr val="C62828"/>
                </a:solidFill>
                <a:latin typeface="Calibri" pitchFamily="34" charset="0"/>
                <a:ea typeface="Calibri" pitchFamily="34" charset="-122"/>
                <a:cs typeface="Calibri" pitchFamily="34" charset="-120"/>
              </a:rPr>
              <a:t>NHEJ → Gene Knockout</a:t>
            </a:r>
            <a:endParaRPr lang="en-US" sz="950" dirty="0"/>
          </a:p>
        </p:txBody>
      </p:sp>
      <p:sp>
        <p:nvSpPr>
          <p:cNvPr id="43" name="Text 41"/>
          <p:cNvSpPr/>
          <p:nvPr/>
        </p:nvSpPr>
        <p:spPr>
          <a:xfrm>
            <a:off x="3584448" y="4434840"/>
            <a:ext cx="2340864" cy="274320"/>
          </a:xfrm>
          <a:prstGeom prst="rect">
            <a:avLst/>
          </a:prstGeom>
          <a:noFill/>
          <a:ln/>
        </p:spPr>
        <p:txBody>
          <a:bodyPr wrap="square" lIns="0" tIns="0" rIns="0" bIns="0" rtlCol="0" anchor="ctr"/>
          <a:lstStyle/>
          <a:p>
            <a:pPr indent="0" marL="0">
              <a:buNone/>
            </a:pPr>
            <a:r>
              <a:rPr lang="en-US" sz="800" dirty="0">
                <a:solidFill>
                  <a:srgbClr val="C62828"/>
                </a:solidFill>
                <a:latin typeface="Calibri" pitchFamily="34" charset="0"/>
                <a:ea typeface="Calibri" pitchFamily="34" charset="-122"/>
                <a:cs typeface="Calibri" pitchFamily="34" charset="-120"/>
              </a:rPr>
              <a:t>Error-prone repair introduces indels</a:t>
            </a:r>
            <a:endParaRPr lang="en-US" sz="800" dirty="0"/>
          </a:p>
        </p:txBody>
      </p:sp>
      <p:sp>
        <p:nvSpPr>
          <p:cNvPr id="44" name="Shape 42"/>
          <p:cNvSpPr/>
          <p:nvPr/>
        </p:nvSpPr>
        <p:spPr>
          <a:xfrm>
            <a:off x="6108192" y="4178808"/>
            <a:ext cx="2542032" cy="566928"/>
          </a:xfrm>
          <a:prstGeom prst="roundRect">
            <a:avLst>
              <a:gd name="adj" fmla="val 9677"/>
            </a:avLst>
          </a:prstGeom>
          <a:solidFill>
            <a:srgbClr val="E8F5E9"/>
          </a:solidFill>
          <a:ln w="12700">
            <a:solidFill>
              <a:srgbClr val="C8E6C9"/>
            </a:solidFill>
            <a:prstDash val="solid"/>
          </a:ln>
        </p:spPr>
      </p:sp>
      <p:sp>
        <p:nvSpPr>
          <p:cNvPr id="45" name="Text 43"/>
          <p:cNvSpPr/>
          <p:nvPr/>
        </p:nvSpPr>
        <p:spPr>
          <a:xfrm>
            <a:off x="6217920" y="4224528"/>
            <a:ext cx="2340864" cy="219456"/>
          </a:xfrm>
          <a:prstGeom prst="rect">
            <a:avLst/>
          </a:prstGeom>
          <a:noFill/>
          <a:ln/>
        </p:spPr>
        <p:txBody>
          <a:bodyPr wrap="square" lIns="0" tIns="0" rIns="0" bIns="0" rtlCol="0" anchor="ctr"/>
          <a:lstStyle/>
          <a:p>
            <a:pPr indent="0" marL="0">
              <a:buNone/>
            </a:pPr>
            <a:r>
              <a:rPr lang="en-US" sz="950" b="1" dirty="0">
                <a:solidFill>
                  <a:srgbClr val="2E7D32"/>
                </a:solidFill>
                <a:latin typeface="Calibri" pitchFamily="34" charset="0"/>
                <a:ea typeface="Calibri" pitchFamily="34" charset="-122"/>
                <a:cs typeface="Calibri" pitchFamily="34" charset="-120"/>
              </a:rPr>
              <a:t>HDR → Precise Correction</a:t>
            </a:r>
            <a:endParaRPr lang="en-US" sz="950" dirty="0"/>
          </a:p>
        </p:txBody>
      </p:sp>
      <p:sp>
        <p:nvSpPr>
          <p:cNvPr id="46" name="Text 44"/>
          <p:cNvSpPr/>
          <p:nvPr/>
        </p:nvSpPr>
        <p:spPr>
          <a:xfrm>
            <a:off x="6217920" y="4434840"/>
            <a:ext cx="2340864" cy="274320"/>
          </a:xfrm>
          <a:prstGeom prst="rect">
            <a:avLst/>
          </a:prstGeom>
          <a:noFill/>
          <a:ln/>
        </p:spPr>
        <p:txBody>
          <a:bodyPr wrap="square" lIns="0" tIns="0" rIns="0" bIns="0" rtlCol="0" anchor="ctr"/>
          <a:lstStyle/>
          <a:p>
            <a:pPr indent="0" marL="0">
              <a:buNone/>
            </a:pPr>
            <a:r>
              <a:rPr lang="en-US" sz="800" dirty="0">
                <a:solidFill>
                  <a:srgbClr val="2E7D32"/>
                </a:solidFill>
                <a:latin typeface="Calibri" pitchFamily="34" charset="0"/>
                <a:ea typeface="Calibri" pitchFamily="34" charset="-122"/>
                <a:cs typeface="Calibri" pitchFamily="34" charset="-120"/>
              </a:rPr>
              <a:t>Template-guided repair enables exact edits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342"/>
          </a:solidFill>
          <a:ln w="12700">
            <a:solidFill>
              <a:srgbClr val="0A2342"/>
            </a:solidFill>
            <a:prstDash val="solid"/>
          </a:ln>
        </p:spPr>
      </p:sp>
      <p:sp>
        <p:nvSpPr>
          <p:cNvPr id="3" name="Shape 1"/>
          <p:cNvSpPr/>
          <p:nvPr/>
        </p:nvSpPr>
        <p:spPr>
          <a:xfrm>
            <a:off x="8595360" y="137160"/>
            <a:ext cx="685800" cy="685800"/>
          </a:xfrm>
          <a:prstGeom prst="ellipse">
            <a:avLst/>
          </a:prstGeom>
          <a:solidFill>
            <a:srgbClr val="43A047"/>
          </a:solidFill>
          <a:ln w="12700">
            <a:solidFill>
              <a:srgbClr val="43A047"/>
            </a:solidFill>
            <a:prstDash val="solid"/>
          </a:ln>
        </p:spPr>
      </p:sp>
      <p:sp>
        <p:nvSpPr>
          <p:cNvPr id="4" name="Text 2"/>
          <p:cNvSpPr/>
          <p:nvPr/>
        </p:nvSpPr>
        <p:spPr>
          <a:xfrm>
            <a:off x="365760" y="91440"/>
            <a:ext cx="80467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Advantages &amp; Limitations of CRISPR</a:t>
            </a:r>
            <a:endParaRPr lang="en-US" sz="2200" dirty="0"/>
          </a:p>
        </p:txBody>
      </p:sp>
      <p:sp>
        <p:nvSpPr>
          <p:cNvPr id="5" name="Text 3"/>
          <p:cNvSpPr/>
          <p:nvPr/>
        </p:nvSpPr>
        <p:spPr>
          <a:xfrm>
            <a:off x="365760" y="621792"/>
            <a:ext cx="8046720" cy="274320"/>
          </a:xfrm>
          <a:prstGeom prst="rect">
            <a:avLst/>
          </a:prstGeom>
          <a:noFill/>
          <a:ln/>
        </p:spPr>
        <p:txBody>
          <a:bodyPr wrap="square" lIns="0" tIns="0" rIns="0" bIns="0" rtlCol="0" anchor="ctr"/>
          <a:lstStyle/>
          <a:p>
            <a:pPr indent="0" marL="0">
              <a:buNone/>
            </a:pPr>
            <a:r>
              <a:rPr lang="en-US" sz="1100" i="1" dirty="0">
                <a:solidFill>
                  <a:srgbClr val="90CAF9"/>
                </a:solidFill>
                <a:latin typeface="Calibri" pitchFamily="34" charset="0"/>
                <a:ea typeface="Calibri" pitchFamily="34" charset="-122"/>
                <a:cs typeface="Calibri" pitchFamily="34" charset="-120"/>
              </a:rPr>
              <a:t>A Balanced Scientific Assessment</a:t>
            </a:r>
            <a:endParaRPr lang="en-US" sz="1100" dirty="0"/>
          </a:p>
        </p:txBody>
      </p:sp>
      <p:sp>
        <p:nvSpPr>
          <p:cNvPr id="6" name="Shape 4"/>
          <p:cNvSpPr/>
          <p:nvPr/>
        </p:nvSpPr>
        <p:spPr>
          <a:xfrm>
            <a:off x="274320" y="1078992"/>
            <a:ext cx="4160520" cy="3840480"/>
          </a:xfrm>
          <a:prstGeom prst="roundRect">
            <a:avLst>
              <a:gd name="adj" fmla="val 2857"/>
            </a:avLst>
          </a:prstGeom>
          <a:solidFill>
            <a:srgbClr val="E8F5E9"/>
          </a:solidFill>
          <a:ln w="12700">
            <a:solidFill>
              <a:srgbClr val="C8E6C9"/>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274320" y="1078992"/>
            <a:ext cx="4160520" cy="475488"/>
          </a:xfrm>
          <a:prstGeom prst="roundRect">
            <a:avLst>
              <a:gd name="adj" fmla="val 23077"/>
            </a:avLst>
          </a:prstGeom>
          <a:solidFill>
            <a:srgbClr val="2E7D32"/>
          </a:solidFill>
          <a:ln w="12700">
            <a:solidFill>
              <a:srgbClr val="2E7D32"/>
            </a:solidFill>
            <a:prstDash val="solid"/>
          </a:ln>
        </p:spPr>
      </p:sp>
      <p:pic>
        <p:nvPicPr>
          <p:cNvPr id="8" name="Image 0" descr="preencoded.png">    </p:cNvPr>
          <p:cNvPicPr>
            <a:picLocks noChangeAspect="1"/>
          </p:cNvPicPr>
          <p:nvPr/>
        </p:nvPicPr>
        <p:blipFill>
          <a:blip r:embed="rId1"/>
          <a:stretch>
            <a:fillRect/>
          </a:stretch>
        </p:blipFill>
        <p:spPr>
          <a:xfrm>
            <a:off x="384048" y="1133856"/>
            <a:ext cx="347472" cy="347472"/>
          </a:xfrm>
          <a:prstGeom prst="rect">
            <a:avLst/>
          </a:prstGeom>
        </p:spPr>
      </p:pic>
      <p:sp>
        <p:nvSpPr>
          <p:cNvPr id="9" name="Text 6"/>
          <p:cNvSpPr/>
          <p:nvPr/>
        </p:nvSpPr>
        <p:spPr>
          <a:xfrm>
            <a:off x="804672" y="1133856"/>
            <a:ext cx="352044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ADVANTAGES</a:t>
            </a:r>
            <a:endParaRPr lang="en-US" sz="1500" dirty="0"/>
          </a:p>
        </p:txBody>
      </p:sp>
      <p:pic>
        <p:nvPicPr>
          <p:cNvPr id="10" name="Image 1" descr="preencoded.png">    </p:cNvPr>
          <p:cNvPicPr>
            <a:picLocks noChangeAspect="1"/>
          </p:cNvPicPr>
          <p:nvPr/>
        </p:nvPicPr>
        <p:blipFill>
          <a:blip r:embed="rId2"/>
          <a:stretch>
            <a:fillRect/>
          </a:stretch>
        </p:blipFill>
        <p:spPr>
          <a:xfrm>
            <a:off x="384048" y="1664208"/>
            <a:ext cx="256032" cy="256032"/>
          </a:xfrm>
          <a:prstGeom prst="rect">
            <a:avLst/>
          </a:prstGeom>
        </p:spPr>
      </p:pic>
      <p:sp>
        <p:nvSpPr>
          <p:cNvPr id="11" name="Text 7"/>
          <p:cNvSpPr/>
          <p:nvPr/>
        </p:nvSpPr>
        <p:spPr>
          <a:xfrm>
            <a:off x="694944" y="1645920"/>
            <a:ext cx="3611880" cy="411480"/>
          </a:xfrm>
          <a:prstGeom prst="rect">
            <a:avLst/>
          </a:prstGeom>
          <a:noFill/>
          <a:ln/>
        </p:spPr>
        <p:txBody>
          <a:bodyPr wrap="square" lIns="0" tIns="0" rIns="0" bIns="0" rtlCol="0" anchor="ctr"/>
          <a:lstStyle/>
          <a:p>
            <a:pPr indent="0" marL="0">
              <a:buNone/>
            </a:pPr>
            <a:r>
              <a:rPr lang="en-US" sz="1100" dirty="0">
                <a:solidFill>
                  <a:srgbClr val="37474F"/>
                </a:solidFill>
                <a:latin typeface="Calibri" pitchFamily="34" charset="0"/>
                <a:ea typeface="Calibri" pitchFamily="34" charset="-122"/>
                <a:cs typeface="Calibri" pitchFamily="34" charset="-120"/>
              </a:rPr>
              <a:t>High precision: targets specific 20-nt sequences</a:t>
            </a:r>
            <a:endParaRPr lang="en-US" sz="1100" dirty="0"/>
          </a:p>
        </p:txBody>
      </p:sp>
      <p:pic>
        <p:nvPicPr>
          <p:cNvPr id="12" name="Image 2" descr="preencoded.png">    </p:cNvPr>
          <p:cNvPicPr>
            <a:picLocks noChangeAspect="1"/>
          </p:cNvPicPr>
          <p:nvPr/>
        </p:nvPicPr>
        <p:blipFill>
          <a:blip r:embed="rId3"/>
          <a:stretch>
            <a:fillRect/>
          </a:stretch>
        </p:blipFill>
        <p:spPr>
          <a:xfrm>
            <a:off x="384048" y="2176272"/>
            <a:ext cx="256032" cy="256032"/>
          </a:xfrm>
          <a:prstGeom prst="rect">
            <a:avLst/>
          </a:prstGeom>
        </p:spPr>
      </p:pic>
      <p:sp>
        <p:nvSpPr>
          <p:cNvPr id="13" name="Text 8"/>
          <p:cNvSpPr/>
          <p:nvPr/>
        </p:nvSpPr>
        <p:spPr>
          <a:xfrm>
            <a:off x="694944" y="2157984"/>
            <a:ext cx="3611880" cy="411480"/>
          </a:xfrm>
          <a:prstGeom prst="rect">
            <a:avLst/>
          </a:prstGeom>
          <a:noFill/>
          <a:ln/>
        </p:spPr>
        <p:txBody>
          <a:bodyPr wrap="square" lIns="0" tIns="0" rIns="0" bIns="0" rtlCol="0" anchor="ctr"/>
          <a:lstStyle/>
          <a:p>
            <a:pPr indent="0" marL="0">
              <a:buNone/>
            </a:pPr>
            <a:r>
              <a:rPr lang="en-US" sz="1100" dirty="0">
                <a:solidFill>
                  <a:srgbClr val="37474F"/>
                </a:solidFill>
                <a:latin typeface="Calibri" pitchFamily="34" charset="0"/>
                <a:ea typeface="Calibri" pitchFamily="34" charset="-122"/>
                <a:cs typeface="Calibri" pitchFamily="34" charset="-120"/>
              </a:rPr>
              <a:t>Cost-effective (~$30 vs $1000s for ZFN/TALEN)</a:t>
            </a:r>
            <a:endParaRPr lang="en-US" sz="1100" dirty="0"/>
          </a:p>
        </p:txBody>
      </p:sp>
      <p:pic>
        <p:nvPicPr>
          <p:cNvPr id="14" name="Image 3" descr="preencoded.png">    </p:cNvPr>
          <p:cNvPicPr>
            <a:picLocks noChangeAspect="1"/>
          </p:cNvPicPr>
          <p:nvPr/>
        </p:nvPicPr>
        <p:blipFill>
          <a:blip r:embed="rId4"/>
          <a:stretch>
            <a:fillRect/>
          </a:stretch>
        </p:blipFill>
        <p:spPr>
          <a:xfrm>
            <a:off x="384048" y="2688336"/>
            <a:ext cx="256032" cy="256032"/>
          </a:xfrm>
          <a:prstGeom prst="rect">
            <a:avLst/>
          </a:prstGeom>
        </p:spPr>
      </p:pic>
      <p:sp>
        <p:nvSpPr>
          <p:cNvPr id="15" name="Text 9"/>
          <p:cNvSpPr/>
          <p:nvPr/>
        </p:nvSpPr>
        <p:spPr>
          <a:xfrm>
            <a:off x="694944" y="2670048"/>
            <a:ext cx="3611880" cy="411480"/>
          </a:xfrm>
          <a:prstGeom prst="rect">
            <a:avLst/>
          </a:prstGeom>
          <a:noFill/>
          <a:ln/>
        </p:spPr>
        <p:txBody>
          <a:bodyPr wrap="square" lIns="0" tIns="0" rIns="0" bIns="0" rtlCol="0" anchor="ctr"/>
          <a:lstStyle/>
          <a:p>
            <a:pPr indent="0" marL="0">
              <a:buNone/>
            </a:pPr>
            <a:r>
              <a:rPr lang="en-US" sz="1100" dirty="0">
                <a:solidFill>
                  <a:srgbClr val="37474F"/>
                </a:solidFill>
                <a:latin typeface="Calibri" pitchFamily="34" charset="0"/>
                <a:ea typeface="Calibri" pitchFamily="34" charset="-122"/>
                <a:cs typeface="Calibri" pitchFamily="34" charset="-120"/>
              </a:rPr>
              <a:t>Rapid design &amp; deployment (days vs months)</a:t>
            </a:r>
            <a:endParaRPr lang="en-US" sz="1100" dirty="0"/>
          </a:p>
        </p:txBody>
      </p:sp>
      <p:pic>
        <p:nvPicPr>
          <p:cNvPr id="16" name="Image 4" descr="preencoded.png">    </p:cNvPr>
          <p:cNvPicPr>
            <a:picLocks noChangeAspect="1"/>
          </p:cNvPicPr>
          <p:nvPr/>
        </p:nvPicPr>
        <p:blipFill>
          <a:blip r:embed="rId5"/>
          <a:stretch>
            <a:fillRect/>
          </a:stretch>
        </p:blipFill>
        <p:spPr>
          <a:xfrm>
            <a:off x="384048" y="3200400"/>
            <a:ext cx="256032" cy="256032"/>
          </a:xfrm>
          <a:prstGeom prst="rect">
            <a:avLst/>
          </a:prstGeom>
        </p:spPr>
      </p:pic>
      <p:sp>
        <p:nvSpPr>
          <p:cNvPr id="17" name="Text 10"/>
          <p:cNvSpPr/>
          <p:nvPr/>
        </p:nvSpPr>
        <p:spPr>
          <a:xfrm>
            <a:off x="694944" y="3182112"/>
            <a:ext cx="3611880" cy="411480"/>
          </a:xfrm>
          <a:prstGeom prst="rect">
            <a:avLst/>
          </a:prstGeom>
          <a:noFill/>
          <a:ln/>
        </p:spPr>
        <p:txBody>
          <a:bodyPr wrap="square" lIns="0" tIns="0" rIns="0" bIns="0" rtlCol="0" anchor="ctr"/>
          <a:lstStyle/>
          <a:p>
            <a:pPr indent="0" marL="0">
              <a:buNone/>
            </a:pPr>
            <a:r>
              <a:rPr lang="en-US" sz="1100" dirty="0">
                <a:solidFill>
                  <a:srgbClr val="37474F"/>
                </a:solidFill>
                <a:latin typeface="Calibri" pitchFamily="34" charset="0"/>
                <a:ea typeface="Calibri" pitchFamily="34" charset="-122"/>
                <a:cs typeface="Calibri" pitchFamily="34" charset="-120"/>
              </a:rPr>
              <a:t>Multiplexing: edit multiple genes simultaneously</a:t>
            </a:r>
            <a:endParaRPr lang="en-US" sz="1100" dirty="0"/>
          </a:p>
        </p:txBody>
      </p:sp>
      <p:pic>
        <p:nvPicPr>
          <p:cNvPr id="18" name="Image 5" descr="preencoded.png">    </p:cNvPr>
          <p:cNvPicPr>
            <a:picLocks noChangeAspect="1"/>
          </p:cNvPicPr>
          <p:nvPr/>
        </p:nvPicPr>
        <p:blipFill>
          <a:blip r:embed="rId6"/>
          <a:stretch>
            <a:fillRect/>
          </a:stretch>
        </p:blipFill>
        <p:spPr>
          <a:xfrm>
            <a:off x="384048" y="3712464"/>
            <a:ext cx="256032" cy="256032"/>
          </a:xfrm>
          <a:prstGeom prst="rect">
            <a:avLst/>
          </a:prstGeom>
        </p:spPr>
      </p:pic>
      <p:sp>
        <p:nvSpPr>
          <p:cNvPr id="19" name="Text 11"/>
          <p:cNvSpPr/>
          <p:nvPr/>
        </p:nvSpPr>
        <p:spPr>
          <a:xfrm>
            <a:off x="694944" y="3694176"/>
            <a:ext cx="3611880" cy="411480"/>
          </a:xfrm>
          <a:prstGeom prst="rect">
            <a:avLst/>
          </a:prstGeom>
          <a:noFill/>
          <a:ln/>
        </p:spPr>
        <p:txBody>
          <a:bodyPr wrap="square" lIns="0" tIns="0" rIns="0" bIns="0" rtlCol="0" anchor="ctr"/>
          <a:lstStyle/>
          <a:p>
            <a:pPr indent="0" marL="0">
              <a:buNone/>
            </a:pPr>
            <a:r>
              <a:rPr lang="en-US" sz="1100" dirty="0">
                <a:solidFill>
                  <a:srgbClr val="37474F"/>
                </a:solidFill>
                <a:latin typeface="Calibri" pitchFamily="34" charset="0"/>
                <a:ea typeface="Calibri" pitchFamily="34" charset="-122"/>
                <a:cs typeface="Calibri" pitchFamily="34" charset="-120"/>
              </a:rPr>
              <a:t>Versatile across organisms (bacteria to humans)</a:t>
            </a:r>
            <a:endParaRPr lang="en-US" sz="1100" dirty="0"/>
          </a:p>
        </p:txBody>
      </p:sp>
      <p:pic>
        <p:nvPicPr>
          <p:cNvPr id="20" name="Image 6" descr="preencoded.png">    </p:cNvPr>
          <p:cNvPicPr>
            <a:picLocks noChangeAspect="1"/>
          </p:cNvPicPr>
          <p:nvPr/>
        </p:nvPicPr>
        <p:blipFill>
          <a:blip r:embed="rId7"/>
          <a:stretch>
            <a:fillRect/>
          </a:stretch>
        </p:blipFill>
        <p:spPr>
          <a:xfrm>
            <a:off x="384048" y="4224528"/>
            <a:ext cx="256032" cy="256032"/>
          </a:xfrm>
          <a:prstGeom prst="rect">
            <a:avLst/>
          </a:prstGeom>
        </p:spPr>
      </p:pic>
      <p:sp>
        <p:nvSpPr>
          <p:cNvPr id="21" name="Text 12"/>
          <p:cNvSpPr/>
          <p:nvPr/>
        </p:nvSpPr>
        <p:spPr>
          <a:xfrm>
            <a:off x="694944" y="4206240"/>
            <a:ext cx="3611880" cy="411480"/>
          </a:xfrm>
          <a:prstGeom prst="rect">
            <a:avLst/>
          </a:prstGeom>
          <a:noFill/>
          <a:ln/>
        </p:spPr>
        <p:txBody>
          <a:bodyPr wrap="square" lIns="0" tIns="0" rIns="0" bIns="0" rtlCol="0" anchor="ctr"/>
          <a:lstStyle/>
          <a:p>
            <a:pPr indent="0" marL="0">
              <a:buNone/>
            </a:pPr>
            <a:r>
              <a:rPr lang="en-US" sz="1100" dirty="0">
                <a:solidFill>
                  <a:srgbClr val="37474F"/>
                </a:solidFill>
                <a:latin typeface="Calibri" pitchFamily="34" charset="0"/>
                <a:ea typeface="Calibri" pitchFamily="34" charset="-122"/>
                <a:cs typeface="Calibri" pitchFamily="34" charset="-120"/>
              </a:rPr>
              <a:t>Expanding toolbox: base editing, prime editing, CRISPRi/a</a:t>
            </a:r>
            <a:endParaRPr lang="en-US" sz="1100" dirty="0"/>
          </a:p>
        </p:txBody>
      </p:sp>
      <p:sp>
        <p:nvSpPr>
          <p:cNvPr id="22" name="Shape 13"/>
          <p:cNvSpPr/>
          <p:nvPr/>
        </p:nvSpPr>
        <p:spPr>
          <a:xfrm>
            <a:off x="4709160" y="1078992"/>
            <a:ext cx="4160520" cy="3840480"/>
          </a:xfrm>
          <a:prstGeom prst="roundRect">
            <a:avLst>
              <a:gd name="adj" fmla="val 2857"/>
            </a:avLst>
          </a:prstGeom>
          <a:solidFill>
            <a:srgbClr val="FFF3E0"/>
          </a:solidFill>
          <a:ln w="12700">
            <a:solidFill>
              <a:srgbClr val="FFE0B2"/>
            </a:solidFill>
            <a:prstDash val="solid"/>
          </a:ln>
          <a:effectLst>
            <a:outerShdw sx="100000" sy="100000" kx="0" ky="0" algn="bl" rotWithShape="0" blurRad="101600" dist="38100" dir="2700000">
              <a:srgbClr val="000000">
                <a:alpha val="12000"/>
              </a:srgbClr>
            </a:outerShdw>
          </a:effectLst>
        </p:spPr>
      </p:sp>
      <p:sp>
        <p:nvSpPr>
          <p:cNvPr id="23" name="Shape 14"/>
          <p:cNvSpPr/>
          <p:nvPr/>
        </p:nvSpPr>
        <p:spPr>
          <a:xfrm>
            <a:off x="4709160" y="1078992"/>
            <a:ext cx="4160520" cy="475488"/>
          </a:xfrm>
          <a:prstGeom prst="roundRect">
            <a:avLst>
              <a:gd name="adj" fmla="val 23077"/>
            </a:avLst>
          </a:prstGeom>
          <a:solidFill>
            <a:srgbClr val="E65100"/>
          </a:solidFill>
          <a:ln w="12700">
            <a:solidFill>
              <a:srgbClr val="E65100"/>
            </a:solidFill>
            <a:prstDash val="solid"/>
          </a:ln>
        </p:spPr>
      </p:sp>
      <p:pic>
        <p:nvPicPr>
          <p:cNvPr id="24" name="Image 7" descr="preencoded.png">    </p:cNvPr>
          <p:cNvPicPr>
            <a:picLocks noChangeAspect="1"/>
          </p:cNvPicPr>
          <p:nvPr/>
        </p:nvPicPr>
        <p:blipFill>
          <a:blip r:embed="rId8"/>
          <a:stretch>
            <a:fillRect/>
          </a:stretch>
        </p:blipFill>
        <p:spPr>
          <a:xfrm>
            <a:off x="4818888" y="1133856"/>
            <a:ext cx="347472" cy="347472"/>
          </a:xfrm>
          <a:prstGeom prst="rect">
            <a:avLst/>
          </a:prstGeom>
        </p:spPr>
      </p:pic>
      <p:sp>
        <p:nvSpPr>
          <p:cNvPr id="25" name="Text 15"/>
          <p:cNvSpPr/>
          <p:nvPr/>
        </p:nvSpPr>
        <p:spPr>
          <a:xfrm>
            <a:off x="5239512" y="1133856"/>
            <a:ext cx="352044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LIMITATIONS</a:t>
            </a:r>
            <a:endParaRPr lang="en-US" sz="1500" dirty="0"/>
          </a:p>
        </p:txBody>
      </p:sp>
      <p:pic>
        <p:nvPicPr>
          <p:cNvPr id="26" name="Image 8" descr="preencoded.png">    </p:cNvPr>
          <p:cNvPicPr>
            <a:picLocks noChangeAspect="1"/>
          </p:cNvPicPr>
          <p:nvPr/>
        </p:nvPicPr>
        <p:blipFill>
          <a:blip r:embed="rId9"/>
          <a:stretch>
            <a:fillRect/>
          </a:stretch>
        </p:blipFill>
        <p:spPr>
          <a:xfrm>
            <a:off x="4818888" y="1664208"/>
            <a:ext cx="256032" cy="256032"/>
          </a:xfrm>
          <a:prstGeom prst="rect">
            <a:avLst/>
          </a:prstGeom>
        </p:spPr>
      </p:pic>
      <p:sp>
        <p:nvSpPr>
          <p:cNvPr id="27" name="Text 16"/>
          <p:cNvSpPr/>
          <p:nvPr/>
        </p:nvSpPr>
        <p:spPr>
          <a:xfrm>
            <a:off x="5129784" y="1645920"/>
            <a:ext cx="3611880" cy="411480"/>
          </a:xfrm>
          <a:prstGeom prst="rect">
            <a:avLst/>
          </a:prstGeom>
          <a:noFill/>
          <a:ln/>
        </p:spPr>
        <p:txBody>
          <a:bodyPr wrap="square" lIns="0" tIns="0" rIns="0" bIns="0" rtlCol="0" anchor="ctr"/>
          <a:lstStyle/>
          <a:p>
            <a:pPr indent="0" marL="0">
              <a:buNone/>
            </a:pPr>
            <a:r>
              <a:rPr lang="en-US" sz="1100" dirty="0">
                <a:solidFill>
                  <a:srgbClr val="37474F"/>
                </a:solidFill>
                <a:latin typeface="Calibri" pitchFamily="34" charset="0"/>
                <a:ea typeface="Calibri" pitchFamily="34" charset="-122"/>
                <a:cs typeface="Calibri" pitchFamily="34" charset="-120"/>
              </a:rPr>
              <a:t>Off-target effects: unintended cleavage at similar sequences</a:t>
            </a:r>
            <a:endParaRPr lang="en-US" sz="1100" dirty="0"/>
          </a:p>
        </p:txBody>
      </p:sp>
      <p:pic>
        <p:nvPicPr>
          <p:cNvPr id="28" name="Image 9" descr="preencoded.png">    </p:cNvPr>
          <p:cNvPicPr>
            <a:picLocks noChangeAspect="1"/>
          </p:cNvPicPr>
          <p:nvPr/>
        </p:nvPicPr>
        <p:blipFill>
          <a:blip r:embed="rId10"/>
          <a:stretch>
            <a:fillRect/>
          </a:stretch>
        </p:blipFill>
        <p:spPr>
          <a:xfrm>
            <a:off x="4818888" y="2176272"/>
            <a:ext cx="256032" cy="256032"/>
          </a:xfrm>
          <a:prstGeom prst="rect">
            <a:avLst/>
          </a:prstGeom>
        </p:spPr>
      </p:pic>
      <p:sp>
        <p:nvSpPr>
          <p:cNvPr id="29" name="Text 17"/>
          <p:cNvSpPr/>
          <p:nvPr/>
        </p:nvSpPr>
        <p:spPr>
          <a:xfrm>
            <a:off x="5129784" y="2157984"/>
            <a:ext cx="3611880" cy="411480"/>
          </a:xfrm>
          <a:prstGeom prst="rect">
            <a:avLst/>
          </a:prstGeom>
          <a:noFill/>
          <a:ln/>
        </p:spPr>
        <p:txBody>
          <a:bodyPr wrap="square" lIns="0" tIns="0" rIns="0" bIns="0" rtlCol="0" anchor="ctr"/>
          <a:lstStyle/>
          <a:p>
            <a:pPr indent="0" marL="0">
              <a:buNone/>
            </a:pPr>
            <a:r>
              <a:rPr lang="en-US" sz="1100" dirty="0">
                <a:solidFill>
                  <a:srgbClr val="37474F"/>
                </a:solidFill>
                <a:latin typeface="Calibri" pitchFamily="34" charset="0"/>
                <a:ea typeface="Calibri" pitchFamily="34" charset="-122"/>
                <a:cs typeface="Calibri" pitchFamily="34" charset="-120"/>
              </a:rPr>
              <a:t>Delivery challenges: efficient in vivo delivery is complex</a:t>
            </a:r>
            <a:endParaRPr lang="en-US" sz="1100" dirty="0"/>
          </a:p>
        </p:txBody>
      </p:sp>
      <p:pic>
        <p:nvPicPr>
          <p:cNvPr id="30" name="Image 10" descr="preencoded.png">    </p:cNvPr>
          <p:cNvPicPr>
            <a:picLocks noChangeAspect="1"/>
          </p:cNvPicPr>
          <p:nvPr/>
        </p:nvPicPr>
        <p:blipFill>
          <a:blip r:embed="rId11"/>
          <a:stretch>
            <a:fillRect/>
          </a:stretch>
        </p:blipFill>
        <p:spPr>
          <a:xfrm>
            <a:off x="4818888" y="2688336"/>
            <a:ext cx="256032" cy="256032"/>
          </a:xfrm>
          <a:prstGeom prst="rect">
            <a:avLst/>
          </a:prstGeom>
        </p:spPr>
      </p:pic>
      <p:sp>
        <p:nvSpPr>
          <p:cNvPr id="31" name="Text 18"/>
          <p:cNvSpPr/>
          <p:nvPr/>
        </p:nvSpPr>
        <p:spPr>
          <a:xfrm>
            <a:off x="5129784" y="2670048"/>
            <a:ext cx="3611880" cy="411480"/>
          </a:xfrm>
          <a:prstGeom prst="rect">
            <a:avLst/>
          </a:prstGeom>
          <a:noFill/>
          <a:ln/>
        </p:spPr>
        <p:txBody>
          <a:bodyPr wrap="square" lIns="0" tIns="0" rIns="0" bIns="0" rtlCol="0" anchor="ctr"/>
          <a:lstStyle/>
          <a:p>
            <a:pPr indent="0" marL="0">
              <a:buNone/>
            </a:pPr>
            <a:r>
              <a:rPr lang="en-US" sz="1100" dirty="0">
                <a:solidFill>
                  <a:srgbClr val="37474F"/>
                </a:solidFill>
                <a:latin typeface="Calibri" pitchFamily="34" charset="0"/>
                <a:ea typeface="Calibri" pitchFamily="34" charset="-122"/>
                <a:cs typeface="Calibri" pitchFamily="34" charset="-120"/>
              </a:rPr>
              <a:t>Low HDR efficiency in post-mitotic (non-dividing) cells</a:t>
            </a:r>
            <a:endParaRPr lang="en-US" sz="1100" dirty="0"/>
          </a:p>
        </p:txBody>
      </p:sp>
      <p:pic>
        <p:nvPicPr>
          <p:cNvPr id="32" name="Image 11" descr="preencoded.png">    </p:cNvPr>
          <p:cNvPicPr>
            <a:picLocks noChangeAspect="1"/>
          </p:cNvPicPr>
          <p:nvPr/>
        </p:nvPicPr>
        <p:blipFill>
          <a:blip r:embed="rId12"/>
          <a:stretch>
            <a:fillRect/>
          </a:stretch>
        </p:blipFill>
        <p:spPr>
          <a:xfrm>
            <a:off x="4818888" y="3200400"/>
            <a:ext cx="256032" cy="256032"/>
          </a:xfrm>
          <a:prstGeom prst="rect">
            <a:avLst/>
          </a:prstGeom>
        </p:spPr>
      </p:pic>
      <p:sp>
        <p:nvSpPr>
          <p:cNvPr id="33" name="Text 19"/>
          <p:cNvSpPr/>
          <p:nvPr/>
        </p:nvSpPr>
        <p:spPr>
          <a:xfrm>
            <a:off x="5129784" y="3182112"/>
            <a:ext cx="3611880" cy="411480"/>
          </a:xfrm>
          <a:prstGeom prst="rect">
            <a:avLst/>
          </a:prstGeom>
          <a:noFill/>
          <a:ln/>
        </p:spPr>
        <p:txBody>
          <a:bodyPr wrap="square" lIns="0" tIns="0" rIns="0" bIns="0" rtlCol="0" anchor="ctr"/>
          <a:lstStyle/>
          <a:p>
            <a:pPr indent="0" marL="0">
              <a:buNone/>
            </a:pPr>
            <a:r>
              <a:rPr lang="en-US" sz="1100" dirty="0">
                <a:solidFill>
                  <a:srgbClr val="37474F"/>
                </a:solidFill>
                <a:latin typeface="Calibri" pitchFamily="34" charset="0"/>
                <a:ea typeface="Calibri" pitchFamily="34" charset="-122"/>
                <a:cs typeface="Calibri" pitchFamily="34" charset="-120"/>
              </a:rPr>
              <a:t>Immune response to Cas9 protein in humans</a:t>
            </a:r>
            <a:endParaRPr lang="en-US" sz="1100" dirty="0"/>
          </a:p>
        </p:txBody>
      </p:sp>
      <p:pic>
        <p:nvPicPr>
          <p:cNvPr id="34" name="Image 12" descr="preencoded.png">    </p:cNvPr>
          <p:cNvPicPr>
            <a:picLocks noChangeAspect="1"/>
          </p:cNvPicPr>
          <p:nvPr/>
        </p:nvPicPr>
        <p:blipFill>
          <a:blip r:embed="rId13"/>
          <a:stretch>
            <a:fillRect/>
          </a:stretch>
        </p:blipFill>
        <p:spPr>
          <a:xfrm>
            <a:off x="4818888" y="3712464"/>
            <a:ext cx="256032" cy="256032"/>
          </a:xfrm>
          <a:prstGeom prst="rect">
            <a:avLst/>
          </a:prstGeom>
        </p:spPr>
      </p:pic>
      <p:sp>
        <p:nvSpPr>
          <p:cNvPr id="35" name="Text 20"/>
          <p:cNvSpPr/>
          <p:nvPr/>
        </p:nvSpPr>
        <p:spPr>
          <a:xfrm>
            <a:off x="5129784" y="3694176"/>
            <a:ext cx="3611880" cy="411480"/>
          </a:xfrm>
          <a:prstGeom prst="rect">
            <a:avLst/>
          </a:prstGeom>
          <a:noFill/>
          <a:ln/>
        </p:spPr>
        <p:txBody>
          <a:bodyPr wrap="square" lIns="0" tIns="0" rIns="0" bIns="0" rtlCol="0" anchor="ctr"/>
          <a:lstStyle/>
          <a:p>
            <a:pPr indent="0" marL="0">
              <a:buNone/>
            </a:pPr>
            <a:r>
              <a:rPr lang="en-US" sz="1100" dirty="0">
                <a:solidFill>
                  <a:srgbClr val="37474F"/>
                </a:solidFill>
                <a:latin typeface="Calibri" pitchFamily="34" charset="0"/>
                <a:ea typeface="Calibri" pitchFamily="34" charset="-122"/>
                <a:cs typeface="Calibri" pitchFamily="34" charset="-120"/>
              </a:rPr>
              <a:t>Limited to PAM-adjacent sequences (NGG for SpCas9)</a:t>
            </a:r>
            <a:endParaRPr lang="en-US" sz="1100" dirty="0"/>
          </a:p>
        </p:txBody>
      </p:sp>
      <p:pic>
        <p:nvPicPr>
          <p:cNvPr id="36" name="Image 13" descr="preencoded.png">    </p:cNvPr>
          <p:cNvPicPr>
            <a:picLocks noChangeAspect="1"/>
          </p:cNvPicPr>
          <p:nvPr/>
        </p:nvPicPr>
        <p:blipFill>
          <a:blip r:embed="rId14"/>
          <a:stretch>
            <a:fillRect/>
          </a:stretch>
        </p:blipFill>
        <p:spPr>
          <a:xfrm>
            <a:off x="4818888" y="4224528"/>
            <a:ext cx="256032" cy="256032"/>
          </a:xfrm>
          <a:prstGeom prst="rect">
            <a:avLst/>
          </a:prstGeom>
        </p:spPr>
      </p:pic>
      <p:sp>
        <p:nvSpPr>
          <p:cNvPr id="37" name="Text 21"/>
          <p:cNvSpPr/>
          <p:nvPr/>
        </p:nvSpPr>
        <p:spPr>
          <a:xfrm>
            <a:off x="5129784" y="4206240"/>
            <a:ext cx="3611880" cy="411480"/>
          </a:xfrm>
          <a:prstGeom prst="rect">
            <a:avLst/>
          </a:prstGeom>
          <a:noFill/>
          <a:ln/>
        </p:spPr>
        <p:txBody>
          <a:bodyPr wrap="square" lIns="0" tIns="0" rIns="0" bIns="0" rtlCol="0" anchor="ctr"/>
          <a:lstStyle/>
          <a:p>
            <a:pPr indent="0" marL="0">
              <a:buNone/>
            </a:pPr>
            <a:r>
              <a:rPr lang="en-US" sz="1100" dirty="0">
                <a:solidFill>
                  <a:srgbClr val="37474F"/>
                </a:solidFill>
                <a:latin typeface="Calibri" pitchFamily="34" charset="0"/>
                <a:ea typeface="Calibri" pitchFamily="34" charset="-122"/>
                <a:cs typeface="Calibri" pitchFamily="34" charset="-120"/>
              </a:rPr>
              <a:t>Ethical concerns: germline editing has permanent effects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342"/>
          </a:solidFill>
          <a:ln w="12700">
            <a:solidFill>
              <a:srgbClr val="0A2342"/>
            </a:solidFill>
            <a:prstDash val="solid"/>
          </a:ln>
        </p:spPr>
      </p:sp>
      <p:sp>
        <p:nvSpPr>
          <p:cNvPr id="3" name="Shape 1"/>
          <p:cNvSpPr/>
          <p:nvPr/>
        </p:nvSpPr>
        <p:spPr>
          <a:xfrm>
            <a:off x="8595360" y="137160"/>
            <a:ext cx="685800" cy="685800"/>
          </a:xfrm>
          <a:prstGeom prst="ellipse">
            <a:avLst/>
          </a:prstGeom>
          <a:solidFill>
            <a:srgbClr val="43A047"/>
          </a:solidFill>
          <a:ln w="12700">
            <a:solidFill>
              <a:srgbClr val="43A047"/>
            </a:solidFill>
            <a:prstDash val="solid"/>
          </a:ln>
        </p:spPr>
      </p:sp>
      <p:sp>
        <p:nvSpPr>
          <p:cNvPr id="4" name="Text 2"/>
          <p:cNvSpPr/>
          <p:nvPr/>
        </p:nvSpPr>
        <p:spPr>
          <a:xfrm>
            <a:off x="365760" y="91440"/>
            <a:ext cx="80467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Gene Therapy</a:t>
            </a:r>
            <a:endParaRPr lang="en-US" sz="2200" dirty="0"/>
          </a:p>
        </p:txBody>
      </p:sp>
      <p:sp>
        <p:nvSpPr>
          <p:cNvPr id="5" name="Text 3"/>
          <p:cNvSpPr/>
          <p:nvPr/>
        </p:nvSpPr>
        <p:spPr>
          <a:xfrm>
            <a:off x="365760" y="621792"/>
            <a:ext cx="8046720" cy="274320"/>
          </a:xfrm>
          <a:prstGeom prst="rect">
            <a:avLst/>
          </a:prstGeom>
          <a:noFill/>
          <a:ln/>
        </p:spPr>
        <p:txBody>
          <a:bodyPr wrap="square" lIns="0" tIns="0" rIns="0" bIns="0" rtlCol="0" anchor="ctr"/>
          <a:lstStyle/>
          <a:p>
            <a:pPr indent="0" marL="0">
              <a:buNone/>
            </a:pPr>
            <a:r>
              <a:rPr lang="en-US" sz="1100" i="1" dirty="0">
                <a:solidFill>
                  <a:srgbClr val="90CAF9"/>
                </a:solidFill>
                <a:latin typeface="Calibri" pitchFamily="34" charset="0"/>
                <a:ea typeface="Calibri" pitchFamily="34" charset="-122"/>
                <a:cs typeface="Calibri" pitchFamily="34" charset="-120"/>
              </a:rPr>
              <a:t>Treating Disease at the Genetic Level</a:t>
            </a:r>
            <a:endParaRPr lang="en-US" sz="1100" dirty="0"/>
          </a:p>
        </p:txBody>
      </p:sp>
      <p:sp>
        <p:nvSpPr>
          <p:cNvPr id="6" name="Shape 4"/>
          <p:cNvSpPr/>
          <p:nvPr/>
        </p:nvSpPr>
        <p:spPr>
          <a:xfrm>
            <a:off x="274320" y="1078992"/>
            <a:ext cx="8595360" cy="685800"/>
          </a:xfrm>
          <a:prstGeom prst="roundRect">
            <a:avLst>
              <a:gd name="adj" fmla="val 13333"/>
            </a:avLst>
          </a:prstGeom>
          <a:solidFill>
            <a:srgbClr val="E3F2FD"/>
          </a:solidFill>
          <a:ln w="12700">
            <a:solidFill>
              <a:srgbClr val="BBDEFB"/>
            </a:solidFill>
            <a:prstDash val="solid"/>
          </a:ln>
          <a:effectLst>
            <a:outerShdw sx="100000" sy="100000" kx="0" ky="0" algn="bl" rotWithShape="0" blurRad="76200" dist="25400" dir="2700000">
              <a:srgbClr val="000000">
                <a:alpha val="9000"/>
              </a:srgbClr>
            </a:outerShdw>
          </a:effectLst>
        </p:spPr>
      </p:sp>
      <p:pic>
        <p:nvPicPr>
          <p:cNvPr id="7" name="Image 0" descr="preencoded.png">    </p:cNvPr>
          <p:cNvPicPr>
            <a:picLocks noChangeAspect="1"/>
          </p:cNvPicPr>
          <p:nvPr/>
        </p:nvPicPr>
        <p:blipFill>
          <a:blip r:embed="rId1"/>
          <a:stretch>
            <a:fillRect/>
          </a:stretch>
        </p:blipFill>
        <p:spPr>
          <a:xfrm>
            <a:off x="384048" y="1152144"/>
            <a:ext cx="438912" cy="438912"/>
          </a:xfrm>
          <a:prstGeom prst="rect">
            <a:avLst/>
          </a:prstGeom>
        </p:spPr>
      </p:pic>
      <p:sp>
        <p:nvSpPr>
          <p:cNvPr id="8" name="Text 5"/>
          <p:cNvSpPr/>
          <p:nvPr/>
        </p:nvSpPr>
        <p:spPr>
          <a:xfrm>
            <a:off x="914400" y="1115568"/>
            <a:ext cx="7818120" cy="603504"/>
          </a:xfrm>
          <a:prstGeom prst="rect">
            <a:avLst/>
          </a:prstGeom>
          <a:noFill/>
          <a:ln/>
        </p:spPr>
        <p:txBody>
          <a:bodyPr wrap="square" lIns="0" tIns="0" rIns="0" bIns="0" rtlCol="0" anchor="ctr"/>
          <a:lstStyle/>
          <a:p>
            <a:pPr indent="0" marL="0">
              <a:buNone/>
            </a:pPr>
            <a:r>
              <a:rPr lang="en-US" sz="1150" dirty="0">
                <a:solidFill>
                  <a:srgbClr val="0A2342"/>
                </a:solidFill>
                <a:latin typeface="Calibri" pitchFamily="34" charset="0"/>
                <a:ea typeface="Calibri" pitchFamily="34" charset="-122"/>
                <a:cs typeface="Calibri" pitchFamily="34" charset="-120"/>
              </a:rPr>
              <a:t>Gene Therapy is a medical approach that modifies, replaces, or silences a faulty gene — or introduces a therapeutic gene — to treat or prevent disease. It represents a shift from treating symptoms to correcting the underlying genetic cause.</a:t>
            </a:r>
            <a:endParaRPr lang="en-US" sz="1150" dirty="0"/>
          </a:p>
        </p:txBody>
      </p:sp>
      <p:sp>
        <p:nvSpPr>
          <p:cNvPr id="9" name="Shape 6"/>
          <p:cNvSpPr/>
          <p:nvPr/>
        </p:nvSpPr>
        <p:spPr>
          <a:xfrm>
            <a:off x="274320" y="1874520"/>
            <a:ext cx="4160520" cy="1828800"/>
          </a:xfrm>
          <a:prstGeom prst="roundRect">
            <a:avLst>
              <a:gd name="adj" fmla="val 5000"/>
            </a:avLst>
          </a:prstGeom>
          <a:solidFill>
            <a:srgbClr val="FFFFFF"/>
          </a:solidFill>
          <a:ln w="12700">
            <a:solidFill>
              <a:srgbClr val="ECEFF1"/>
            </a:solidFill>
            <a:prstDash val="solid"/>
          </a:ln>
          <a:effectLst>
            <a:outerShdw sx="100000" sy="100000" kx="0" ky="0" algn="bl" rotWithShape="0" blurRad="101600" dist="38100" dir="2700000">
              <a:srgbClr val="000000">
                <a:alpha val="12000"/>
              </a:srgbClr>
            </a:outerShdw>
          </a:effectLst>
        </p:spPr>
      </p:sp>
      <p:sp>
        <p:nvSpPr>
          <p:cNvPr id="10" name="Shape 7"/>
          <p:cNvSpPr/>
          <p:nvPr/>
        </p:nvSpPr>
        <p:spPr>
          <a:xfrm>
            <a:off x="274320" y="1874520"/>
            <a:ext cx="4160520" cy="411480"/>
          </a:xfrm>
          <a:prstGeom prst="roundRect">
            <a:avLst>
              <a:gd name="adj" fmla="val 22222"/>
            </a:avLst>
          </a:prstGeom>
          <a:solidFill>
            <a:srgbClr val="1565C0"/>
          </a:solidFill>
          <a:ln w="12700">
            <a:solidFill>
              <a:srgbClr val="1565C0"/>
            </a:solidFill>
            <a:prstDash val="solid"/>
          </a:ln>
        </p:spPr>
      </p:sp>
      <p:sp>
        <p:nvSpPr>
          <p:cNvPr id="11" name="Text 8"/>
          <p:cNvSpPr/>
          <p:nvPr/>
        </p:nvSpPr>
        <p:spPr>
          <a:xfrm>
            <a:off x="347472" y="1911096"/>
            <a:ext cx="4005072"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SOMATIC GENE THERAPY</a:t>
            </a:r>
            <a:endParaRPr lang="en-US" sz="1200" dirty="0"/>
          </a:p>
        </p:txBody>
      </p:sp>
      <p:sp>
        <p:nvSpPr>
          <p:cNvPr id="12" name="Text 9"/>
          <p:cNvSpPr/>
          <p:nvPr/>
        </p:nvSpPr>
        <p:spPr>
          <a:xfrm>
            <a:off x="384048" y="2340864"/>
            <a:ext cx="3931920" cy="25603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Targets non-reproductive (somatic) cells</a:t>
            </a:r>
            <a:endParaRPr lang="en-US" sz="1050" dirty="0"/>
          </a:p>
        </p:txBody>
      </p:sp>
      <p:sp>
        <p:nvSpPr>
          <p:cNvPr id="13" name="Text 10"/>
          <p:cNvSpPr/>
          <p:nvPr/>
        </p:nvSpPr>
        <p:spPr>
          <a:xfrm>
            <a:off x="384048" y="2615184"/>
            <a:ext cx="3931920" cy="25603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Changes are NOT heritable — affects only the patient</a:t>
            </a:r>
            <a:endParaRPr lang="en-US" sz="1050" dirty="0"/>
          </a:p>
        </p:txBody>
      </p:sp>
      <p:sp>
        <p:nvSpPr>
          <p:cNvPr id="14" name="Text 11"/>
          <p:cNvSpPr/>
          <p:nvPr/>
        </p:nvSpPr>
        <p:spPr>
          <a:xfrm>
            <a:off x="384048" y="2889504"/>
            <a:ext cx="3931920" cy="25603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Most current clinical trials use somatic approaches</a:t>
            </a:r>
            <a:endParaRPr lang="en-US" sz="1050" dirty="0"/>
          </a:p>
        </p:txBody>
      </p:sp>
      <p:sp>
        <p:nvSpPr>
          <p:cNvPr id="15" name="Text 12"/>
          <p:cNvSpPr/>
          <p:nvPr/>
        </p:nvSpPr>
        <p:spPr>
          <a:xfrm>
            <a:off x="384048" y="3163824"/>
            <a:ext cx="3931920" cy="25603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Examples: CAR-T cell therapy, AAV-based liver delivery</a:t>
            </a:r>
            <a:endParaRPr lang="en-US" sz="1050" dirty="0"/>
          </a:p>
        </p:txBody>
      </p:sp>
      <p:sp>
        <p:nvSpPr>
          <p:cNvPr id="16" name="Text 13"/>
          <p:cNvSpPr/>
          <p:nvPr/>
        </p:nvSpPr>
        <p:spPr>
          <a:xfrm>
            <a:off x="384048" y="3438144"/>
            <a:ext cx="3931920" cy="25603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Considered ethically acceptable — standard medical treatment</a:t>
            </a:r>
            <a:endParaRPr lang="en-US" sz="1050" dirty="0"/>
          </a:p>
        </p:txBody>
      </p:sp>
      <p:sp>
        <p:nvSpPr>
          <p:cNvPr id="17" name="Shape 14"/>
          <p:cNvSpPr/>
          <p:nvPr/>
        </p:nvSpPr>
        <p:spPr>
          <a:xfrm>
            <a:off x="4709160" y="1874520"/>
            <a:ext cx="4160520" cy="1828800"/>
          </a:xfrm>
          <a:prstGeom prst="roundRect">
            <a:avLst>
              <a:gd name="adj" fmla="val 5000"/>
            </a:avLst>
          </a:prstGeom>
          <a:solidFill>
            <a:srgbClr val="FFFFFF"/>
          </a:solidFill>
          <a:ln w="12700">
            <a:solidFill>
              <a:srgbClr val="ECEFF1"/>
            </a:solidFill>
            <a:prstDash val="solid"/>
          </a:ln>
          <a:effectLst>
            <a:outerShdw sx="100000" sy="100000" kx="0" ky="0" algn="bl" rotWithShape="0" blurRad="101600" dist="38100" dir="2700000">
              <a:srgbClr val="000000">
                <a:alpha val="12000"/>
              </a:srgbClr>
            </a:outerShdw>
          </a:effectLst>
        </p:spPr>
      </p:sp>
      <p:sp>
        <p:nvSpPr>
          <p:cNvPr id="18" name="Shape 15"/>
          <p:cNvSpPr/>
          <p:nvPr/>
        </p:nvSpPr>
        <p:spPr>
          <a:xfrm>
            <a:off x="4709160" y="1874520"/>
            <a:ext cx="4160520" cy="411480"/>
          </a:xfrm>
          <a:prstGeom prst="roundRect">
            <a:avLst>
              <a:gd name="adj" fmla="val 22222"/>
            </a:avLst>
          </a:prstGeom>
          <a:solidFill>
            <a:srgbClr val="C62828"/>
          </a:solidFill>
          <a:ln w="12700">
            <a:solidFill>
              <a:srgbClr val="C62828"/>
            </a:solidFill>
            <a:prstDash val="solid"/>
          </a:ln>
        </p:spPr>
      </p:sp>
      <p:sp>
        <p:nvSpPr>
          <p:cNvPr id="19" name="Text 16"/>
          <p:cNvSpPr/>
          <p:nvPr/>
        </p:nvSpPr>
        <p:spPr>
          <a:xfrm>
            <a:off x="4782312" y="1911096"/>
            <a:ext cx="4005072"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GERMLINE GENE THERAPY</a:t>
            </a:r>
            <a:endParaRPr lang="en-US" sz="1200" dirty="0"/>
          </a:p>
        </p:txBody>
      </p:sp>
      <p:sp>
        <p:nvSpPr>
          <p:cNvPr id="20" name="Text 17"/>
          <p:cNvSpPr/>
          <p:nvPr/>
        </p:nvSpPr>
        <p:spPr>
          <a:xfrm>
            <a:off x="4800600" y="2340864"/>
            <a:ext cx="3977640" cy="25603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Modifies eggs, sperm, or early embryos</a:t>
            </a:r>
            <a:endParaRPr lang="en-US" sz="1050" dirty="0"/>
          </a:p>
        </p:txBody>
      </p:sp>
      <p:sp>
        <p:nvSpPr>
          <p:cNvPr id="21" name="Text 18"/>
          <p:cNvSpPr/>
          <p:nvPr/>
        </p:nvSpPr>
        <p:spPr>
          <a:xfrm>
            <a:off x="4800600" y="2615184"/>
            <a:ext cx="3977640" cy="25603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Changes ARE heritable — passed to all future generations</a:t>
            </a:r>
            <a:endParaRPr lang="en-US" sz="1050" dirty="0"/>
          </a:p>
        </p:txBody>
      </p:sp>
      <p:sp>
        <p:nvSpPr>
          <p:cNvPr id="22" name="Text 19"/>
          <p:cNvSpPr/>
          <p:nvPr/>
        </p:nvSpPr>
        <p:spPr>
          <a:xfrm>
            <a:off x="4800600" y="2889504"/>
            <a:ext cx="3977640" cy="25603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He Jiankui case (2018) — CRISPR babies controversy</a:t>
            </a:r>
            <a:endParaRPr lang="en-US" sz="1050" dirty="0"/>
          </a:p>
        </p:txBody>
      </p:sp>
      <p:sp>
        <p:nvSpPr>
          <p:cNvPr id="23" name="Text 20"/>
          <p:cNvSpPr/>
          <p:nvPr/>
        </p:nvSpPr>
        <p:spPr>
          <a:xfrm>
            <a:off x="4800600" y="3163824"/>
            <a:ext cx="3977640" cy="25603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Currently banned or heavily restricted globally</a:t>
            </a:r>
            <a:endParaRPr lang="en-US" sz="1050" dirty="0"/>
          </a:p>
        </p:txBody>
      </p:sp>
      <p:sp>
        <p:nvSpPr>
          <p:cNvPr id="24" name="Text 21"/>
          <p:cNvSpPr/>
          <p:nvPr/>
        </p:nvSpPr>
        <p:spPr>
          <a:xfrm>
            <a:off x="4800600" y="3438144"/>
            <a:ext cx="3977640" cy="256032"/>
          </a:xfrm>
          <a:prstGeom prst="rect">
            <a:avLst/>
          </a:prstGeom>
          <a:noFill/>
          <a:ln/>
        </p:spPr>
        <p:txBody>
          <a:bodyPr wrap="square" lIns="0" tIns="0" rIns="0" bIns="0" rtlCol="0" anchor="ctr"/>
          <a:lstStyle/>
          <a:p>
            <a:pPr indent="0" marL="0">
              <a:buNone/>
            </a:pPr>
            <a:r>
              <a:rPr lang="en-US" sz="1050" dirty="0">
                <a:solidFill>
                  <a:srgbClr val="37474F"/>
                </a:solidFill>
                <a:latin typeface="Calibri" pitchFamily="34" charset="0"/>
                <a:ea typeface="Calibri" pitchFamily="34" charset="-122"/>
                <a:cs typeface="Calibri" pitchFamily="34" charset="-120"/>
              </a:rPr>
              <a:t>⚠  Major ethical, safety, and consent concerns</a:t>
            </a:r>
            <a:endParaRPr lang="en-US" sz="1050" dirty="0"/>
          </a:p>
        </p:txBody>
      </p:sp>
      <p:sp>
        <p:nvSpPr>
          <p:cNvPr id="25" name="Shape 22"/>
          <p:cNvSpPr/>
          <p:nvPr/>
        </p:nvSpPr>
        <p:spPr>
          <a:xfrm>
            <a:off x="274320" y="3794760"/>
            <a:ext cx="8595360" cy="1161288"/>
          </a:xfrm>
          <a:prstGeom prst="roundRect">
            <a:avLst>
              <a:gd name="adj" fmla="val 7874"/>
            </a:avLst>
          </a:prstGeom>
          <a:solidFill>
            <a:srgbClr val="EDE7F6"/>
          </a:solidFill>
          <a:ln w="12700">
            <a:solidFill>
              <a:srgbClr val="D1C4E9"/>
            </a:solidFill>
            <a:prstDash val="solid"/>
          </a:ln>
          <a:effectLst>
            <a:outerShdw sx="100000" sy="100000" kx="0" ky="0" algn="bl" rotWithShape="0" blurRad="76200" dist="25400" dir="2700000">
              <a:srgbClr val="000000">
                <a:alpha val="9000"/>
              </a:srgbClr>
            </a:outerShdw>
          </a:effectLst>
        </p:spPr>
      </p:sp>
      <p:sp>
        <p:nvSpPr>
          <p:cNvPr id="26" name="Text 23"/>
          <p:cNvSpPr/>
          <p:nvPr/>
        </p:nvSpPr>
        <p:spPr>
          <a:xfrm>
            <a:off x="411480" y="3831336"/>
            <a:ext cx="8229600" cy="274320"/>
          </a:xfrm>
          <a:prstGeom prst="rect">
            <a:avLst/>
          </a:prstGeom>
          <a:noFill/>
          <a:ln/>
        </p:spPr>
        <p:txBody>
          <a:bodyPr wrap="square" lIns="0" tIns="0" rIns="0" bIns="0" rtlCol="0" anchor="ctr"/>
          <a:lstStyle/>
          <a:p>
            <a:pPr indent="0" marL="0">
              <a:buNone/>
            </a:pPr>
            <a:r>
              <a:rPr lang="en-US" sz="1200" b="1" dirty="0">
                <a:solidFill>
                  <a:srgbClr val="4A148C"/>
                </a:solidFill>
                <a:latin typeface="Calibri" pitchFamily="34" charset="0"/>
                <a:ea typeface="Calibri" pitchFamily="34" charset="-122"/>
                <a:cs typeface="Calibri" pitchFamily="34" charset="-120"/>
              </a:rPr>
              <a:t>Delivery Methods</a:t>
            </a:r>
            <a:endParaRPr lang="en-US" sz="1200" dirty="0"/>
          </a:p>
        </p:txBody>
      </p:sp>
      <p:sp>
        <p:nvSpPr>
          <p:cNvPr id="27" name="Text 24"/>
          <p:cNvSpPr/>
          <p:nvPr/>
        </p:nvSpPr>
        <p:spPr>
          <a:xfrm>
            <a:off x="411480" y="4114800"/>
            <a:ext cx="2103120" cy="777240"/>
          </a:xfrm>
          <a:prstGeom prst="rect">
            <a:avLst/>
          </a:prstGeom>
          <a:noFill/>
          <a:ln/>
        </p:spPr>
        <p:txBody>
          <a:bodyPr wrap="square" lIns="0" tIns="0" rIns="0" bIns="0" rtlCol="0" anchor="ctr"/>
          <a:lstStyle/>
          <a:p>
            <a:pPr indent="0" marL="0">
              <a:buNone/>
            </a:pPr>
            <a:r>
              <a:rPr lang="en-US" sz="950" b="1" dirty="0">
                <a:solidFill>
                  <a:srgbClr val="4A148C"/>
                </a:solidFill>
                <a:latin typeface="Calibri" pitchFamily="34" charset="0"/>
                <a:ea typeface="Calibri" pitchFamily="34" charset="-122"/>
                <a:cs typeface="Calibri" pitchFamily="34" charset="-120"/>
              </a:rPr>
              <a:t>Viral Vectors:  </a:t>
            </a:r>
            <a:pPr indent="0" marL="0">
              <a:buNone/>
            </a:pPr>
            <a:r>
              <a:rPr lang="en-US" sz="950" dirty="0">
                <a:solidFill>
                  <a:srgbClr val="37474F"/>
                </a:solidFill>
                <a:latin typeface="Calibri" pitchFamily="34" charset="0"/>
                <a:ea typeface="Calibri" pitchFamily="34" charset="-122"/>
                <a:cs typeface="Calibri" pitchFamily="34" charset="-120"/>
              </a:rPr>
              <a:t>AAV, Lentivirus, Adenovirus — high efficiency, tropism for specific tissues</a:t>
            </a:r>
            <a:endParaRPr lang="en-US" sz="950" dirty="0"/>
          </a:p>
        </p:txBody>
      </p:sp>
      <p:sp>
        <p:nvSpPr>
          <p:cNvPr id="28" name="Text 25"/>
          <p:cNvSpPr/>
          <p:nvPr/>
        </p:nvSpPr>
        <p:spPr>
          <a:xfrm>
            <a:off x="2578608" y="4114800"/>
            <a:ext cx="2103120" cy="777240"/>
          </a:xfrm>
          <a:prstGeom prst="rect">
            <a:avLst/>
          </a:prstGeom>
          <a:noFill/>
          <a:ln/>
        </p:spPr>
        <p:txBody>
          <a:bodyPr wrap="square" lIns="0" tIns="0" rIns="0" bIns="0" rtlCol="0" anchor="ctr"/>
          <a:lstStyle/>
          <a:p>
            <a:pPr indent="0" marL="0">
              <a:buNone/>
            </a:pPr>
            <a:r>
              <a:rPr lang="en-US" sz="950" b="1" dirty="0">
                <a:solidFill>
                  <a:srgbClr val="4A148C"/>
                </a:solidFill>
                <a:latin typeface="Calibri" pitchFamily="34" charset="0"/>
                <a:ea typeface="Calibri" pitchFamily="34" charset="-122"/>
                <a:cs typeface="Calibri" pitchFamily="34" charset="-120"/>
              </a:rPr>
              <a:t>Non-Viral:  </a:t>
            </a:r>
            <a:pPr indent="0" marL="0">
              <a:buNone/>
            </a:pPr>
            <a:r>
              <a:rPr lang="en-US" sz="950" dirty="0">
                <a:solidFill>
                  <a:srgbClr val="37474F"/>
                </a:solidFill>
                <a:latin typeface="Calibri" pitchFamily="34" charset="0"/>
                <a:ea typeface="Calibri" pitchFamily="34" charset="-122"/>
                <a:cs typeface="Calibri" pitchFamily="34" charset="-120"/>
              </a:rPr>
              <a:t>Lipid nanoparticles (LNPs), electroporation, nanoparticles — safer, scalable</a:t>
            </a:r>
            <a:endParaRPr lang="en-US" sz="950" dirty="0"/>
          </a:p>
        </p:txBody>
      </p:sp>
      <p:sp>
        <p:nvSpPr>
          <p:cNvPr id="29" name="Text 26"/>
          <p:cNvSpPr/>
          <p:nvPr/>
        </p:nvSpPr>
        <p:spPr>
          <a:xfrm>
            <a:off x="4745736" y="4114800"/>
            <a:ext cx="2103120" cy="777240"/>
          </a:xfrm>
          <a:prstGeom prst="rect">
            <a:avLst/>
          </a:prstGeom>
          <a:noFill/>
          <a:ln/>
        </p:spPr>
        <p:txBody>
          <a:bodyPr wrap="square" lIns="0" tIns="0" rIns="0" bIns="0" rtlCol="0" anchor="ctr"/>
          <a:lstStyle/>
          <a:p>
            <a:pPr indent="0" marL="0">
              <a:buNone/>
            </a:pPr>
            <a:r>
              <a:rPr lang="en-US" sz="950" b="1" dirty="0">
                <a:solidFill>
                  <a:srgbClr val="4A148C"/>
                </a:solidFill>
                <a:latin typeface="Calibri" pitchFamily="34" charset="0"/>
                <a:ea typeface="Calibri" pitchFamily="34" charset="-122"/>
                <a:cs typeface="Calibri" pitchFamily="34" charset="-120"/>
              </a:rPr>
              <a:t>Ex Vivo:  </a:t>
            </a:r>
            <a:pPr indent="0" marL="0">
              <a:buNone/>
            </a:pPr>
            <a:r>
              <a:rPr lang="en-US" sz="950" dirty="0">
                <a:solidFill>
                  <a:srgbClr val="37474F"/>
                </a:solidFill>
                <a:latin typeface="Calibri" pitchFamily="34" charset="0"/>
                <a:ea typeface="Calibri" pitchFamily="34" charset="-122"/>
                <a:cs typeface="Calibri" pitchFamily="34" charset="-120"/>
              </a:rPr>
              <a:t>Edit cells outside body (e.g., T-cells, HSCs) then reinfuse — used in CAR-T, Casgevy</a:t>
            </a:r>
            <a:endParaRPr lang="en-US" sz="950" dirty="0"/>
          </a:p>
        </p:txBody>
      </p:sp>
      <p:sp>
        <p:nvSpPr>
          <p:cNvPr id="30" name="Text 27"/>
          <p:cNvSpPr/>
          <p:nvPr/>
        </p:nvSpPr>
        <p:spPr>
          <a:xfrm>
            <a:off x="6912864" y="4114800"/>
            <a:ext cx="2103120" cy="777240"/>
          </a:xfrm>
          <a:prstGeom prst="rect">
            <a:avLst/>
          </a:prstGeom>
          <a:noFill/>
          <a:ln/>
        </p:spPr>
        <p:txBody>
          <a:bodyPr wrap="square" lIns="0" tIns="0" rIns="0" bIns="0" rtlCol="0" anchor="ctr"/>
          <a:lstStyle/>
          <a:p>
            <a:pPr indent="0" marL="0">
              <a:buNone/>
            </a:pPr>
            <a:r>
              <a:rPr lang="en-US" sz="950" b="1" dirty="0">
                <a:solidFill>
                  <a:srgbClr val="4A148C"/>
                </a:solidFill>
                <a:latin typeface="Calibri" pitchFamily="34" charset="0"/>
                <a:ea typeface="Calibri" pitchFamily="34" charset="-122"/>
                <a:cs typeface="Calibri" pitchFamily="34" charset="-120"/>
              </a:rPr>
              <a:t>In Vivo:  </a:t>
            </a:r>
            <a:pPr indent="0" marL="0">
              <a:buNone/>
            </a:pPr>
            <a:r>
              <a:rPr lang="en-US" sz="950" dirty="0">
                <a:solidFill>
                  <a:srgbClr val="37474F"/>
                </a:solidFill>
                <a:latin typeface="Calibri" pitchFamily="34" charset="0"/>
                <a:ea typeface="Calibri" pitchFamily="34" charset="-122"/>
                <a:cs typeface="Calibri" pitchFamily="34" charset="-120"/>
              </a:rPr>
              <a:t>Direct delivery into patient body (liver, eye, lung) — e.g., Luxturna, Zolgensma</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342"/>
          </a:solidFill>
          <a:ln w="12700">
            <a:solidFill>
              <a:srgbClr val="0A2342"/>
            </a:solidFill>
            <a:prstDash val="solid"/>
          </a:ln>
        </p:spPr>
      </p:sp>
      <p:sp>
        <p:nvSpPr>
          <p:cNvPr id="3" name="Shape 1"/>
          <p:cNvSpPr/>
          <p:nvPr/>
        </p:nvSpPr>
        <p:spPr>
          <a:xfrm>
            <a:off x="8595360" y="137160"/>
            <a:ext cx="685800" cy="685800"/>
          </a:xfrm>
          <a:prstGeom prst="ellipse">
            <a:avLst/>
          </a:prstGeom>
          <a:solidFill>
            <a:srgbClr val="43A047"/>
          </a:solidFill>
          <a:ln w="12700">
            <a:solidFill>
              <a:srgbClr val="43A047"/>
            </a:solidFill>
            <a:prstDash val="solid"/>
          </a:ln>
        </p:spPr>
      </p:sp>
      <p:sp>
        <p:nvSpPr>
          <p:cNvPr id="4" name="Text 2"/>
          <p:cNvSpPr/>
          <p:nvPr/>
        </p:nvSpPr>
        <p:spPr>
          <a:xfrm>
            <a:off x="365760" y="91440"/>
            <a:ext cx="80467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Applications of Gene Therapy</a:t>
            </a:r>
            <a:endParaRPr lang="en-US" sz="2200" dirty="0"/>
          </a:p>
        </p:txBody>
      </p:sp>
      <p:sp>
        <p:nvSpPr>
          <p:cNvPr id="5" name="Text 3"/>
          <p:cNvSpPr/>
          <p:nvPr/>
        </p:nvSpPr>
        <p:spPr>
          <a:xfrm>
            <a:off x="365760" y="621792"/>
            <a:ext cx="8046720" cy="274320"/>
          </a:xfrm>
          <a:prstGeom prst="rect">
            <a:avLst/>
          </a:prstGeom>
          <a:noFill/>
          <a:ln/>
        </p:spPr>
        <p:txBody>
          <a:bodyPr wrap="square" lIns="0" tIns="0" rIns="0" bIns="0" rtlCol="0" anchor="ctr"/>
          <a:lstStyle/>
          <a:p>
            <a:pPr indent="0" marL="0">
              <a:buNone/>
            </a:pPr>
            <a:r>
              <a:rPr lang="en-US" sz="1100" i="1" dirty="0">
                <a:solidFill>
                  <a:srgbClr val="90CAF9"/>
                </a:solidFill>
                <a:latin typeface="Calibri" pitchFamily="34" charset="0"/>
                <a:ea typeface="Calibri" pitchFamily="34" charset="-122"/>
                <a:cs typeface="Calibri" pitchFamily="34" charset="-120"/>
              </a:rPr>
              <a:t>Cancer, Genetic Disorders &amp; Rare Diseases</a:t>
            </a:r>
            <a:endParaRPr lang="en-US" sz="1100" dirty="0"/>
          </a:p>
        </p:txBody>
      </p:sp>
      <p:sp>
        <p:nvSpPr>
          <p:cNvPr id="6" name="Shape 4"/>
          <p:cNvSpPr/>
          <p:nvPr/>
        </p:nvSpPr>
        <p:spPr>
          <a:xfrm>
            <a:off x="274320" y="1078992"/>
            <a:ext cx="2807208" cy="3840480"/>
          </a:xfrm>
          <a:prstGeom prst="roundRect">
            <a:avLst>
              <a:gd name="adj" fmla="val 3909"/>
            </a:avLst>
          </a:prstGeom>
          <a:solidFill>
            <a:srgbClr val="FFEBEE"/>
          </a:solidFill>
          <a:ln w="12700">
            <a:solidFill>
              <a:srgbClr val="ECEFF1"/>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274320" y="1078992"/>
            <a:ext cx="2807208" cy="594360"/>
          </a:xfrm>
          <a:prstGeom prst="roundRect">
            <a:avLst>
              <a:gd name="adj" fmla="val 18462"/>
            </a:avLst>
          </a:prstGeom>
          <a:solidFill>
            <a:srgbClr val="C62828"/>
          </a:solidFill>
          <a:ln w="12700">
            <a:solidFill>
              <a:srgbClr val="C62828"/>
            </a:solidFill>
            <a:prstDash val="solid"/>
          </a:ln>
        </p:spPr>
      </p:sp>
      <p:pic>
        <p:nvPicPr>
          <p:cNvPr id="8" name="Image 0" descr="preencoded.png">    </p:cNvPr>
          <p:cNvPicPr>
            <a:picLocks noChangeAspect="1"/>
          </p:cNvPicPr>
          <p:nvPr/>
        </p:nvPicPr>
        <p:blipFill>
          <a:blip r:embed="rId1"/>
          <a:stretch>
            <a:fillRect/>
          </a:stretch>
        </p:blipFill>
        <p:spPr>
          <a:xfrm>
            <a:off x="365760" y="1170432"/>
            <a:ext cx="384048" cy="384048"/>
          </a:xfrm>
          <a:prstGeom prst="rect">
            <a:avLst/>
          </a:prstGeom>
        </p:spPr>
      </p:pic>
      <p:sp>
        <p:nvSpPr>
          <p:cNvPr id="9" name="Text 6"/>
          <p:cNvSpPr/>
          <p:nvPr/>
        </p:nvSpPr>
        <p:spPr>
          <a:xfrm>
            <a:off x="841248" y="1170432"/>
            <a:ext cx="2121408"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Cancer Immunotherapy</a:t>
            </a:r>
            <a:endParaRPr lang="en-US" sz="1150" dirty="0"/>
          </a:p>
        </p:txBody>
      </p:sp>
      <p:sp>
        <p:nvSpPr>
          <p:cNvPr id="10" name="Shape 7"/>
          <p:cNvSpPr/>
          <p:nvPr/>
        </p:nvSpPr>
        <p:spPr>
          <a:xfrm>
            <a:off x="384048" y="1792224"/>
            <a:ext cx="2587752" cy="713232"/>
          </a:xfrm>
          <a:prstGeom prst="roundRect">
            <a:avLst>
              <a:gd name="adj" fmla="val 8974"/>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11" name="Text 8"/>
          <p:cNvSpPr/>
          <p:nvPr/>
        </p:nvSpPr>
        <p:spPr>
          <a:xfrm>
            <a:off x="457200" y="1819656"/>
            <a:ext cx="2441448" cy="65836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CAR-T Cell Therapy: patient T-cells engineered with chimeric antigen receptor to target CD19 (B-cell cancers)</a:t>
            </a:r>
            <a:endParaRPr lang="en-US" sz="950" dirty="0"/>
          </a:p>
        </p:txBody>
      </p:sp>
      <p:sp>
        <p:nvSpPr>
          <p:cNvPr id="12" name="Shape 9"/>
          <p:cNvSpPr/>
          <p:nvPr/>
        </p:nvSpPr>
        <p:spPr>
          <a:xfrm>
            <a:off x="384048" y="2578608"/>
            <a:ext cx="2587752" cy="713232"/>
          </a:xfrm>
          <a:prstGeom prst="roundRect">
            <a:avLst>
              <a:gd name="adj" fmla="val 8974"/>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13" name="Text 10"/>
          <p:cNvSpPr/>
          <p:nvPr/>
        </p:nvSpPr>
        <p:spPr>
          <a:xfrm>
            <a:off x="457200" y="2606040"/>
            <a:ext cx="2441448" cy="65836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TCR-T Cell Therapy: enhanced T-cell receptor targeting solid tumors</a:t>
            </a:r>
            <a:endParaRPr lang="en-US" sz="950" dirty="0"/>
          </a:p>
        </p:txBody>
      </p:sp>
      <p:sp>
        <p:nvSpPr>
          <p:cNvPr id="14" name="Shape 11"/>
          <p:cNvSpPr/>
          <p:nvPr/>
        </p:nvSpPr>
        <p:spPr>
          <a:xfrm>
            <a:off x="384048" y="3364992"/>
            <a:ext cx="2587752" cy="713232"/>
          </a:xfrm>
          <a:prstGeom prst="roundRect">
            <a:avLst>
              <a:gd name="adj" fmla="val 8974"/>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15" name="Text 12"/>
          <p:cNvSpPr/>
          <p:nvPr/>
        </p:nvSpPr>
        <p:spPr>
          <a:xfrm>
            <a:off x="457200" y="3392424"/>
            <a:ext cx="2441448" cy="65836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Oncolytic Viruses: engineered viruses (Imlygic/T-VEC) selectively kill tumor cells</a:t>
            </a:r>
            <a:endParaRPr lang="en-US" sz="950" dirty="0"/>
          </a:p>
        </p:txBody>
      </p:sp>
      <p:sp>
        <p:nvSpPr>
          <p:cNvPr id="16" name="Shape 13"/>
          <p:cNvSpPr/>
          <p:nvPr/>
        </p:nvSpPr>
        <p:spPr>
          <a:xfrm>
            <a:off x="384048" y="4151376"/>
            <a:ext cx="2587752" cy="713232"/>
          </a:xfrm>
          <a:prstGeom prst="roundRect">
            <a:avLst>
              <a:gd name="adj" fmla="val 8974"/>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17" name="Text 14"/>
          <p:cNvSpPr/>
          <p:nvPr/>
        </p:nvSpPr>
        <p:spPr>
          <a:xfrm>
            <a:off x="457200" y="4178808"/>
            <a:ext cx="2441448" cy="65836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PD-1/PD-L1 checkpoint blocking via gene silencing</a:t>
            </a:r>
            <a:endParaRPr lang="en-US" sz="950" dirty="0"/>
          </a:p>
        </p:txBody>
      </p:sp>
      <p:sp>
        <p:nvSpPr>
          <p:cNvPr id="18" name="Shape 15"/>
          <p:cNvSpPr/>
          <p:nvPr/>
        </p:nvSpPr>
        <p:spPr>
          <a:xfrm>
            <a:off x="3246120" y="1078992"/>
            <a:ext cx="2807208" cy="3840480"/>
          </a:xfrm>
          <a:prstGeom prst="roundRect">
            <a:avLst>
              <a:gd name="adj" fmla="val 3909"/>
            </a:avLst>
          </a:prstGeom>
          <a:solidFill>
            <a:srgbClr val="E3F2FD"/>
          </a:solidFill>
          <a:ln w="12700">
            <a:solidFill>
              <a:srgbClr val="ECEFF1"/>
            </a:solidFill>
            <a:prstDash val="solid"/>
          </a:ln>
          <a:effectLst>
            <a:outerShdw sx="100000" sy="100000" kx="0" ky="0" algn="bl" rotWithShape="0" blurRad="101600" dist="38100" dir="2700000">
              <a:srgbClr val="000000">
                <a:alpha val="12000"/>
              </a:srgbClr>
            </a:outerShdw>
          </a:effectLst>
        </p:spPr>
      </p:sp>
      <p:sp>
        <p:nvSpPr>
          <p:cNvPr id="19" name="Shape 16"/>
          <p:cNvSpPr/>
          <p:nvPr/>
        </p:nvSpPr>
        <p:spPr>
          <a:xfrm>
            <a:off x="3246120" y="1078992"/>
            <a:ext cx="2807208" cy="594360"/>
          </a:xfrm>
          <a:prstGeom prst="roundRect">
            <a:avLst>
              <a:gd name="adj" fmla="val 18462"/>
            </a:avLst>
          </a:prstGeom>
          <a:solidFill>
            <a:srgbClr val="1565C0"/>
          </a:solidFill>
          <a:ln w="12700">
            <a:solidFill>
              <a:srgbClr val="1565C0"/>
            </a:solidFill>
            <a:prstDash val="solid"/>
          </a:ln>
        </p:spPr>
      </p:sp>
      <p:pic>
        <p:nvPicPr>
          <p:cNvPr id="20" name="Image 1" descr="preencoded.png">    </p:cNvPr>
          <p:cNvPicPr>
            <a:picLocks noChangeAspect="1"/>
          </p:cNvPicPr>
          <p:nvPr/>
        </p:nvPicPr>
        <p:blipFill>
          <a:blip r:embed="rId2"/>
          <a:stretch>
            <a:fillRect/>
          </a:stretch>
        </p:blipFill>
        <p:spPr>
          <a:xfrm>
            <a:off x="3337560" y="1170432"/>
            <a:ext cx="384048" cy="384048"/>
          </a:xfrm>
          <a:prstGeom prst="rect">
            <a:avLst/>
          </a:prstGeom>
        </p:spPr>
      </p:pic>
      <p:sp>
        <p:nvSpPr>
          <p:cNvPr id="21" name="Text 17"/>
          <p:cNvSpPr/>
          <p:nvPr/>
        </p:nvSpPr>
        <p:spPr>
          <a:xfrm>
            <a:off x="3813048" y="1170432"/>
            <a:ext cx="2121408"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Monogenic Genetic Disorders</a:t>
            </a:r>
            <a:endParaRPr lang="en-US" sz="1150" dirty="0"/>
          </a:p>
        </p:txBody>
      </p:sp>
      <p:sp>
        <p:nvSpPr>
          <p:cNvPr id="22" name="Shape 18"/>
          <p:cNvSpPr/>
          <p:nvPr/>
        </p:nvSpPr>
        <p:spPr>
          <a:xfrm>
            <a:off x="3355848" y="1792224"/>
            <a:ext cx="2587752" cy="713232"/>
          </a:xfrm>
          <a:prstGeom prst="roundRect">
            <a:avLst>
              <a:gd name="adj" fmla="val 8974"/>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23" name="Text 19"/>
          <p:cNvSpPr/>
          <p:nvPr/>
        </p:nvSpPr>
        <p:spPr>
          <a:xfrm>
            <a:off x="3429000" y="1819656"/>
            <a:ext cx="2441448" cy="65836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Spinal Muscular Atrophy (SMA): Zolgensma (onasemnogene) — single AAV9 infusion restores SMN1</a:t>
            </a:r>
            <a:endParaRPr lang="en-US" sz="950" dirty="0"/>
          </a:p>
        </p:txBody>
      </p:sp>
      <p:sp>
        <p:nvSpPr>
          <p:cNvPr id="24" name="Shape 20"/>
          <p:cNvSpPr/>
          <p:nvPr/>
        </p:nvSpPr>
        <p:spPr>
          <a:xfrm>
            <a:off x="3355848" y="2578608"/>
            <a:ext cx="2587752" cy="713232"/>
          </a:xfrm>
          <a:prstGeom prst="roundRect">
            <a:avLst>
              <a:gd name="adj" fmla="val 8974"/>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25" name="Text 21"/>
          <p:cNvSpPr/>
          <p:nvPr/>
        </p:nvSpPr>
        <p:spPr>
          <a:xfrm>
            <a:off x="3429000" y="2606040"/>
            <a:ext cx="2441448" cy="65836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SCID ('Bubble Boy Disease'): ADA-SCID corrected by lentiviral gene addition</a:t>
            </a:r>
            <a:endParaRPr lang="en-US" sz="950" dirty="0"/>
          </a:p>
        </p:txBody>
      </p:sp>
      <p:sp>
        <p:nvSpPr>
          <p:cNvPr id="26" name="Shape 22"/>
          <p:cNvSpPr/>
          <p:nvPr/>
        </p:nvSpPr>
        <p:spPr>
          <a:xfrm>
            <a:off x="3355848" y="3364992"/>
            <a:ext cx="2587752" cy="713232"/>
          </a:xfrm>
          <a:prstGeom prst="roundRect">
            <a:avLst>
              <a:gd name="adj" fmla="val 8974"/>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27" name="Text 23"/>
          <p:cNvSpPr/>
          <p:nvPr/>
        </p:nvSpPr>
        <p:spPr>
          <a:xfrm>
            <a:off x="3429000" y="3392424"/>
            <a:ext cx="2441448" cy="65836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Hemophilia A&amp;B: AAV-mediated clotting factor VIII/IX gene delivery</a:t>
            </a:r>
            <a:endParaRPr lang="en-US" sz="950" dirty="0"/>
          </a:p>
        </p:txBody>
      </p:sp>
      <p:sp>
        <p:nvSpPr>
          <p:cNvPr id="28" name="Shape 24"/>
          <p:cNvSpPr/>
          <p:nvPr/>
        </p:nvSpPr>
        <p:spPr>
          <a:xfrm>
            <a:off x="3355848" y="4151376"/>
            <a:ext cx="2587752" cy="713232"/>
          </a:xfrm>
          <a:prstGeom prst="roundRect">
            <a:avLst>
              <a:gd name="adj" fmla="val 8974"/>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29" name="Text 25"/>
          <p:cNvSpPr/>
          <p:nvPr/>
        </p:nvSpPr>
        <p:spPr>
          <a:xfrm>
            <a:off x="3429000" y="4178808"/>
            <a:ext cx="2441448" cy="65836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Duchenne Muscular Dystrophy: exon-skipping mini-dystrophin (Elevidys)</a:t>
            </a:r>
            <a:endParaRPr lang="en-US" sz="950" dirty="0"/>
          </a:p>
        </p:txBody>
      </p:sp>
      <p:sp>
        <p:nvSpPr>
          <p:cNvPr id="30" name="Shape 26"/>
          <p:cNvSpPr/>
          <p:nvPr/>
        </p:nvSpPr>
        <p:spPr>
          <a:xfrm>
            <a:off x="6217920" y="1078992"/>
            <a:ext cx="2807208" cy="3840480"/>
          </a:xfrm>
          <a:prstGeom prst="roundRect">
            <a:avLst>
              <a:gd name="adj" fmla="val 3909"/>
            </a:avLst>
          </a:prstGeom>
          <a:solidFill>
            <a:srgbClr val="EDE7F6"/>
          </a:solidFill>
          <a:ln w="12700">
            <a:solidFill>
              <a:srgbClr val="ECEFF1"/>
            </a:solidFill>
            <a:prstDash val="solid"/>
          </a:ln>
          <a:effectLst>
            <a:outerShdw sx="100000" sy="100000" kx="0" ky="0" algn="bl" rotWithShape="0" blurRad="101600" dist="38100" dir="2700000">
              <a:srgbClr val="000000">
                <a:alpha val="12000"/>
              </a:srgbClr>
            </a:outerShdw>
          </a:effectLst>
        </p:spPr>
      </p:sp>
      <p:sp>
        <p:nvSpPr>
          <p:cNvPr id="31" name="Shape 27"/>
          <p:cNvSpPr/>
          <p:nvPr/>
        </p:nvSpPr>
        <p:spPr>
          <a:xfrm>
            <a:off x="6217920" y="1078992"/>
            <a:ext cx="2807208" cy="594360"/>
          </a:xfrm>
          <a:prstGeom prst="roundRect">
            <a:avLst>
              <a:gd name="adj" fmla="val 18462"/>
            </a:avLst>
          </a:prstGeom>
          <a:solidFill>
            <a:srgbClr val="6A1B9A"/>
          </a:solidFill>
          <a:ln w="12700">
            <a:solidFill>
              <a:srgbClr val="6A1B9A"/>
            </a:solidFill>
            <a:prstDash val="solid"/>
          </a:ln>
        </p:spPr>
      </p:sp>
      <p:pic>
        <p:nvPicPr>
          <p:cNvPr id="32" name="Image 2" descr="preencoded.png">    </p:cNvPr>
          <p:cNvPicPr>
            <a:picLocks noChangeAspect="1"/>
          </p:cNvPicPr>
          <p:nvPr/>
        </p:nvPicPr>
        <p:blipFill>
          <a:blip r:embed="rId3"/>
          <a:stretch>
            <a:fillRect/>
          </a:stretch>
        </p:blipFill>
        <p:spPr>
          <a:xfrm>
            <a:off x="6309360" y="1170432"/>
            <a:ext cx="384048" cy="384048"/>
          </a:xfrm>
          <a:prstGeom prst="rect">
            <a:avLst/>
          </a:prstGeom>
        </p:spPr>
      </p:pic>
      <p:sp>
        <p:nvSpPr>
          <p:cNvPr id="33" name="Text 28"/>
          <p:cNvSpPr/>
          <p:nvPr/>
        </p:nvSpPr>
        <p:spPr>
          <a:xfrm>
            <a:off x="6784848" y="1170432"/>
            <a:ext cx="2121408"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Rare Inherited Diseases</a:t>
            </a:r>
            <a:endParaRPr lang="en-US" sz="1150" dirty="0"/>
          </a:p>
        </p:txBody>
      </p:sp>
      <p:sp>
        <p:nvSpPr>
          <p:cNvPr id="34" name="Shape 29"/>
          <p:cNvSpPr/>
          <p:nvPr/>
        </p:nvSpPr>
        <p:spPr>
          <a:xfrm>
            <a:off x="6327648" y="1792224"/>
            <a:ext cx="2587752" cy="713232"/>
          </a:xfrm>
          <a:prstGeom prst="roundRect">
            <a:avLst>
              <a:gd name="adj" fmla="val 8974"/>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35" name="Text 30"/>
          <p:cNvSpPr/>
          <p:nvPr/>
        </p:nvSpPr>
        <p:spPr>
          <a:xfrm>
            <a:off x="6400800" y="1819656"/>
            <a:ext cx="2441448" cy="65836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Leber's Congenital Amaurosis: Luxturna (RPE65 gene) — first FDA approved in vivo gene therapy (2017)</a:t>
            </a:r>
            <a:endParaRPr lang="en-US" sz="950" dirty="0"/>
          </a:p>
        </p:txBody>
      </p:sp>
      <p:sp>
        <p:nvSpPr>
          <p:cNvPr id="36" name="Shape 31"/>
          <p:cNvSpPr/>
          <p:nvPr/>
        </p:nvSpPr>
        <p:spPr>
          <a:xfrm>
            <a:off x="6327648" y="2578608"/>
            <a:ext cx="2587752" cy="713232"/>
          </a:xfrm>
          <a:prstGeom prst="roundRect">
            <a:avLst>
              <a:gd name="adj" fmla="val 8974"/>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37" name="Text 32"/>
          <p:cNvSpPr/>
          <p:nvPr/>
        </p:nvSpPr>
        <p:spPr>
          <a:xfrm>
            <a:off x="6400800" y="2606040"/>
            <a:ext cx="2441448" cy="65836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Familial Hypercholesterolemia: PCSK9 silencing via siRNA (Inclisiran)</a:t>
            </a:r>
            <a:endParaRPr lang="en-US" sz="950" dirty="0"/>
          </a:p>
        </p:txBody>
      </p:sp>
      <p:sp>
        <p:nvSpPr>
          <p:cNvPr id="38" name="Shape 33"/>
          <p:cNvSpPr/>
          <p:nvPr/>
        </p:nvSpPr>
        <p:spPr>
          <a:xfrm>
            <a:off x="6327648" y="3364992"/>
            <a:ext cx="2587752" cy="713232"/>
          </a:xfrm>
          <a:prstGeom prst="roundRect">
            <a:avLst>
              <a:gd name="adj" fmla="val 8974"/>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39" name="Text 34"/>
          <p:cNvSpPr/>
          <p:nvPr/>
        </p:nvSpPr>
        <p:spPr>
          <a:xfrm>
            <a:off x="6400800" y="3392424"/>
            <a:ext cx="2441448" cy="65836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Lysosomal Storage Disorders: Enzyme replacement + gene therapy (Fabry, Gaucher)</a:t>
            </a:r>
            <a:endParaRPr lang="en-US" sz="950" dirty="0"/>
          </a:p>
        </p:txBody>
      </p:sp>
      <p:sp>
        <p:nvSpPr>
          <p:cNvPr id="40" name="Shape 35"/>
          <p:cNvSpPr/>
          <p:nvPr/>
        </p:nvSpPr>
        <p:spPr>
          <a:xfrm>
            <a:off x="6327648" y="4151376"/>
            <a:ext cx="2587752" cy="713232"/>
          </a:xfrm>
          <a:prstGeom prst="roundRect">
            <a:avLst>
              <a:gd name="adj" fmla="val 8974"/>
            </a:avLst>
          </a:prstGeom>
          <a:solidFill>
            <a:srgbClr val="FFFFFF"/>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41" name="Text 36"/>
          <p:cNvSpPr/>
          <p:nvPr/>
        </p:nvSpPr>
        <p:spPr>
          <a:xfrm>
            <a:off x="6400800" y="4178808"/>
            <a:ext cx="2441448" cy="65836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Transthyretin Amyloidosis: Patisiran (LNP-siRNA) — approved by FDA 2018</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342"/>
          </a:solidFill>
          <a:ln w="12700">
            <a:solidFill>
              <a:srgbClr val="0A2342"/>
            </a:solidFill>
            <a:prstDash val="solid"/>
          </a:ln>
        </p:spPr>
      </p:sp>
      <p:sp>
        <p:nvSpPr>
          <p:cNvPr id="3" name="Shape 1"/>
          <p:cNvSpPr/>
          <p:nvPr/>
        </p:nvSpPr>
        <p:spPr>
          <a:xfrm>
            <a:off x="8595360" y="137160"/>
            <a:ext cx="685800" cy="685800"/>
          </a:xfrm>
          <a:prstGeom prst="ellipse">
            <a:avLst/>
          </a:prstGeom>
          <a:solidFill>
            <a:srgbClr val="43A047"/>
          </a:solidFill>
          <a:ln w="12700">
            <a:solidFill>
              <a:srgbClr val="43A047"/>
            </a:solidFill>
            <a:prstDash val="solid"/>
          </a:ln>
        </p:spPr>
      </p:sp>
      <p:sp>
        <p:nvSpPr>
          <p:cNvPr id="4" name="Text 2"/>
          <p:cNvSpPr/>
          <p:nvPr/>
        </p:nvSpPr>
        <p:spPr>
          <a:xfrm>
            <a:off x="365760" y="91440"/>
            <a:ext cx="80467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Case Studies</a:t>
            </a:r>
            <a:endParaRPr lang="en-US" sz="2200" dirty="0"/>
          </a:p>
        </p:txBody>
      </p:sp>
      <p:sp>
        <p:nvSpPr>
          <p:cNvPr id="5" name="Text 3"/>
          <p:cNvSpPr/>
          <p:nvPr/>
        </p:nvSpPr>
        <p:spPr>
          <a:xfrm>
            <a:off x="365760" y="621792"/>
            <a:ext cx="8046720" cy="274320"/>
          </a:xfrm>
          <a:prstGeom prst="rect">
            <a:avLst/>
          </a:prstGeom>
          <a:noFill/>
          <a:ln/>
        </p:spPr>
        <p:txBody>
          <a:bodyPr wrap="square" lIns="0" tIns="0" rIns="0" bIns="0" rtlCol="0" anchor="ctr"/>
          <a:lstStyle/>
          <a:p>
            <a:pPr indent="0" marL="0">
              <a:buNone/>
            </a:pPr>
            <a:r>
              <a:rPr lang="en-US" sz="1100" i="1" dirty="0">
                <a:solidFill>
                  <a:srgbClr val="90CAF9"/>
                </a:solidFill>
                <a:latin typeface="Calibri" pitchFamily="34" charset="0"/>
                <a:ea typeface="Calibri" pitchFamily="34" charset="-122"/>
                <a:cs typeface="Calibri" pitchFamily="34" charset="-120"/>
              </a:rPr>
              <a:t>CRISPR in Clinical Practice — Real-World Breakthroughs</a:t>
            </a:r>
            <a:endParaRPr lang="en-US" sz="1100" dirty="0"/>
          </a:p>
        </p:txBody>
      </p:sp>
      <p:sp>
        <p:nvSpPr>
          <p:cNvPr id="6" name="Shape 4"/>
          <p:cNvSpPr/>
          <p:nvPr/>
        </p:nvSpPr>
        <p:spPr>
          <a:xfrm>
            <a:off x="274320" y="1078992"/>
            <a:ext cx="4206240" cy="1874520"/>
          </a:xfrm>
          <a:prstGeom prst="roundRect">
            <a:avLst>
              <a:gd name="adj" fmla="val 5854"/>
            </a:avLst>
          </a:prstGeom>
          <a:solidFill>
            <a:srgbClr val="FFFFFF"/>
          </a:solidFill>
          <a:ln w="12700">
            <a:solidFill>
              <a:srgbClr val="ECEFF1"/>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274320" y="1078992"/>
            <a:ext cx="4206240" cy="457200"/>
          </a:xfrm>
          <a:prstGeom prst="roundRect">
            <a:avLst>
              <a:gd name="adj" fmla="val 24000"/>
            </a:avLst>
          </a:prstGeom>
          <a:solidFill>
            <a:srgbClr val="C62828"/>
          </a:solidFill>
          <a:ln w="12700">
            <a:solidFill>
              <a:srgbClr val="C62828"/>
            </a:solidFill>
            <a:prstDash val="solid"/>
          </a:ln>
        </p:spPr>
      </p:sp>
      <p:pic>
        <p:nvPicPr>
          <p:cNvPr id="8" name="Image 0" descr="preencoded.png">    </p:cNvPr>
          <p:cNvPicPr>
            <a:picLocks noChangeAspect="1"/>
          </p:cNvPicPr>
          <p:nvPr/>
        </p:nvPicPr>
        <p:blipFill>
          <a:blip r:embed="rId1"/>
          <a:stretch>
            <a:fillRect/>
          </a:stretch>
        </p:blipFill>
        <p:spPr>
          <a:xfrm>
            <a:off x="384048" y="1115568"/>
            <a:ext cx="384048" cy="384048"/>
          </a:xfrm>
          <a:prstGeom prst="rect">
            <a:avLst/>
          </a:prstGeom>
        </p:spPr>
      </p:pic>
      <p:sp>
        <p:nvSpPr>
          <p:cNvPr id="9" name="Text 6"/>
          <p:cNvSpPr/>
          <p:nvPr/>
        </p:nvSpPr>
        <p:spPr>
          <a:xfrm>
            <a:off x="841248" y="1133856"/>
            <a:ext cx="3529584"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Sickle Cell Disease — Casgevy</a:t>
            </a:r>
            <a:endParaRPr lang="en-US" sz="1200" dirty="0"/>
          </a:p>
        </p:txBody>
      </p:sp>
      <p:sp>
        <p:nvSpPr>
          <p:cNvPr id="10" name="Text 7"/>
          <p:cNvSpPr/>
          <p:nvPr/>
        </p:nvSpPr>
        <p:spPr>
          <a:xfrm>
            <a:off x="384048" y="1600200"/>
            <a:ext cx="3977640" cy="24688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Cause: HBB gene mutation → misshapen red blood cells</a:t>
            </a:r>
            <a:endParaRPr lang="en-US" sz="950" dirty="0"/>
          </a:p>
        </p:txBody>
      </p:sp>
      <p:sp>
        <p:nvSpPr>
          <p:cNvPr id="11" name="Text 8"/>
          <p:cNvSpPr/>
          <p:nvPr/>
        </p:nvSpPr>
        <p:spPr>
          <a:xfrm>
            <a:off x="384048" y="1865376"/>
            <a:ext cx="3977640" cy="24688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Strategy: CRISPR edits BCL11A enhancer in HSCs → reactivates fetal hemoglobin (HbF)</a:t>
            </a:r>
            <a:endParaRPr lang="en-US" sz="950" dirty="0"/>
          </a:p>
        </p:txBody>
      </p:sp>
      <p:sp>
        <p:nvSpPr>
          <p:cNvPr id="12" name="Text 9"/>
          <p:cNvSpPr/>
          <p:nvPr/>
        </p:nvSpPr>
        <p:spPr>
          <a:xfrm>
            <a:off x="384048" y="2130552"/>
            <a:ext cx="3977640" cy="24688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Result: 29/29 patients had no vaso-occlusive crises at 12 months (NEJM 2023)</a:t>
            </a:r>
            <a:endParaRPr lang="en-US" sz="950" dirty="0"/>
          </a:p>
        </p:txBody>
      </p:sp>
      <p:sp>
        <p:nvSpPr>
          <p:cNvPr id="13" name="Text 10"/>
          <p:cNvSpPr/>
          <p:nvPr/>
        </p:nvSpPr>
        <p:spPr>
          <a:xfrm>
            <a:off x="384048" y="2395728"/>
            <a:ext cx="3977640" cy="24688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Status: FDA approved Casgevy (exa-cel) — December 2023</a:t>
            </a:r>
            <a:endParaRPr lang="en-US" sz="950" dirty="0"/>
          </a:p>
        </p:txBody>
      </p:sp>
      <p:sp>
        <p:nvSpPr>
          <p:cNvPr id="14" name="Text 11"/>
          <p:cNvSpPr/>
          <p:nvPr/>
        </p:nvSpPr>
        <p:spPr>
          <a:xfrm>
            <a:off x="384048" y="2660904"/>
            <a:ext cx="3977640" cy="24688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Significance: First CRISPR therapeutic approved globally</a:t>
            </a:r>
            <a:endParaRPr lang="en-US" sz="950" dirty="0"/>
          </a:p>
        </p:txBody>
      </p:sp>
      <p:sp>
        <p:nvSpPr>
          <p:cNvPr id="15" name="Shape 12"/>
          <p:cNvSpPr/>
          <p:nvPr/>
        </p:nvSpPr>
        <p:spPr>
          <a:xfrm>
            <a:off x="4663440" y="1078992"/>
            <a:ext cx="4206240" cy="1874520"/>
          </a:xfrm>
          <a:prstGeom prst="roundRect">
            <a:avLst>
              <a:gd name="adj" fmla="val 5854"/>
            </a:avLst>
          </a:prstGeom>
          <a:solidFill>
            <a:srgbClr val="FFFFFF"/>
          </a:solidFill>
          <a:ln w="12700">
            <a:solidFill>
              <a:srgbClr val="ECEFF1"/>
            </a:solidFill>
            <a:prstDash val="solid"/>
          </a:ln>
          <a:effectLst>
            <a:outerShdw sx="100000" sy="100000" kx="0" ky="0" algn="bl" rotWithShape="0" blurRad="101600" dist="38100" dir="2700000">
              <a:srgbClr val="000000">
                <a:alpha val="12000"/>
              </a:srgbClr>
            </a:outerShdw>
          </a:effectLst>
        </p:spPr>
      </p:sp>
      <p:sp>
        <p:nvSpPr>
          <p:cNvPr id="16" name="Shape 13"/>
          <p:cNvSpPr/>
          <p:nvPr/>
        </p:nvSpPr>
        <p:spPr>
          <a:xfrm>
            <a:off x="4663440" y="1078992"/>
            <a:ext cx="4206240" cy="457200"/>
          </a:xfrm>
          <a:prstGeom prst="roundRect">
            <a:avLst>
              <a:gd name="adj" fmla="val 24000"/>
            </a:avLst>
          </a:prstGeom>
          <a:solidFill>
            <a:srgbClr val="1565C0"/>
          </a:solidFill>
          <a:ln w="12700">
            <a:solidFill>
              <a:srgbClr val="1565C0"/>
            </a:solidFill>
            <a:prstDash val="solid"/>
          </a:ln>
        </p:spPr>
      </p:sp>
      <p:pic>
        <p:nvPicPr>
          <p:cNvPr id="17" name="Image 1" descr="preencoded.png">    </p:cNvPr>
          <p:cNvPicPr>
            <a:picLocks noChangeAspect="1"/>
          </p:cNvPicPr>
          <p:nvPr/>
        </p:nvPicPr>
        <p:blipFill>
          <a:blip r:embed="rId2"/>
          <a:stretch>
            <a:fillRect/>
          </a:stretch>
        </p:blipFill>
        <p:spPr>
          <a:xfrm>
            <a:off x="4773168" y="1115568"/>
            <a:ext cx="384048" cy="384048"/>
          </a:xfrm>
          <a:prstGeom prst="rect">
            <a:avLst/>
          </a:prstGeom>
        </p:spPr>
      </p:pic>
      <p:sp>
        <p:nvSpPr>
          <p:cNvPr id="18" name="Text 14"/>
          <p:cNvSpPr/>
          <p:nvPr/>
        </p:nvSpPr>
        <p:spPr>
          <a:xfrm>
            <a:off x="5230368" y="1133856"/>
            <a:ext cx="3529584"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β-Thalassemia — Casgevy &amp; Lyfgenia</a:t>
            </a:r>
            <a:endParaRPr lang="en-US" sz="1200" dirty="0"/>
          </a:p>
        </p:txBody>
      </p:sp>
      <p:sp>
        <p:nvSpPr>
          <p:cNvPr id="19" name="Text 15"/>
          <p:cNvSpPr/>
          <p:nvPr/>
        </p:nvSpPr>
        <p:spPr>
          <a:xfrm>
            <a:off x="4773168" y="1600200"/>
            <a:ext cx="3977640" cy="24688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Cause: Mutations in HBB → insufficient β-globin → severe anemia</a:t>
            </a:r>
            <a:endParaRPr lang="en-US" sz="950" dirty="0"/>
          </a:p>
        </p:txBody>
      </p:sp>
      <p:sp>
        <p:nvSpPr>
          <p:cNvPr id="20" name="Text 16"/>
          <p:cNvSpPr/>
          <p:nvPr/>
        </p:nvSpPr>
        <p:spPr>
          <a:xfrm>
            <a:off x="4773168" y="1865376"/>
            <a:ext cx="3977640" cy="24688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Strategy: Same BCL11A approach + also lentiviral HBB gene addition (Lyfgenia)</a:t>
            </a:r>
            <a:endParaRPr lang="en-US" sz="950" dirty="0"/>
          </a:p>
        </p:txBody>
      </p:sp>
      <p:sp>
        <p:nvSpPr>
          <p:cNvPr id="21" name="Text 17"/>
          <p:cNvSpPr/>
          <p:nvPr/>
        </p:nvSpPr>
        <p:spPr>
          <a:xfrm>
            <a:off x="4773168" y="2130552"/>
            <a:ext cx="3977640" cy="24688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Result: 39/42 patients transfusion-independent at 12 months (NEJM 2021)</a:t>
            </a:r>
            <a:endParaRPr lang="en-US" sz="950" dirty="0"/>
          </a:p>
        </p:txBody>
      </p:sp>
      <p:sp>
        <p:nvSpPr>
          <p:cNvPr id="22" name="Text 18"/>
          <p:cNvSpPr/>
          <p:nvPr/>
        </p:nvSpPr>
        <p:spPr>
          <a:xfrm>
            <a:off x="4773168" y="2395728"/>
            <a:ext cx="3977640" cy="24688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Status: Casgevy approved for β-thal (Dec 2023); Lyfgenia for SCD (Dec 2023)</a:t>
            </a:r>
            <a:endParaRPr lang="en-US" sz="950" dirty="0"/>
          </a:p>
        </p:txBody>
      </p:sp>
      <p:sp>
        <p:nvSpPr>
          <p:cNvPr id="23" name="Text 19"/>
          <p:cNvSpPr/>
          <p:nvPr/>
        </p:nvSpPr>
        <p:spPr>
          <a:xfrm>
            <a:off x="4773168" y="2660904"/>
            <a:ext cx="3977640" cy="24688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Global impact: 300,000+ births/year with hemoglobin disorders worldwide</a:t>
            </a:r>
            <a:endParaRPr lang="en-US" sz="950" dirty="0"/>
          </a:p>
        </p:txBody>
      </p:sp>
      <p:sp>
        <p:nvSpPr>
          <p:cNvPr id="24" name="Shape 20"/>
          <p:cNvSpPr/>
          <p:nvPr/>
        </p:nvSpPr>
        <p:spPr>
          <a:xfrm>
            <a:off x="274320" y="3063240"/>
            <a:ext cx="8595360" cy="1901952"/>
          </a:xfrm>
          <a:prstGeom prst="roundRect">
            <a:avLst>
              <a:gd name="adj" fmla="val 4808"/>
            </a:avLst>
          </a:prstGeom>
          <a:solidFill>
            <a:srgbClr val="E8F5E9"/>
          </a:solidFill>
          <a:ln w="12700">
            <a:solidFill>
              <a:srgbClr val="C8E6C9"/>
            </a:solidFill>
            <a:prstDash val="solid"/>
          </a:ln>
          <a:effectLst>
            <a:outerShdw sx="100000" sy="100000" kx="0" ky="0" algn="bl" rotWithShape="0" blurRad="76200" dist="25400" dir="2700000">
              <a:srgbClr val="000000">
                <a:alpha val="9000"/>
              </a:srgbClr>
            </a:outerShdw>
          </a:effectLst>
        </p:spPr>
      </p:sp>
      <p:sp>
        <p:nvSpPr>
          <p:cNvPr id="25" name="Text 21"/>
          <p:cNvSpPr/>
          <p:nvPr/>
        </p:nvSpPr>
        <p:spPr>
          <a:xfrm>
            <a:off x="411480" y="3099816"/>
            <a:ext cx="8229600" cy="274320"/>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Selected FDA/EMA-Approved Gene Therapies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47472" y="3401568"/>
          <a:ext cx="8430768" cy="1481328"/>
        </p:xfrm>
        <a:graphic>
          <a:graphicData uri="http://schemas.openxmlformats.org/drawingml/2006/table">
            <a:tbl>
              <a:tblPr/>
              <a:tblGrid>
                <a:gridCol w="1828800"/>
                <a:gridCol w="1828800"/>
                <a:gridCol w="2377440"/>
                <a:gridCol w="1371600"/>
              </a:tblGrid>
              <a:tr h="237744">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Therapy</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Disease</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Mechanism</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Approval</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r>
              <a:tr h="237744">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Luxturna</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RPE65 Blindness</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AAV2-RPE65</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FDA 2017</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r>
              <a:tr h="237744">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Zolgensma</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SMA Type 1</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AAV9-SMN1</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FDA 2019</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r>
              <a:tr h="237744">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Casgevy</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SCD / β-Thal</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CRISPR-BCL11A</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FDA 2023</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r>
              <a:tr h="237744">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Lyfgenia</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Sickle Cell</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Lentiviral-HBB</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FDA 2023</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r>
              <a:tr h="237744">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Skysona</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CALD</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Lentiviral-ABCD1</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c>
                  <a:txBody>
                    <a:bodyPr/>
                    <a:lstStyle/>
                    <a:p>
                      <a:pPr indent="0" marL="0">
                        <a:buNone/>
                      </a:pPr>
                      <a:r>
                        <a:rPr lang="en-US" sz="950" dirty="0">
                          <a:solidFill>
                            <a:srgbClr val="37474F"/>
                          </a:solidFill>
                          <a:latin typeface="Calibri" pitchFamily="34" charset="0"/>
                          <a:ea typeface="Calibri" pitchFamily="34" charset="-122"/>
                          <a:cs typeface="Calibri" pitchFamily="34" charset="-120"/>
                        </a:rPr>
                        <a:t>FDA 2022</a:t>
                      </a:r>
                      <a:endParaRPr lang="en-US" sz="950" dirty="0">
                        <a:latin typeface="Calibri" charset="0"/>
                        <a:ea typeface="Calibri" charset="0"/>
                        <a:cs typeface="Calibri" charset="0"/>
                      </a:endParaRPr>
                    </a:p>
                  </a:txBody>
                  <a:tcPr marL="91440" marR="91440" marT="45720" marB="45720">
                    <a:lnL w="6350" cap="flat" cmpd="sng" algn="ctr">
                      <a:solidFill>
                        <a:srgbClr val="C8E6C9"/>
                      </a:solidFill>
                      <a:prstDash val="solid"/>
                      <a:round/>
                      <a:headEnd type="none" w="med" len="med"/>
                      <a:tailEnd type="none" w="med" len="med"/>
                    </a:lnL>
                    <a:lnR w="6350" cap="flat" cmpd="sng" algn="ctr">
                      <a:solidFill>
                        <a:srgbClr val="C8E6C9"/>
                      </a:solidFill>
                      <a:prstDash val="solid"/>
                      <a:round/>
                      <a:headEnd type="none" w="med" len="med"/>
                      <a:tailEnd type="none" w="med" len="med"/>
                    </a:lnR>
                    <a:lnT w="6350" cap="flat" cmpd="sng" algn="ctr">
                      <a:solidFill>
                        <a:srgbClr val="C8E6C9"/>
                      </a:solidFill>
                      <a:prstDash val="solid"/>
                      <a:round/>
                      <a:headEnd type="none" w="med" len="med"/>
                      <a:tailEnd type="none" w="med" len="med"/>
                    </a:lnT>
                    <a:lnB w="6350" cap="flat" cmpd="sng" algn="ctr">
                      <a:solidFill>
                        <a:srgbClr val="C8E6C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342"/>
          </a:solidFill>
          <a:ln w="12700">
            <a:solidFill>
              <a:srgbClr val="0A2342"/>
            </a:solidFill>
            <a:prstDash val="solid"/>
          </a:ln>
        </p:spPr>
      </p:sp>
      <p:sp>
        <p:nvSpPr>
          <p:cNvPr id="3" name="Shape 1"/>
          <p:cNvSpPr/>
          <p:nvPr/>
        </p:nvSpPr>
        <p:spPr>
          <a:xfrm>
            <a:off x="8595360" y="137160"/>
            <a:ext cx="685800" cy="685800"/>
          </a:xfrm>
          <a:prstGeom prst="ellipse">
            <a:avLst/>
          </a:prstGeom>
          <a:solidFill>
            <a:srgbClr val="43A047"/>
          </a:solidFill>
          <a:ln w="12700">
            <a:solidFill>
              <a:srgbClr val="43A047"/>
            </a:solidFill>
            <a:prstDash val="solid"/>
          </a:ln>
        </p:spPr>
      </p:sp>
      <p:sp>
        <p:nvSpPr>
          <p:cNvPr id="4" name="Text 2"/>
          <p:cNvSpPr/>
          <p:nvPr/>
        </p:nvSpPr>
        <p:spPr>
          <a:xfrm>
            <a:off x="365760" y="91440"/>
            <a:ext cx="80467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Ethical, Social &amp; Regulatory Issues</a:t>
            </a:r>
            <a:endParaRPr lang="en-US" sz="2200" dirty="0"/>
          </a:p>
        </p:txBody>
      </p:sp>
      <p:sp>
        <p:nvSpPr>
          <p:cNvPr id="5" name="Text 3"/>
          <p:cNvSpPr/>
          <p:nvPr/>
        </p:nvSpPr>
        <p:spPr>
          <a:xfrm>
            <a:off x="365760" y="621792"/>
            <a:ext cx="8046720" cy="274320"/>
          </a:xfrm>
          <a:prstGeom prst="rect">
            <a:avLst/>
          </a:prstGeom>
          <a:noFill/>
          <a:ln/>
        </p:spPr>
        <p:txBody>
          <a:bodyPr wrap="square" lIns="0" tIns="0" rIns="0" bIns="0" rtlCol="0" anchor="ctr"/>
          <a:lstStyle/>
          <a:p>
            <a:pPr indent="0" marL="0">
              <a:buNone/>
            </a:pPr>
            <a:r>
              <a:rPr lang="en-US" sz="1100" i="1" dirty="0">
                <a:solidFill>
                  <a:srgbClr val="90CAF9"/>
                </a:solidFill>
                <a:latin typeface="Calibri" pitchFamily="34" charset="0"/>
                <a:ea typeface="Calibri" pitchFamily="34" charset="-122"/>
                <a:cs typeface="Calibri" pitchFamily="34" charset="-120"/>
              </a:rPr>
              <a:t>Navigating the Moral Landscape of Gene Editing</a:t>
            </a:r>
            <a:endParaRPr lang="en-US" sz="1100" dirty="0"/>
          </a:p>
        </p:txBody>
      </p:sp>
      <p:sp>
        <p:nvSpPr>
          <p:cNvPr id="6" name="Shape 4"/>
          <p:cNvSpPr/>
          <p:nvPr/>
        </p:nvSpPr>
        <p:spPr>
          <a:xfrm>
            <a:off x="274320" y="1078992"/>
            <a:ext cx="4160520" cy="1783080"/>
          </a:xfrm>
          <a:prstGeom prst="roundRect">
            <a:avLst>
              <a:gd name="adj" fmla="val 6154"/>
            </a:avLst>
          </a:prstGeom>
          <a:solidFill>
            <a:srgbClr val="E3F2FD"/>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7" name="Shape 5"/>
          <p:cNvSpPr/>
          <p:nvPr/>
        </p:nvSpPr>
        <p:spPr>
          <a:xfrm>
            <a:off x="365760" y="1170432"/>
            <a:ext cx="475488" cy="475488"/>
          </a:xfrm>
          <a:prstGeom prst="ellipse">
            <a:avLst/>
          </a:prstGeom>
          <a:solidFill>
            <a:srgbClr val="0A2342"/>
          </a:solidFill>
          <a:ln w="12700">
            <a:solidFill>
              <a:srgbClr val="0A2342"/>
            </a:solidFill>
            <a:prstDash val="solid"/>
          </a:ln>
        </p:spPr>
      </p:sp>
      <p:pic>
        <p:nvPicPr>
          <p:cNvPr id="8" name="Image 0" descr="preencoded.png">    </p:cNvPr>
          <p:cNvPicPr>
            <a:picLocks noChangeAspect="1"/>
          </p:cNvPicPr>
          <p:nvPr/>
        </p:nvPicPr>
        <p:blipFill>
          <a:blip r:embed="rId1"/>
          <a:stretch>
            <a:fillRect/>
          </a:stretch>
        </p:blipFill>
        <p:spPr>
          <a:xfrm>
            <a:off x="402336" y="1207008"/>
            <a:ext cx="402336" cy="402336"/>
          </a:xfrm>
          <a:prstGeom prst="rect">
            <a:avLst/>
          </a:prstGeom>
        </p:spPr>
      </p:pic>
      <p:sp>
        <p:nvSpPr>
          <p:cNvPr id="9" name="Text 6"/>
          <p:cNvSpPr/>
          <p:nvPr/>
        </p:nvSpPr>
        <p:spPr>
          <a:xfrm>
            <a:off x="932688" y="1207008"/>
            <a:ext cx="3383280" cy="329184"/>
          </a:xfrm>
          <a:prstGeom prst="rect">
            <a:avLst/>
          </a:prstGeom>
          <a:noFill/>
          <a:ln/>
        </p:spPr>
        <p:txBody>
          <a:bodyPr wrap="square" lIns="0" tIns="0" rIns="0" bIns="0"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Ethical Concerns</a:t>
            </a:r>
            <a:endParaRPr lang="en-US" sz="1300" dirty="0"/>
          </a:p>
        </p:txBody>
      </p:sp>
      <p:sp>
        <p:nvSpPr>
          <p:cNvPr id="10" name="Text 7"/>
          <p:cNvSpPr/>
          <p:nvPr/>
        </p:nvSpPr>
        <p:spPr>
          <a:xfrm>
            <a:off x="411480" y="1627632"/>
            <a:ext cx="3931920" cy="283464"/>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Germline editing: permanent heritable changes without future consent</a:t>
            </a:r>
            <a:endParaRPr lang="en-US" sz="950" dirty="0"/>
          </a:p>
        </p:txBody>
      </p:sp>
      <p:sp>
        <p:nvSpPr>
          <p:cNvPr id="11" name="Text 8"/>
          <p:cNvSpPr/>
          <p:nvPr/>
        </p:nvSpPr>
        <p:spPr>
          <a:xfrm>
            <a:off x="411480" y="1929384"/>
            <a:ext cx="3931920" cy="283464"/>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'Designer babies': selecting traits beyond disease (intelligence, height)</a:t>
            </a:r>
            <a:endParaRPr lang="en-US" sz="950" dirty="0"/>
          </a:p>
        </p:txBody>
      </p:sp>
      <p:sp>
        <p:nvSpPr>
          <p:cNvPr id="12" name="Text 9"/>
          <p:cNvSpPr/>
          <p:nvPr/>
        </p:nvSpPr>
        <p:spPr>
          <a:xfrm>
            <a:off x="411480" y="2231136"/>
            <a:ext cx="3931920" cy="283464"/>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He Jiankui affair (2018): unauthorized editing of human embryos — criminal conviction</a:t>
            </a:r>
            <a:endParaRPr lang="en-US" sz="950" dirty="0"/>
          </a:p>
        </p:txBody>
      </p:sp>
      <p:sp>
        <p:nvSpPr>
          <p:cNvPr id="13" name="Text 10"/>
          <p:cNvSpPr/>
          <p:nvPr/>
        </p:nvSpPr>
        <p:spPr>
          <a:xfrm>
            <a:off x="411480" y="2532888"/>
            <a:ext cx="3931920" cy="283464"/>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Eugenics concerns: risk of genetic discrimination</a:t>
            </a:r>
            <a:endParaRPr lang="en-US" sz="950" dirty="0"/>
          </a:p>
        </p:txBody>
      </p:sp>
      <p:sp>
        <p:nvSpPr>
          <p:cNvPr id="14" name="Shape 11"/>
          <p:cNvSpPr/>
          <p:nvPr/>
        </p:nvSpPr>
        <p:spPr>
          <a:xfrm>
            <a:off x="4709160" y="1078992"/>
            <a:ext cx="4160520" cy="1783080"/>
          </a:xfrm>
          <a:prstGeom prst="roundRect">
            <a:avLst>
              <a:gd name="adj" fmla="val 6154"/>
            </a:avLst>
          </a:prstGeom>
          <a:solidFill>
            <a:srgbClr val="FFF3E0"/>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15" name="Shape 12"/>
          <p:cNvSpPr/>
          <p:nvPr/>
        </p:nvSpPr>
        <p:spPr>
          <a:xfrm>
            <a:off x="4800600" y="1170432"/>
            <a:ext cx="475488" cy="475488"/>
          </a:xfrm>
          <a:prstGeom prst="ellipse">
            <a:avLst/>
          </a:prstGeom>
          <a:solidFill>
            <a:srgbClr val="E65100"/>
          </a:solidFill>
          <a:ln w="12700">
            <a:solidFill>
              <a:srgbClr val="E65100"/>
            </a:solidFill>
            <a:prstDash val="solid"/>
          </a:ln>
        </p:spPr>
      </p:sp>
      <p:pic>
        <p:nvPicPr>
          <p:cNvPr id="16" name="Image 1" descr="preencoded.png">    </p:cNvPr>
          <p:cNvPicPr>
            <a:picLocks noChangeAspect="1"/>
          </p:cNvPicPr>
          <p:nvPr/>
        </p:nvPicPr>
        <p:blipFill>
          <a:blip r:embed="rId2"/>
          <a:stretch>
            <a:fillRect/>
          </a:stretch>
        </p:blipFill>
        <p:spPr>
          <a:xfrm>
            <a:off x="4837176" y="1207008"/>
            <a:ext cx="402336" cy="402336"/>
          </a:xfrm>
          <a:prstGeom prst="rect">
            <a:avLst/>
          </a:prstGeom>
        </p:spPr>
      </p:pic>
      <p:sp>
        <p:nvSpPr>
          <p:cNvPr id="17" name="Text 13"/>
          <p:cNvSpPr/>
          <p:nvPr/>
        </p:nvSpPr>
        <p:spPr>
          <a:xfrm>
            <a:off x="5367528" y="1207008"/>
            <a:ext cx="3383280" cy="329184"/>
          </a:xfrm>
          <a:prstGeom prst="rect">
            <a:avLst/>
          </a:prstGeom>
          <a:noFill/>
          <a:ln/>
        </p:spPr>
        <p:txBody>
          <a:bodyPr wrap="square" lIns="0" tIns="0" rIns="0" bIns="0" rtlCol="0" anchor="ctr"/>
          <a:lstStyle/>
          <a:p>
            <a:pPr indent="0" marL="0">
              <a:buNone/>
            </a:pPr>
            <a:r>
              <a:rPr lang="en-US" sz="1300" b="1" dirty="0">
                <a:solidFill>
                  <a:srgbClr val="E65100"/>
                </a:solidFill>
                <a:latin typeface="Calibri" pitchFamily="34" charset="0"/>
                <a:ea typeface="Calibri" pitchFamily="34" charset="-122"/>
                <a:cs typeface="Calibri" pitchFamily="34" charset="-120"/>
              </a:rPr>
              <a:t>Social Justice Issues</a:t>
            </a:r>
            <a:endParaRPr lang="en-US" sz="1300" dirty="0"/>
          </a:p>
        </p:txBody>
      </p:sp>
      <p:sp>
        <p:nvSpPr>
          <p:cNvPr id="18" name="Text 14"/>
          <p:cNvSpPr/>
          <p:nvPr/>
        </p:nvSpPr>
        <p:spPr>
          <a:xfrm>
            <a:off x="4846320" y="1627632"/>
            <a:ext cx="3931920" cy="283464"/>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Access inequality: gene therapies cost $1–3 million — unaffordable in LMICs</a:t>
            </a:r>
            <a:endParaRPr lang="en-US" sz="950" dirty="0"/>
          </a:p>
        </p:txBody>
      </p:sp>
      <p:sp>
        <p:nvSpPr>
          <p:cNvPr id="19" name="Text 15"/>
          <p:cNvSpPr/>
          <p:nvPr/>
        </p:nvSpPr>
        <p:spPr>
          <a:xfrm>
            <a:off x="4846320" y="1929384"/>
            <a:ext cx="3931920" cy="283464"/>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Benefit distribution: wealthy nations dominate R&amp;D and access</a:t>
            </a:r>
            <a:endParaRPr lang="en-US" sz="950" dirty="0"/>
          </a:p>
        </p:txBody>
      </p:sp>
      <p:sp>
        <p:nvSpPr>
          <p:cNvPr id="20" name="Text 16"/>
          <p:cNvSpPr/>
          <p:nvPr/>
        </p:nvSpPr>
        <p:spPr>
          <a:xfrm>
            <a:off x="4846320" y="2231136"/>
            <a:ext cx="3931920" cy="283464"/>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Agricultural GMO acceptance varies globally (EU bans vs US permits)</a:t>
            </a:r>
            <a:endParaRPr lang="en-US" sz="950" dirty="0"/>
          </a:p>
        </p:txBody>
      </p:sp>
      <p:sp>
        <p:nvSpPr>
          <p:cNvPr id="21" name="Text 17"/>
          <p:cNvSpPr/>
          <p:nvPr/>
        </p:nvSpPr>
        <p:spPr>
          <a:xfrm>
            <a:off x="4846320" y="2532888"/>
            <a:ext cx="3931920" cy="283464"/>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Biopiracy: patenting genes derived from indigenous/traditional knowledge</a:t>
            </a:r>
            <a:endParaRPr lang="en-US" sz="950" dirty="0"/>
          </a:p>
        </p:txBody>
      </p:sp>
      <p:sp>
        <p:nvSpPr>
          <p:cNvPr id="22" name="Shape 18"/>
          <p:cNvSpPr/>
          <p:nvPr/>
        </p:nvSpPr>
        <p:spPr>
          <a:xfrm>
            <a:off x="274320" y="3044952"/>
            <a:ext cx="4160520" cy="1783080"/>
          </a:xfrm>
          <a:prstGeom prst="roundRect">
            <a:avLst>
              <a:gd name="adj" fmla="val 6154"/>
            </a:avLst>
          </a:prstGeom>
          <a:solidFill>
            <a:srgbClr val="FFEBEE"/>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23" name="Shape 19"/>
          <p:cNvSpPr/>
          <p:nvPr/>
        </p:nvSpPr>
        <p:spPr>
          <a:xfrm>
            <a:off x="365760" y="3136392"/>
            <a:ext cx="475488" cy="475488"/>
          </a:xfrm>
          <a:prstGeom prst="ellipse">
            <a:avLst/>
          </a:prstGeom>
          <a:solidFill>
            <a:srgbClr val="C62828"/>
          </a:solidFill>
          <a:ln w="12700">
            <a:solidFill>
              <a:srgbClr val="C62828"/>
            </a:solidFill>
            <a:prstDash val="solid"/>
          </a:ln>
        </p:spPr>
      </p:sp>
      <p:pic>
        <p:nvPicPr>
          <p:cNvPr id="24" name="Image 2" descr="preencoded.png">    </p:cNvPr>
          <p:cNvPicPr>
            <a:picLocks noChangeAspect="1"/>
          </p:cNvPicPr>
          <p:nvPr/>
        </p:nvPicPr>
        <p:blipFill>
          <a:blip r:embed="rId3"/>
          <a:stretch>
            <a:fillRect/>
          </a:stretch>
        </p:blipFill>
        <p:spPr>
          <a:xfrm>
            <a:off x="402336" y="3172968"/>
            <a:ext cx="402336" cy="402336"/>
          </a:xfrm>
          <a:prstGeom prst="rect">
            <a:avLst/>
          </a:prstGeom>
        </p:spPr>
      </p:pic>
      <p:sp>
        <p:nvSpPr>
          <p:cNvPr id="25" name="Text 20"/>
          <p:cNvSpPr/>
          <p:nvPr/>
        </p:nvSpPr>
        <p:spPr>
          <a:xfrm>
            <a:off x="932688" y="3172968"/>
            <a:ext cx="3383280" cy="329184"/>
          </a:xfrm>
          <a:prstGeom prst="rect">
            <a:avLst/>
          </a:prstGeom>
          <a:noFill/>
          <a:ln/>
        </p:spPr>
        <p:txBody>
          <a:bodyPr wrap="square" lIns="0" tIns="0" rIns="0" bIns="0" rtlCol="0" anchor="ctr"/>
          <a:lstStyle/>
          <a:p>
            <a:pPr indent="0" marL="0">
              <a:buNone/>
            </a:pPr>
            <a:r>
              <a:rPr lang="en-US" sz="1300" b="1" dirty="0">
                <a:solidFill>
                  <a:srgbClr val="C62828"/>
                </a:solidFill>
                <a:latin typeface="Calibri" pitchFamily="34" charset="0"/>
                <a:ea typeface="Calibri" pitchFamily="34" charset="-122"/>
                <a:cs typeface="Calibri" pitchFamily="34" charset="-120"/>
              </a:rPr>
              <a:t>Biosafety Risks</a:t>
            </a:r>
            <a:endParaRPr lang="en-US" sz="1300" dirty="0"/>
          </a:p>
        </p:txBody>
      </p:sp>
      <p:sp>
        <p:nvSpPr>
          <p:cNvPr id="26" name="Text 21"/>
          <p:cNvSpPr/>
          <p:nvPr/>
        </p:nvSpPr>
        <p:spPr>
          <a:xfrm>
            <a:off x="411480" y="3593592"/>
            <a:ext cx="3931920" cy="283464"/>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Off-target edits: unintended mutations with oncogenic potential</a:t>
            </a:r>
            <a:endParaRPr lang="en-US" sz="950" dirty="0"/>
          </a:p>
        </p:txBody>
      </p:sp>
      <p:sp>
        <p:nvSpPr>
          <p:cNvPr id="27" name="Text 22"/>
          <p:cNvSpPr/>
          <p:nvPr/>
        </p:nvSpPr>
        <p:spPr>
          <a:xfrm>
            <a:off x="411480" y="3895344"/>
            <a:ext cx="3931920" cy="283464"/>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Gene drive technology could permanently alter wild ecosystems</a:t>
            </a:r>
            <a:endParaRPr lang="en-US" sz="950" dirty="0"/>
          </a:p>
        </p:txBody>
      </p:sp>
      <p:sp>
        <p:nvSpPr>
          <p:cNvPr id="28" name="Text 23"/>
          <p:cNvSpPr/>
          <p:nvPr/>
        </p:nvSpPr>
        <p:spPr>
          <a:xfrm>
            <a:off x="411480" y="4197096"/>
            <a:ext cx="3931920" cy="283464"/>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Dual-use research: same tools can be weaponized (bioweapons risk)</a:t>
            </a:r>
            <a:endParaRPr lang="en-US" sz="950" dirty="0"/>
          </a:p>
        </p:txBody>
      </p:sp>
      <p:sp>
        <p:nvSpPr>
          <p:cNvPr id="29" name="Text 24"/>
          <p:cNvSpPr/>
          <p:nvPr/>
        </p:nvSpPr>
        <p:spPr>
          <a:xfrm>
            <a:off x="411480" y="4498848"/>
            <a:ext cx="3931920" cy="283464"/>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Immune reactions to viral vectors in gene therapy patients</a:t>
            </a:r>
            <a:endParaRPr lang="en-US" sz="950" dirty="0"/>
          </a:p>
        </p:txBody>
      </p:sp>
      <p:sp>
        <p:nvSpPr>
          <p:cNvPr id="30" name="Shape 25"/>
          <p:cNvSpPr/>
          <p:nvPr/>
        </p:nvSpPr>
        <p:spPr>
          <a:xfrm>
            <a:off x="4709160" y="3044952"/>
            <a:ext cx="4160520" cy="1783080"/>
          </a:xfrm>
          <a:prstGeom prst="roundRect">
            <a:avLst>
              <a:gd name="adj" fmla="val 6154"/>
            </a:avLst>
          </a:prstGeom>
          <a:solidFill>
            <a:srgbClr val="EDE7F6"/>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31" name="Shape 26"/>
          <p:cNvSpPr/>
          <p:nvPr/>
        </p:nvSpPr>
        <p:spPr>
          <a:xfrm>
            <a:off x="4800600" y="3136392"/>
            <a:ext cx="475488" cy="475488"/>
          </a:xfrm>
          <a:prstGeom prst="ellipse">
            <a:avLst/>
          </a:prstGeom>
          <a:solidFill>
            <a:srgbClr val="4A148C"/>
          </a:solidFill>
          <a:ln w="12700">
            <a:solidFill>
              <a:srgbClr val="4A148C"/>
            </a:solidFill>
            <a:prstDash val="solid"/>
          </a:ln>
        </p:spPr>
      </p:sp>
      <p:pic>
        <p:nvPicPr>
          <p:cNvPr id="32" name="Image 3" descr="preencoded.png">    </p:cNvPr>
          <p:cNvPicPr>
            <a:picLocks noChangeAspect="1"/>
          </p:cNvPicPr>
          <p:nvPr/>
        </p:nvPicPr>
        <p:blipFill>
          <a:blip r:embed="rId4"/>
          <a:stretch>
            <a:fillRect/>
          </a:stretch>
        </p:blipFill>
        <p:spPr>
          <a:xfrm>
            <a:off x="4837176" y="3172968"/>
            <a:ext cx="402336" cy="402336"/>
          </a:xfrm>
          <a:prstGeom prst="rect">
            <a:avLst/>
          </a:prstGeom>
        </p:spPr>
      </p:pic>
      <p:sp>
        <p:nvSpPr>
          <p:cNvPr id="33" name="Text 27"/>
          <p:cNvSpPr/>
          <p:nvPr/>
        </p:nvSpPr>
        <p:spPr>
          <a:xfrm>
            <a:off x="5367528" y="3172968"/>
            <a:ext cx="3383280" cy="329184"/>
          </a:xfrm>
          <a:prstGeom prst="rect">
            <a:avLst/>
          </a:prstGeom>
          <a:noFill/>
          <a:ln/>
        </p:spPr>
        <p:txBody>
          <a:bodyPr wrap="square" lIns="0" tIns="0" rIns="0" bIns="0" rtlCol="0" anchor="ctr"/>
          <a:lstStyle/>
          <a:p>
            <a:pPr indent="0" marL="0">
              <a:buNone/>
            </a:pPr>
            <a:r>
              <a:rPr lang="en-US" sz="1300" b="1" dirty="0">
                <a:solidFill>
                  <a:srgbClr val="4A148C"/>
                </a:solidFill>
                <a:latin typeface="Calibri" pitchFamily="34" charset="0"/>
                <a:ea typeface="Calibri" pitchFamily="34" charset="-122"/>
                <a:cs typeface="Calibri" pitchFamily="34" charset="-120"/>
              </a:rPr>
              <a:t>Regulatory Frameworks</a:t>
            </a:r>
            <a:endParaRPr lang="en-US" sz="1300" dirty="0"/>
          </a:p>
        </p:txBody>
      </p:sp>
      <p:sp>
        <p:nvSpPr>
          <p:cNvPr id="34" name="Text 28"/>
          <p:cNvSpPr/>
          <p:nvPr/>
        </p:nvSpPr>
        <p:spPr>
          <a:xfrm>
            <a:off x="4846320" y="3593592"/>
            <a:ext cx="3931920" cy="283464"/>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FDA: 21 CFR Part 312 — IND requirement for gene therapy trials</a:t>
            </a:r>
            <a:endParaRPr lang="en-US" sz="950" dirty="0"/>
          </a:p>
        </p:txBody>
      </p:sp>
      <p:sp>
        <p:nvSpPr>
          <p:cNvPr id="35" name="Text 29"/>
          <p:cNvSpPr/>
          <p:nvPr/>
        </p:nvSpPr>
        <p:spPr>
          <a:xfrm>
            <a:off x="4846320" y="3895344"/>
            <a:ext cx="3931920" cy="283464"/>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EMA: Advanced Therapy Medicinal Products (ATMP) regulation</a:t>
            </a:r>
            <a:endParaRPr lang="en-US" sz="950" dirty="0"/>
          </a:p>
        </p:txBody>
      </p:sp>
      <p:sp>
        <p:nvSpPr>
          <p:cNvPr id="36" name="Text 30"/>
          <p:cNvSpPr/>
          <p:nvPr/>
        </p:nvSpPr>
        <p:spPr>
          <a:xfrm>
            <a:off x="4846320" y="4197096"/>
            <a:ext cx="3931920" cy="283464"/>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WHO: Expert Advisory Committee on Human Genome Editing (2021)</a:t>
            </a:r>
            <a:endParaRPr lang="en-US" sz="950" dirty="0"/>
          </a:p>
        </p:txBody>
      </p:sp>
      <p:sp>
        <p:nvSpPr>
          <p:cNvPr id="37" name="Text 31"/>
          <p:cNvSpPr/>
          <p:nvPr/>
        </p:nvSpPr>
        <p:spPr>
          <a:xfrm>
            <a:off x="4846320" y="4498848"/>
            <a:ext cx="3931920" cy="283464"/>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NIH Recombinant DNA Advisory Committee (RAC): biosafety oversight</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342"/>
          </a:solidFill>
          <a:ln w="12700">
            <a:solidFill>
              <a:srgbClr val="0A2342"/>
            </a:solidFill>
            <a:prstDash val="solid"/>
          </a:ln>
        </p:spPr>
      </p:sp>
      <p:sp>
        <p:nvSpPr>
          <p:cNvPr id="3" name="Shape 1"/>
          <p:cNvSpPr/>
          <p:nvPr/>
        </p:nvSpPr>
        <p:spPr>
          <a:xfrm>
            <a:off x="8595360" y="137160"/>
            <a:ext cx="685800" cy="685800"/>
          </a:xfrm>
          <a:prstGeom prst="ellipse">
            <a:avLst/>
          </a:prstGeom>
          <a:solidFill>
            <a:srgbClr val="43A047"/>
          </a:solidFill>
          <a:ln w="12700">
            <a:solidFill>
              <a:srgbClr val="43A047"/>
            </a:solidFill>
            <a:prstDash val="solid"/>
          </a:ln>
        </p:spPr>
      </p:sp>
      <p:sp>
        <p:nvSpPr>
          <p:cNvPr id="4" name="Text 2"/>
          <p:cNvSpPr/>
          <p:nvPr/>
        </p:nvSpPr>
        <p:spPr>
          <a:xfrm>
            <a:off x="365760" y="91440"/>
            <a:ext cx="80467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Future Prospects</a:t>
            </a:r>
            <a:endParaRPr lang="en-US" sz="2200" dirty="0"/>
          </a:p>
        </p:txBody>
      </p:sp>
      <p:sp>
        <p:nvSpPr>
          <p:cNvPr id="5" name="Text 3"/>
          <p:cNvSpPr/>
          <p:nvPr/>
        </p:nvSpPr>
        <p:spPr>
          <a:xfrm>
            <a:off x="365760" y="621792"/>
            <a:ext cx="8046720" cy="274320"/>
          </a:xfrm>
          <a:prstGeom prst="rect">
            <a:avLst/>
          </a:prstGeom>
          <a:noFill/>
          <a:ln/>
        </p:spPr>
        <p:txBody>
          <a:bodyPr wrap="square" lIns="0" tIns="0" rIns="0" bIns="0" rtlCol="0" anchor="ctr"/>
          <a:lstStyle/>
          <a:p>
            <a:pPr indent="0" marL="0">
              <a:buNone/>
            </a:pPr>
            <a:r>
              <a:rPr lang="en-US" sz="1100" i="1" dirty="0">
                <a:solidFill>
                  <a:srgbClr val="90CAF9"/>
                </a:solidFill>
                <a:latin typeface="Calibri" pitchFamily="34" charset="0"/>
                <a:ea typeface="Calibri" pitchFamily="34" charset="-122"/>
                <a:cs typeface="Calibri" pitchFamily="34" charset="-120"/>
              </a:rPr>
              <a:t>The Next Frontier in Genetic Medicine</a:t>
            </a:r>
            <a:endParaRPr lang="en-US" sz="1100" dirty="0"/>
          </a:p>
        </p:txBody>
      </p:sp>
      <p:sp>
        <p:nvSpPr>
          <p:cNvPr id="6" name="Shape 4"/>
          <p:cNvSpPr/>
          <p:nvPr/>
        </p:nvSpPr>
        <p:spPr>
          <a:xfrm>
            <a:off x="274320" y="1078992"/>
            <a:ext cx="4160520" cy="1801368"/>
          </a:xfrm>
          <a:prstGeom prst="roundRect">
            <a:avLst>
              <a:gd name="adj" fmla="val 6091"/>
            </a:avLst>
          </a:prstGeom>
          <a:solidFill>
            <a:srgbClr val="E3F2FD"/>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7" name="Shape 5"/>
          <p:cNvSpPr/>
          <p:nvPr/>
        </p:nvSpPr>
        <p:spPr>
          <a:xfrm>
            <a:off x="365760" y="1170432"/>
            <a:ext cx="475488" cy="475488"/>
          </a:xfrm>
          <a:prstGeom prst="ellipse">
            <a:avLst/>
          </a:prstGeom>
          <a:solidFill>
            <a:srgbClr val="0A2342"/>
          </a:solidFill>
          <a:ln w="12700">
            <a:solidFill>
              <a:srgbClr val="0A2342"/>
            </a:solidFill>
            <a:prstDash val="solid"/>
          </a:ln>
        </p:spPr>
      </p:sp>
      <p:pic>
        <p:nvPicPr>
          <p:cNvPr id="8" name="Image 0" descr="preencoded.png">    </p:cNvPr>
          <p:cNvPicPr>
            <a:picLocks noChangeAspect="1"/>
          </p:cNvPicPr>
          <p:nvPr/>
        </p:nvPicPr>
        <p:blipFill>
          <a:blip r:embed="rId1"/>
          <a:stretch>
            <a:fillRect/>
          </a:stretch>
        </p:blipFill>
        <p:spPr>
          <a:xfrm>
            <a:off x="402336" y="1207008"/>
            <a:ext cx="402336" cy="402336"/>
          </a:xfrm>
          <a:prstGeom prst="rect">
            <a:avLst/>
          </a:prstGeom>
        </p:spPr>
      </p:pic>
      <p:sp>
        <p:nvSpPr>
          <p:cNvPr id="9" name="Text 6"/>
          <p:cNvSpPr/>
          <p:nvPr/>
        </p:nvSpPr>
        <p:spPr>
          <a:xfrm>
            <a:off x="932688" y="1207008"/>
            <a:ext cx="3383280" cy="329184"/>
          </a:xfrm>
          <a:prstGeom prst="rect">
            <a:avLst/>
          </a:prstGeom>
          <a:noFill/>
          <a:ln/>
        </p:spPr>
        <p:txBody>
          <a:bodyPr wrap="square" lIns="0" tIns="0" rIns="0" bIns="0"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Personalized Medicine</a:t>
            </a:r>
            <a:endParaRPr lang="en-US" sz="1300" dirty="0"/>
          </a:p>
        </p:txBody>
      </p:sp>
      <p:sp>
        <p:nvSpPr>
          <p:cNvPr id="10" name="Text 7"/>
          <p:cNvSpPr/>
          <p:nvPr/>
        </p:nvSpPr>
        <p:spPr>
          <a:xfrm>
            <a:off x="411480" y="1627632"/>
            <a:ext cx="3931920" cy="29260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Whole-genome sequencing at birth for disease risk profiling</a:t>
            </a:r>
            <a:endParaRPr lang="en-US" sz="950" dirty="0"/>
          </a:p>
        </p:txBody>
      </p:sp>
      <p:sp>
        <p:nvSpPr>
          <p:cNvPr id="11" name="Text 8"/>
          <p:cNvSpPr/>
          <p:nvPr/>
        </p:nvSpPr>
        <p:spPr>
          <a:xfrm>
            <a:off x="411480" y="1938528"/>
            <a:ext cx="3931920" cy="29260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Patient-specific CRISPR therapies tailored to individual mutations</a:t>
            </a:r>
            <a:endParaRPr lang="en-US" sz="950" dirty="0"/>
          </a:p>
        </p:txBody>
      </p:sp>
      <p:sp>
        <p:nvSpPr>
          <p:cNvPr id="12" name="Text 9"/>
          <p:cNvSpPr/>
          <p:nvPr/>
        </p:nvSpPr>
        <p:spPr>
          <a:xfrm>
            <a:off x="411480" y="2249424"/>
            <a:ext cx="3931920" cy="29260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Pharmacogenomics: drug dosing based on genetic profile</a:t>
            </a:r>
            <a:endParaRPr lang="en-US" sz="950" dirty="0"/>
          </a:p>
        </p:txBody>
      </p:sp>
      <p:sp>
        <p:nvSpPr>
          <p:cNvPr id="13" name="Text 10"/>
          <p:cNvSpPr/>
          <p:nvPr/>
        </p:nvSpPr>
        <p:spPr>
          <a:xfrm>
            <a:off x="411480" y="2560320"/>
            <a:ext cx="3931920" cy="29260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Liquid biopsies (ctDNA) for early cancer detection</a:t>
            </a:r>
            <a:endParaRPr lang="en-US" sz="950" dirty="0"/>
          </a:p>
        </p:txBody>
      </p:sp>
      <p:sp>
        <p:nvSpPr>
          <p:cNvPr id="14" name="Shape 11"/>
          <p:cNvSpPr/>
          <p:nvPr/>
        </p:nvSpPr>
        <p:spPr>
          <a:xfrm>
            <a:off x="4709160" y="1078992"/>
            <a:ext cx="4160520" cy="1801368"/>
          </a:xfrm>
          <a:prstGeom prst="roundRect">
            <a:avLst>
              <a:gd name="adj" fmla="val 6091"/>
            </a:avLst>
          </a:prstGeom>
          <a:solidFill>
            <a:srgbClr val="E8F5E9"/>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15" name="Shape 12"/>
          <p:cNvSpPr/>
          <p:nvPr/>
        </p:nvSpPr>
        <p:spPr>
          <a:xfrm>
            <a:off x="4800600" y="1170432"/>
            <a:ext cx="475488" cy="475488"/>
          </a:xfrm>
          <a:prstGeom prst="ellipse">
            <a:avLst/>
          </a:prstGeom>
          <a:solidFill>
            <a:srgbClr val="2E7D32"/>
          </a:solidFill>
          <a:ln w="12700">
            <a:solidFill>
              <a:srgbClr val="2E7D32"/>
            </a:solidFill>
            <a:prstDash val="solid"/>
          </a:ln>
        </p:spPr>
      </p:sp>
      <p:pic>
        <p:nvPicPr>
          <p:cNvPr id="16" name="Image 1" descr="preencoded.png">    </p:cNvPr>
          <p:cNvPicPr>
            <a:picLocks noChangeAspect="1"/>
          </p:cNvPicPr>
          <p:nvPr/>
        </p:nvPicPr>
        <p:blipFill>
          <a:blip r:embed="rId2"/>
          <a:stretch>
            <a:fillRect/>
          </a:stretch>
        </p:blipFill>
        <p:spPr>
          <a:xfrm>
            <a:off x="4837176" y="1207008"/>
            <a:ext cx="402336" cy="402336"/>
          </a:xfrm>
          <a:prstGeom prst="rect">
            <a:avLst/>
          </a:prstGeom>
        </p:spPr>
      </p:pic>
      <p:sp>
        <p:nvSpPr>
          <p:cNvPr id="17" name="Text 13"/>
          <p:cNvSpPr/>
          <p:nvPr/>
        </p:nvSpPr>
        <p:spPr>
          <a:xfrm>
            <a:off x="5367528" y="1207008"/>
            <a:ext cx="3383280" cy="329184"/>
          </a:xfrm>
          <a:prstGeom prst="rect">
            <a:avLst/>
          </a:prstGeom>
          <a:noFill/>
          <a:ln/>
        </p:spPr>
        <p:txBody>
          <a:bodyPr wrap="square" lIns="0" tIns="0" rIns="0" bIns="0" rtlCol="0" anchor="ctr"/>
          <a:lstStyle/>
          <a:p>
            <a:pPr indent="0" marL="0">
              <a:buNone/>
            </a:pPr>
            <a:r>
              <a:rPr lang="en-US" sz="1300" b="1" dirty="0">
                <a:solidFill>
                  <a:srgbClr val="2E7D32"/>
                </a:solidFill>
                <a:latin typeface="Calibri" pitchFamily="34" charset="0"/>
                <a:ea typeface="Calibri" pitchFamily="34" charset="-122"/>
                <a:cs typeface="Calibri" pitchFamily="34" charset="-120"/>
              </a:rPr>
              <a:t>Next-Gen CRISPR Tools</a:t>
            </a:r>
            <a:endParaRPr lang="en-US" sz="1300" dirty="0"/>
          </a:p>
        </p:txBody>
      </p:sp>
      <p:sp>
        <p:nvSpPr>
          <p:cNvPr id="18" name="Text 14"/>
          <p:cNvSpPr/>
          <p:nvPr/>
        </p:nvSpPr>
        <p:spPr>
          <a:xfrm>
            <a:off x="4846320" y="1627632"/>
            <a:ext cx="3931920" cy="29260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Base Editing: C→T or A→G single-letter changes without DSBs (David Liu, 2016/2017)</a:t>
            </a:r>
            <a:endParaRPr lang="en-US" sz="950" dirty="0"/>
          </a:p>
        </p:txBody>
      </p:sp>
      <p:sp>
        <p:nvSpPr>
          <p:cNvPr id="19" name="Text 15"/>
          <p:cNvSpPr/>
          <p:nvPr/>
        </p:nvSpPr>
        <p:spPr>
          <a:xfrm>
            <a:off x="4846320" y="1938528"/>
            <a:ext cx="3931920" cy="29260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Prime Editing: 'search and replace' — insert/delete/correct any mutation</a:t>
            </a:r>
            <a:endParaRPr lang="en-US" sz="950" dirty="0"/>
          </a:p>
        </p:txBody>
      </p:sp>
      <p:sp>
        <p:nvSpPr>
          <p:cNvPr id="20" name="Text 16"/>
          <p:cNvSpPr/>
          <p:nvPr/>
        </p:nvSpPr>
        <p:spPr>
          <a:xfrm>
            <a:off x="4846320" y="2249424"/>
            <a:ext cx="3931920" cy="29260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CRISPRa/CRISPRi: activate or silence genes without cutting DNA</a:t>
            </a:r>
            <a:endParaRPr lang="en-US" sz="950" dirty="0"/>
          </a:p>
        </p:txBody>
      </p:sp>
      <p:sp>
        <p:nvSpPr>
          <p:cNvPr id="21" name="Text 17"/>
          <p:cNvSpPr/>
          <p:nvPr/>
        </p:nvSpPr>
        <p:spPr>
          <a:xfrm>
            <a:off x="4846320" y="2560320"/>
            <a:ext cx="3931920" cy="29260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Epigenome editing: modify gene expression patterns without DNA change</a:t>
            </a:r>
            <a:endParaRPr lang="en-US" sz="950" dirty="0"/>
          </a:p>
        </p:txBody>
      </p:sp>
      <p:sp>
        <p:nvSpPr>
          <p:cNvPr id="22" name="Shape 18"/>
          <p:cNvSpPr/>
          <p:nvPr/>
        </p:nvSpPr>
        <p:spPr>
          <a:xfrm>
            <a:off x="274320" y="3044952"/>
            <a:ext cx="4160520" cy="1801368"/>
          </a:xfrm>
          <a:prstGeom prst="roundRect">
            <a:avLst>
              <a:gd name="adj" fmla="val 6091"/>
            </a:avLst>
          </a:prstGeom>
          <a:solidFill>
            <a:srgbClr val="EDE7F6"/>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23" name="Shape 19"/>
          <p:cNvSpPr/>
          <p:nvPr/>
        </p:nvSpPr>
        <p:spPr>
          <a:xfrm>
            <a:off x="365760" y="3136392"/>
            <a:ext cx="475488" cy="475488"/>
          </a:xfrm>
          <a:prstGeom prst="ellipse">
            <a:avLst/>
          </a:prstGeom>
          <a:solidFill>
            <a:srgbClr val="6A1B9A"/>
          </a:solidFill>
          <a:ln w="12700">
            <a:solidFill>
              <a:srgbClr val="6A1B9A"/>
            </a:solidFill>
            <a:prstDash val="solid"/>
          </a:ln>
        </p:spPr>
      </p:sp>
      <p:pic>
        <p:nvPicPr>
          <p:cNvPr id="24" name="Image 2" descr="preencoded.png">    </p:cNvPr>
          <p:cNvPicPr>
            <a:picLocks noChangeAspect="1"/>
          </p:cNvPicPr>
          <p:nvPr/>
        </p:nvPicPr>
        <p:blipFill>
          <a:blip r:embed="rId3"/>
          <a:stretch>
            <a:fillRect/>
          </a:stretch>
        </p:blipFill>
        <p:spPr>
          <a:xfrm>
            <a:off x="402336" y="3172968"/>
            <a:ext cx="402336" cy="402336"/>
          </a:xfrm>
          <a:prstGeom prst="rect">
            <a:avLst/>
          </a:prstGeom>
        </p:spPr>
      </p:pic>
      <p:sp>
        <p:nvSpPr>
          <p:cNvPr id="25" name="Text 20"/>
          <p:cNvSpPr/>
          <p:nvPr/>
        </p:nvSpPr>
        <p:spPr>
          <a:xfrm>
            <a:off x="932688" y="3172968"/>
            <a:ext cx="3383280" cy="329184"/>
          </a:xfrm>
          <a:prstGeom prst="rect">
            <a:avLst/>
          </a:prstGeom>
          <a:noFill/>
          <a:ln/>
        </p:spPr>
        <p:txBody>
          <a:bodyPr wrap="square" lIns="0" tIns="0" rIns="0" bIns="0" rtlCol="0" anchor="ctr"/>
          <a:lstStyle/>
          <a:p>
            <a:pPr indent="0" marL="0">
              <a:buNone/>
            </a:pPr>
            <a:r>
              <a:rPr lang="en-US" sz="1300" b="1" dirty="0">
                <a:solidFill>
                  <a:srgbClr val="6A1B9A"/>
                </a:solidFill>
                <a:latin typeface="Calibri" pitchFamily="34" charset="0"/>
                <a:ea typeface="Calibri" pitchFamily="34" charset="-122"/>
                <a:cs typeface="Calibri" pitchFamily="34" charset="-120"/>
              </a:rPr>
              <a:t>AI in Gene Editing</a:t>
            </a:r>
            <a:endParaRPr lang="en-US" sz="1300" dirty="0"/>
          </a:p>
        </p:txBody>
      </p:sp>
      <p:sp>
        <p:nvSpPr>
          <p:cNvPr id="26" name="Text 21"/>
          <p:cNvSpPr/>
          <p:nvPr/>
        </p:nvSpPr>
        <p:spPr>
          <a:xfrm>
            <a:off x="411480" y="3593592"/>
            <a:ext cx="3931920" cy="29260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AlphaFold: AI predicts protein structures for drug target design</a:t>
            </a:r>
            <a:endParaRPr lang="en-US" sz="950" dirty="0"/>
          </a:p>
        </p:txBody>
      </p:sp>
      <p:sp>
        <p:nvSpPr>
          <p:cNvPr id="27" name="Text 22"/>
          <p:cNvSpPr/>
          <p:nvPr/>
        </p:nvSpPr>
        <p:spPr>
          <a:xfrm>
            <a:off x="411480" y="3904488"/>
            <a:ext cx="3931920" cy="29260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AI-guided sgRNA design for minimal off-target effects</a:t>
            </a:r>
            <a:endParaRPr lang="en-US" sz="950" dirty="0"/>
          </a:p>
        </p:txBody>
      </p:sp>
      <p:sp>
        <p:nvSpPr>
          <p:cNvPr id="28" name="Text 23"/>
          <p:cNvSpPr/>
          <p:nvPr/>
        </p:nvSpPr>
        <p:spPr>
          <a:xfrm>
            <a:off x="411480" y="4215384"/>
            <a:ext cx="3931920" cy="29260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Machine learning to predict CRISPR edit outcomes in cell types</a:t>
            </a:r>
            <a:endParaRPr lang="en-US" sz="950" dirty="0"/>
          </a:p>
        </p:txBody>
      </p:sp>
      <p:sp>
        <p:nvSpPr>
          <p:cNvPr id="29" name="Text 24"/>
          <p:cNvSpPr/>
          <p:nvPr/>
        </p:nvSpPr>
        <p:spPr>
          <a:xfrm>
            <a:off x="411480" y="4526280"/>
            <a:ext cx="3931920" cy="29260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Generative AI for novel therapeutic nuclease engineering</a:t>
            </a:r>
            <a:endParaRPr lang="en-US" sz="950" dirty="0"/>
          </a:p>
        </p:txBody>
      </p:sp>
      <p:sp>
        <p:nvSpPr>
          <p:cNvPr id="30" name="Shape 25"/>
          <p:cNvSpPr/>
          <p:nvPr/>
        </p:nvSpPr>
        <p:spPr>
          <a:xfrm>
            <a:off x="4709160" y="3044952"/>
            <a:ext cx="4160520" cy="1801368"/>
          </a:xfrm>
          <a:prstGeom prst="roundRect">
            <a:avLst>
              <a:gd name="adj" fmla="val 6091"/>
            </a:avLst>
          </a:prstGeom>
          <a:solidFill>
            <a:srgbClr val="FFF3E0"/>
          </a:solidFill>
          <a:ln w="12700">
            <a:solidFill>
              <a:srgbClr val="ECEFF1"/>
            </a:solidFill>
            <a:prstDash val="solid"/>
          </a:ln>
          <a:effectLst>
            <a:outerShdw sx="100000" sy="100000" kx="0" ky="0" algn="bl" rotWithShape="0" blurRad="76200" dist="25400" dir="2700000">
              <a:srgbClr val="000000">
                <a:alpha val="9000"/>
              </a:srgbClr>
            </a:outerShdw>
          </a:effectLst>
        </p:spPr>
      </p:sp>
      <p:sp>
        <p:nvSpPr>
          <p:cNvPr id="31" name="Shape 26"/>
          <p:cNvSpPr/>
          <p:nvPr/>
        </p:nvSpPr>
        <p:spPr>
          <a:xfrm>
            <a:off x="4800600" y="3136392"/>
            <a:ext cx="475488" cy="475488"/>
          </a:xfrm>
          <a:prstGeom prst="ellipse">
            <a:avLst/>
          </a:prstGeom>
          <a:solidFill>
            <a:srgbClr val="E65100"/>
          </a:solidFill>
          <a:ln w="12700">
            <a:solidFill>
              <a:srgbClr val="E65100"/>
            </a:solidFill>
            <a:prstDash val="solid"/>
          </a:ln>
        </p:spPr>
      </p:sp>
      <p:pic>
        <p:nvPicPr>
          <p:cNvPr id="32" name="Image 3" descr="preencoded.png">    </p:cNvPr>
          <p:cNvPicPr>
            <a:picLocks noChangeAspect="1"/>
          </p:cNvPicPr>
          <p:nvPr/>
        </p:nvPicPr>
        <p:blipFill>
          <a:blip r:embed="rId4"/>
          <a:stretch>
            <a:fillRect/>
          </a:stretch>
        </p:blipFill>
        <p:spPr>
          <a:xfrm>
            <a:off x="4837176" y="3172968"/>
            <a:ext cx="402336" cy="402336"/>
          </a:xfrm>
          <a:prstGeom prst="rect">
            <a:avLst/>
          </a:prstGeom>
        </p:spPr>
      </p:pic>
      <p:sp>
        <p:nvSpPr>
          <p:cNvPr id="33" name="Text 27"/>
          <p:cNvSpPr/>
          <p:nvPr/>
        </p:nvSpPr>
        <p:spPr>
          <a:xfrm>
            <a:off x="5367528" y="3172968"/>
            <a:ext cx="3383280" cy="329184"/>
          </a:xfrm>
          <a:prstGeom prst="rect">
            <a:avLst/>
          </a:prstGeom>
          <a:noFill/>
          <a:ln/>
        </p:spPr>
        <p:txBody>
          <a:bodyPr wrap="square" lIns="0" tIns="0" rIns="0" bIns="0" rtlCol="0" anchor="ctr"/>
          <a:lstStyle/>
          <a:p>
            <a:pPr indent="0" marL="0">
              <a:buNone/>
            </a:pPr>
            <a:r>
              <a:rPr lang="en-US" sz="1300" b="1" dirty="0">
                <a:solidFill>
                  <a:srgbClr val="E65100"/>
                </a:solidFill>
                <a:latin typeface="Calibri" pitchFamily="34" charset="0"/>
                <a:ea typeface="Calibri" pitchFamily="34" charset="-122"/>
                <a:cs typeface="Calibri" pitchFamily="34" charset="-120"/>
              </a:rPr>
              <a:t>Emerging Applications</a:t>
            </a:r>
            <a:endParaRPr lang="en-US" sz="1300" dirty="0"/>
          </a:p>
        </p:txBody>
      </p:sp>
      <p:sp>
        <p:nvSpPr>
          <p:cNvPr id="34" name="Text 28"/>
          <p:cNvSpPr/>
          <p:nvPr/>
        </p:nvSpPr>
        <p:spPr>
          <a:xfrm>
            <a:off x="4846320" y="3593592"/>
            <a:ext cx="3931920" cy="29260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In utero gene therapy: treating genetic disease before birth</a:t>
            </a:r>
            <a:endParaRPr lang="en-US" sz="950" dirty="0"/>
          </a:p>
        </p:txBody>
      </p:sp>
      <p:sp>
        <p:nvSpPr>
          <p:cNvPr id="35" name="Text 29"/>
          <p:cNvSpPr/>
          <p:nvPr/>
        </p:nvSpPr>
        <p:spPr>
          <a:xfrm>
            <a:off x="4846320" y="3904488"/>
            <a:ext cx="3931920" cy="29260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Gene drives for malaria eradication (Anopheles mosquitoes)</a:t>
            </a:r>
            <a:endParaRPr lang="en-US" sz="950" dirty="0"/>
          </a:p>
        </p:txBody>
      </p:sp>
      <p:sp>
        <p:nvSpPr>
          <p:cNvPr id="36" name="Text 30"/>
          <p:cNvSpPr/>
          <p:nvPr/>
        </p:nvSpPr>
        <p:spPr>
          <a:xfrm>
            <a:off x="4846320" y="4215384"/>
            <a:ext cx="3931920" cy="29260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Xenotransplantation: pig organs edited for human compatibility</a:t>
            </a:r>
            <a:endParaRPr lang="en-US" sz="950" dirty="0"/>
          </a:p>
        </p:txBody>
      </p:sp>
      <p:sp>
        <p:nvSpPr>
          <p:cNvPr id="37" name="Text 31"/>
          <p:cNvSpPr/>
          <p:nvPr/>
        </p:nvSpPr>
        <p:spPr>
          <a:xfrm>
            <a:off x="4846320" y="4526280"/>
            <a:ext cx="3931920" cy="292608"/>
          </a:xfrm>
          <a:prstGeom prst="rect">
            <a:avLst/>
          </a:prstGeom>
          <a:noFill/>
          <a:ln/>
        </p:spPr>
        <p:txBody>
          <a:bodyPr wrap="square" lIns="0" tIns="0" rIns="0" bIns="0" rtlCol="0" anchor="ctr"/>
          <a:lstStyle/>
          <a:p>
            <a:pPr indent="0" marL="0">
              <a:buNone/>
            </a:pPr>
            <a:r>
              <a:rPr lang="en-US" sz="950" dirty="0">
                <a:solidFill>
                  <a:srgbClr val="37474F"/>
                </a:solidFill>
                <a:latin typeface="Calibri" pitchFamily="34" charset="0"/>
                <a:ea typeface="Calibri" pitchFamily="34" charset="-122"/>
                <a:cs typeface="Calibri" pitchFamily="34" charset="-120"/>
              </a:rPr>
              <a:t>▸  Synthetic biology: engineering minimal cells &amp; novel biosystems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342"/>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565C0">
              <a:alpha val="40000"/>
            </a:srgbClr>
          </a:solidFill>
          <a:ln w="12700">
            <a:solidFill>
              <a:srgbClr val="1565C0">
                <a:alpha val="40000"/>
              </a:srgbClr>
            </a:solidFill>
            <a:prstDash val="solid"/>
          </a:ln>
        </p:spPr>
      </p:sp>
      <p:sp>
        <p:nvSpPr>
          <p:cNvPr id="3" name="Shape 1"/>
          <p:cNvSpPr/>
          <p:nvPr/>
        </p:nvSpPr>
        <p:spPr>
          <a:xfrm>
            <a:off x="-457200" y="3200400"/>
            <a:ext cx="2743200" cy="2743200"/>
          </a:xfrm>
          <a:prstGeom prst="ellipse">
            <a:avLst/>
          </a:prstGeom>
          <a:solidFill>
            <a:srgbClr val="43A047">
              <a:alpha val="20000"/>
            </a:srgbClr>
          </a:solidFill>
          <a:ln w="12700">
            <a:solidFill>
              <a:srgbClr val="43A047">
                <a:alpha val="20000"/>
              </a:srgbClr>
            </a:solidFill>
            <a:prstDash val="solid"/>
          </a:ln>
        </p:spPr>
      </p:sp>
      <p:pic>
        <p:nvPicPr>
          <p:cNvPr id="4" name="Image 0" descr="preencoded.png">    </p:cNvPr>
          <p:cNvPicPr>
            <a:picLocks noChangeAspect="1"/>
          </p:cNvPicPr>
          <p:nvPr/>
        </p:nvPicPr>
        <p:blipFill>
          <a:blip r:embed="rId1">
            <a:alphaModFix amt="80000"/>
          </a:blip>
          <a:stretch>
            <a:fillRect/>
          </a:stretch>
        </p:blipFill>
        <p:spPr>
          <a:xfrm>
            <a:off x="457200" y="548640"/>
            <a:ext cx="2194560" cy="2194560"/>
          </a:xfrm>
          <a:prstGeom prst="rect">
            <a:avLst/>
          </a:prstGeom>
        </p:spPr>
      </p:pic>
      <p:sp>
        <p:nvSpPr>
          <p:cNvPr id="5" name="Text 2"/>
          <p:cNvSpPr/>
          <p:nvPr/>
        </p:nvSpPr>
        <p:spPr>
          <a:xfrm>
            <a:off x="3474720" y="274320"/>
            <a:ext cx="539496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Conclusion</a:t>
            </a:r>
            <a:endParaRPr lang="en-US" sz="2600" dirty="0"/>
          </a:p>
        </p:txBody>
      </p:sp>
      <p:sp>
        <p:nvSpPr>
          <p:cNvPr id="6" name="Text 3"/>
          <p:cNvSpPr/>
          <p:nvPr/>
        </p:nvSpPr>
        <p:spPr>
          <a:xfrm>
            <a:off x="3474720" y="749808"/>
            <a:ext cx="5394960" cy="274320"/>
          </a:xfrm>
          <a:prstGeom prst="rect">
            <a:avLst/>
          </a:prstGeom>
          <a:noFill/>
          <a:ln/>
        </p:spPr>
        <p:txBody>
          <a:bodyPr wrap="square" lIns="0" tIns="0" rIns="0" bIns="0" rtlCol="0" anchor="ctr"/>
          <a:lstStyle/>
          <a:p>
            <a:pPr indent="0" marL="0">
              <a:buNone/>
            </a:pPr>
            <a:r>
              <a:rPr lang="en-US" sz="1400" i="1" dirty="0">
                <a:solidFill>
                  <a:srgbClr val="90CAF9"/>
                </a:solidFill>
                <a:latin typeface="Calibri" pitchFamily="34" charset="0"/>
                <a:ea typeface="Calibri" pitchFamily="34" charset="-122"/>
                <a:cs typeface="Calibri" pitchFamily="34" charset="-120"/>
              </a:rPr>
              <a:t>Key Takeaways</a:t>
            </a:r>
            <a:endParaRPr lang="en-US" sz="1400" dirty="0"/>
          </a:p>
        </p:txBody>
      </p:sp>
      <p:sp>
        <p:nvSpPr>
          <p:cNvPr id="7" name="Shape 4"/>
          <p:cNvSpPr/>
          <p:nvPr/>
        </p:nvSpPr>
        <p:spPr>
          <a:xfrm>
            <a:off x="3474720" y="1097280"/>
            <a:ext cx="5394960" cy="640080"/>
          </a:xfrm>
          <a:prstGeom prst="roundRect">
            <a:avLst>
              <a:gd name="adj" fmla="val 11429"/>
            </a:avLst>
          </a:prstGeom>
          <a:solidFill>
            <a:srgbClr val="1565C0">
              <a:alpha val="25000"/>
            </a:srgbClr>
          </a:solidFill>
          <a:ln w="12700">
            <a:solidFill>
              <a:srgbClr val="1E88E5">
                <a:alpha val="50000"/>
              </a:srgbClr>
            </a:solidFill>
            <a:prstDash val="solid"/>
          </a:ln>
        </p:spPr>
      </p:sp>
      <p:sp>
        <p:nvSpPr>
          <p:cNvPr id="8" name="Shape 5"/>
          <p:cNvSpPr/>
          <p:nvPr/>
        </p:nvSpPr>
        <p:spPr>
          <a:xfrm>
            <a:off x="3474720" y="1097280"/>
            <a:ext cx="347472" cy="640080"/>
          </a:xfrm>
          <a:prstGeom prst="roundRect">
            <a:avLst>
              <a:gd name="adj" fmla="val 21053"/>
            </a:avLst>
          </a:prstGeom>
          <a:solidFill>
            <a:srgbClr val="43A047"/>
          </a:solidFill>
          <a:ln w="12700">
            <a:solidFill>
              <a:srgbClr val="43A047"/>
            </a:solidFill>
            <a:prstDash val="solid"/>
          </a:ln>
        </p:spPr>
      </p:sp>
      <p:sp>
        <p:nvSpPr>
          <p:cNvPr id="9" name="Text 6"/>
          <p:cNvSpPr/>
          <p:nvPr/>
        </p:nvSpPr>
        <p:spPr>
          <a:xfrm>
            <a:off x="3474720" y="1097280"/>
            <a:ext cx="347472"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0" name="Text 7"/>
          <p:cNvSpPr/>
          <p:nvPr/>
        </p:nvSpPr>
        <p:spPr>
          <a:xfrm>
            <a:off x="3886200" y="1133856"/>
            <a:ext cx="4919472" cy="56692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Genetic engineering has fundamentally transformed medicine, agriculture, and industry over 50+ years.</a:t>
            </a:r>
            <a:endParaRPr lang="en-US" sz="1100" dirty="0"/>
          </a:p>
        </p:txBody>
      </p:sp>
      <p:sp>
        <p:nvSpPr>
          <p:cNvPr id="11" name="Shape 8"/>
          <p:cNvSpPr/>
          <p:nvPr/>
        </p:nvSpPr>
        <p:spPr>
          <a:xfrm>
            <a:off x="3474720" y="1847088"/>
            <a:ext cx="5394960" cy="640080"/>
          </a:xfrm>
          <a:prstGeom prst="roundRect">
            <a:avLst>
              <a:gd name="adj" fmla="val 11429"/>
            </a:avLst>
          </a:prstGeom>
          <a:solidFill>
            <a:srgbClr val="1565C0">
              <a:alpha val="25000"/>
            </a:srgbClr>
          </a:solidFill>
          <a:ln w="12700">
            <a:solidFill>
              <a:srgbClr val="1E88E5">
                <a:alpha val="50000"/>
              </a:srgbClr>
            </a:solidFill>
            <a:prstDash val="solid"/>
          </a:ln>
        </p:spPr>
      </p:sp>
      <p:sp>
        <p:nvSpPr>
          <p:cNvPr id="12" name="Shape 9"/>
          <p:cNvSpPr/>
          <p:nvPr/>
        </p:nvSpPr>
        <p:spPr>
          <a:xfrm>
            <a:off x="3474720" y="1847088"/>
            <a:ext cx="347472" cy="640080"/>
          </a:xfrm>
          <a:prstGeom prst="roundRect">
            <a:avLst>
              <a:gd name="adj" fmla="val 21053"/>
            </a:avLst>
          </a:prstGeom>
          <a:solidFill>
            <a:srgbClr val="43A047"/>
          </a:solidFill>
          <a:ln w="12700">
            <a:solidFill>
              <a:srgbClr val="43A047"/>
            </a:solidFill>
            <a:prstDash val="solid"/>
          </a:ln>
        </p:spPr>
      </p:sp>
      <p:sp>
        <p:nvSpPr>
          <p:cNvPr id="13" name="Text 10"/>
          <p:cNvSpPr/>
          <p:nvPr/>
        </p:nvSpPr>
        <p:spPr>
          <a:xfrm>
            <a:off x="3474720" y="1847088"/>
            <a:ext cx="347472"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4" name="Text 11"/>
          <p:cNvSpPr/>
          <p:nvPr/>
        </p:nvSpPr>
        <p:spPr>
          <a:xfrm>
            <a:off x="3886200" y="1883664"/>
            <a:ext cx="4919472" cy="56692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CRISPR-Cas9 is the most precise, affordable, and versatile gene editing tool ever developed.</a:t>
            </a:r>
            <a:endParaRPr lang="en-US" sz="1100" dirty="0"/>
          </a:p>
        </p:txBody>
      </p:sp>
      <p:sp>
        <p:nvSpPr>
          <p:cNvPr id="15" name="Shape 12"/>
          <p:cNvSpPr/>
          <p:nvPr/>
        </p:nvSpPr>
        <p:spPr>
          <a:xfrm>
            <a:off x="3474720" y="2596896"/>
            <a:ext cx="5394960" cy="640080"/>
          </a:xfrm>
          <a:prstGeom prst="roundRect">
            <a:avLst>
              <a:gd name="adj" fmla="val 11429"/>
            </a:avLst>
          </a:prstGeom>
          <a:solidFill>
            <a:srgbClr val="1565C0">
              <a:alpha val="25000"/>
            </a:srgbClr>
          </a:solidFill>
          <a:ln w="12700">
            <a:solidFill>
              <a:srgbClr val="1E88E5">
                <a:alpha val="50000"/>
              </a:srgbClr>
            </a:solidFill>
            <a:prstDash val="solid"/>
          </a:ln>
        </p:spPr>
      </p:sp>
      <p:sp>
        <p:nvSpPr>
          <p:cNvPr id="16" name="Shape 13"/>
          <p:cNvSpPr/>
          <p:nvPr/>
        </p:nvSpPr>
        <p:spPr>
          <a:xfrm>
            <a:off x="3474720" y="2596896"/>
            <a:ext cx="347472" cy="640080"/>
          </a:xfrm>
          <a:prstGeom prst="roundRect">
            <a:avLst>
              <a:gd name="adj" fmla="val 21053"/>
            </a:avLst>
          </a:prstGeom>
          <a:solidFill>
            <a:srgbClr val="43A047"/>
          </a:solidFill>
          <a:ln w="12700">
            <a:solidFill>
              <a:srgbClr val="43A047"/>
            </a:solidFill>
            <a:prstDash val="solid"/>
          </a:ln>
        </p:spPr>
      </p:sp>
      <p:sp>
        <p:nvSpPr>
          <p:cNvPr id="17" name="Text 14"/>
          <p:cNvSpPr/>
          <p:nvPr/>
        </p:nvSpPr>
        <p:spPr>
          <a:xfrm>
            <a:off x="3474720" y="2596896"/>
            <a:ext cx="347472"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8" name="Text 15"/>
          <p:cNvSpPr/>
          <p:nvPr/>
        </p:nvSpPr>
        <p:spPr>
          <a:xfrm>
            <a:off x="3886200" y="2633472"/>
            <a:ext cx="4919472" cy="56692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Gene therapy is now a clinical reality — Casgevy, Luxturna, and Zolgensma offer cures for previously untreatable diseases.</a:t>
            </a:r>
            <a:endParaRPr lang="en-US" sz="1100" dirty="0"/>
          </a:p>
        </p:txBody>
      </p:sp>
      <p:sp>
        <p:nvSpPr>
          <p:cNvPr id="19" name="Shape 16"/>
          <p:cNvSpPr/>
          <p:nvPr/>
        </p:nvSpPr>
        <p:spPr>
          <a:xfrm>
            <a:off x="3474720" y="3346704"/>
            <a:ext cx="5394960" cy="640080"/>
          </a:xfrm>
          <a:prstGeom prst="roundRect">
            <a:avLst>
              <a:gd name="adj" fmla="val 11429"/>
            </a:avLst>
          </a:prstGeom>
          <a:solidFill>
            <a:srgbClr val="1565C0">
              <a:alpha val="25000"/>
            </a:srgbClr>
          </a:solidFill>
          <a:ln w="12700">
            <a:solidFill>
              <a:srgbClr val="1E88E5">
                <a:alpha val="50000"/>
              </a:srgbClr>
            </a:solidFill>
            <a:prstDash val="solid"/>
          </a:ln>
        </p:spPr>
      </p:sp>
      <p:sp>
        <p:nvSpPr>
          <p:cNvPr id="20" name="Shape 17"/>
          <p:cNvSpPr/>
          <p:nvPr/>
        </p:nvSpPr>
        <p:spPr>
          <a:xfrm>
            <a:off x="3474720" y="3346704"/>
            <a:ext cx="347472" cy="640080"/>
          </a:xfrm>
          <a:prstGeom prst="roundRect">
            <a:avLst>
              <a:gd name="adj" fmla="val 21053"/>
            </a:avLst>
          </a:prstGeom>
          <a:solidFill>
            <a:srgbClr val="43A047"/>
          </a:solidFill>
          <a:ln w="12700">
            <a:solidFill>
              <a:srgbClr val="43A047"/>
            </a:solidFill>
            <a:prstDash val="solid"/>
          </a:ln>
        </p:spPr>
      </p:sp>
      <p:sp>
        <p:nvSpPr>
          <p:cNvPr id="21" name="Text 18"/>
          <p:cNvSpPr/>
          <p:nvPr/>
        </p:nvSpPr>
        <p:spPr>
          <a:xfrm>
            <a:off x="3474720" y="3346704"/>
            <a:ext cx="347472"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2" name="Text 19"/>
          <p:cNvSpPr/>
          <p:nvPr/>
        </p:nvSpPr>
        <p:spPr>
          <a:xfrm>
            <a:off x="3886200" y="3383280"/>
            <a:ext cx="4919472" cy="56692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Ethical governance, equitable access, and global regulatory alignment are essential for responsible deployment.</a:t>
            </a:r>
            <a:endParaRPr lang="en-US" sz="1100" dirty="0"/>
          </a:p>
        </p:txBody>
      </p:sp>
      <p:sp>
        <p:nvSpPr>
          <p:cNvPr id="23" name="Shape 20"/>
          <p:cNvSpPr/>
          <p:nvPr/>
        </p:nvSpPr>
        <p:spPr>
          <a:xfrm>
            <a:off x="3474720" y="4096512"/>
            <a:ext cx="5394960" cy="640080"/>
          </a:xfrm>
          <a:prstGeom prst="roundRect">
            <a:avLst>
              <a:gd name="adj" fmla="val 11429"/>
            </a:avLst>
          </a:prstGeom>
          <a:solidFill>
            <a:srgbClr val="1565C0">
              <a:alpha val="25000"/>
            </a:srgbClr>
          </a:solidFill>
          <a:ln w="12700">
            <a:solidFill>
              <a:srgbClr val="1E88E5">
                <a:alpha val="50000"/>
              </a:srgbClr>
            </a:solidFill>
            <a:prstDash val="solid"/>
          </a:ln>
        </p:spPr>
      </p:sp>
      <p:sp>
        <p:nvSpPr>
          <p:cNvPr id="24" name="Shape 21"/>
          <p:cNvSpPr/>
          <p:nvPr/>
        </p:nvSpPr>
        <p:spPr>
          <a:xfrm>
            <a:off x="3474720" y="4096512"/>
            <a:ext cx="347472" cy="640080"/>
          </a:xfrm>
          <a:prstGeom prst="roundRect">
            <a:avLst>
              <a:gd name="adj" fmla="val 21053"/>
            </a:avLst>
          </a:prstGeom>
          <a:solidFill>
            <a:srgbClr val="43A047"/>
          </a:solidFill>
          <a:ln w="12700">
            <a:solidFill>
              <a:srgbClr val="43A047"/>
            </a:solidFill>
            <a:prstDash val="solid"/>
          </a:ln>
        </p:spPr>
      </p:sp>
      <p:sp>
        <p:nvSpPr>
          <p:cNvPr id="25" name="Text 22"/>
          <p:cNvSpPr/>
          <p:nvPr/>
        </p:nvSpPr>
        <p:spPr>
          <a:xfrm>
            <a:off x="3474720" y="4096512"/>
            <a:ext cx="347472"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6" name="Text 23"/>
          <p:cNvSpPr/>
          <p:nvPr/>
        </p:nvSpPr>
        <p:spPr>
          <a:xfrm>
            <a:off x="3886200" y="4133088"/>
            <a:ext cx="4919472" cy="56692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The convergence of AI, genomics, and CRISPR will drive the next era of personalized, precision medicine.</a:t>
            </a:r>
            <a:endParaRPr lang="en-US" sz="1100" dirty="0"/>
          </a:p>
        </p:txBody>
      </p:sp>
      <p:sp>
        <p:nvSpPr>
          <p:cNvPr id="27" name="Text 24"/>
          <p:cNvSpPr/>
          <p:nvPr/>
        </p:nvSpPr>
        <p:spPr>
          <a:xfrm>
            <a:off x="3474720" y="4773168"/>
            <a:ext cx="5394960" cy="292608"/>
          </a:xfrm>
          <a:prstGeom prst="rect">
            <a:avLst/>
          </a:prstGeom>
          <a:noFill/>
          <a:ln/>
        </p:spPr>
        <p:txBody>
          <a:bodyPr wrap="square" lIns="0" tIns="0" rIns="0" bIns="0" rtlCol="0" anchor="ctr"/>
          <a:lstStyle/>
          <a:p>
            <a:pPr algn="ctr" indent="0" marL="0">
              <a:buNone/>
            </a:pPr>
            <a:r>
              <a:rPr lang="en-US" sz="1050" i="1" dirty="0">
                <a:solidFill>
                  <a:srgbClr val="90CAF9"/>
                </a:solidFill>
                <a:latin typeface="Calibri" pitchFamily="34" charset="0"/>
                <a:ea typeface="Calibri" pitchFamily="34" charset="-122"/>
                <a:cs typeface="Calibri" pitchFamily="34" charset="-120"/>
              </a:rPr>
              <a:t>"With great scientific power comes great ethical responsibility."</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342"/>
          </a:solidFill>
          <a:ln w="12700">
            <a:solidFill>
              <a:srgbClr val="0A2342"/>
            </a:solidFill>
            <a:prstDash val="solid"/>
          </a:ln>
        </p:spPr>
      </p:sp>
      <p:sp>
        <p:nvSpPr>
          <p:cNvPr id="3" name="Shape 1"/>
          <p:cNvSpPr/>
          <p:nvPr/>
        </p:nvSpPr>
        <p:spPr>
          <a:xfrm>
            <a:off x="8595360" y="137160"/>
            <a:ext cx="685800" cy="685800"/>
          </a:xfrm>
          <a:prstGeom prst="ellipse">
            <a:avLst/>
          </a:prstGeom>
          <a:solidFill>
            <a:srgbClr val="43A047"/>
          </a:solidFill>
          <a:ln w="12700">
            <a:solidFill>
              <a:srgbClr val="43A047"/>
            </a:solidFill>
            <a:prstDash val="solid"/>
          </a:ln>
        </p:spPr>
      </p:sp>
      <p:sp>
        <p:nvSpPr>
          <p:cNvPr id="4" name="Text 2"/>
          <p:cNvSpPr/>
          <p:nvPr/>
        </p:nvSpPr>
        <p:spPr>
          <a:xfrm>
            <a:off x="365760" y="91440"/>
            <a:ext cx="80467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References</a:t>
            </a:r>
            <a:endParaRPr lang="en-US" sz="2200" dirty="0"/>
          </a:p>
        </p:txBody>
      </p:sp>
      <p:sp>
        <p:nvSpPr>
          <p:cNvPr id="5" name="Text 3"/>
          <p:cNvSpPr/>
          <p:nvPr/>
        </p:nvSpPr>
        <p:spPr>
          <a:xfrm>
            <a:off x="365760" y="621792"/>
            <a:ext cx="8046720" cy="274320"/>
          </a:xfrm>
          <a:prstGeom prst="rect">
            <a:avLst/>
          </a:prstGeom>
          <a:noFill/>
          <a:ln/>
        </p:spPr>
        <p:txBody>
          <a:bodyPr wrap="square" lIns="0" tIns="0" rIns="0" bIns="0" rtlCol="0" anchor="ctr"/>
          <a:lstStyle/>
          <a:p>
            <a:pPr indent="0" marL="0">
              <a:buNone/>
            </a:pPr>
            <a:r>
              <a:rPr lang="en-US" sz="1100" i="1" dirty="0">
                <a:solidFill>
                  <a:srgbClr val="90CAF9"/>
                </a:solidFill>
                <a:latin typeface="Calibri" pitchFamily="34" charset="0"/>
                <a:ea typeface="Calibri" pitchFamily="34" charset="-122"/>
                <a:cs typeface="Calibri" pitchFamily="34" charset="-120"/>
              </a:rPr>
              <a:t>Scientifically Verified Sources — APA Format</a:t>
            </a:r>
            <a:endParaRPr lang="en-US" sz="1100" dirty="0"/>
          </a:p>
        </p:txBody>
      </p:sp>
      <p:sp>
        <p:nvSpPr>
          <p:cNvPr id="6" name="Shape 4"/>
          <p:cNvSpPr/>
          <p:nvPr/>
        </p:nvSpPr>
        <p:spPr>
          <a:xfrm>
            <a:off x="274320" y="1051560"/>
            <a:ext cx="8595360" cy="3931920"/>
          </a:xfrm>
          <a:prstGeom prst="roundRect">
            <a:avLst>
              <a:gd name="adj" fmla="val 2326"/>
            </a:avLst>
          </a:prstGeom>
          <a:solidFill>
            <a:srgbClr val="FFFFFF"/>
          </a:solidFill>
          <a:ln w="12700">
            <a:solidFill>
              <a:srgbClr val="ECEFF1"/>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11480" y="1115568"/>
            <a:ext cx="8321040" cy="329184"/>
          </a:xfrm>
          <a:prstGeom prst="rect">
            <a:avLst/>
          </a:prstGeom>
          <a:noFill/>
          <a:ln/>
        </p:spPr>
        <p:txBody>
          <a:bodyPr wrap="square" lIns="0" tIns="0" rIns="0" bIns="0" rtlCol="0" anchor="ctr"/>
          <a:lstStyle/>
          <a:p>
            <a:pPr indent="0" marL="0">
              <a:buNone/>
            </a:pPr>
            <a:r>
              <a:rPr lang="en-US" sz="850" b="1" dirty="0">
                <a:solidFill>
                  <a:srgbClr val="0A2342"/>
                </a:solidFill>
                <a:latin typeface="Calibri" pitchFamily="34" charset="0"/>
                <a:ea typeface="Calibri" pitchFamily="34" charset="-122"/>
                <a:cs typeface="Calibri" pitchFamily="34" charset="-120"/>
              </a:rPr>
              <a:t>1.  Doudna, J. A., &amp; Charpentier, E. (2012). A programmable dual-RNA–guided DNA endonuclease in adaptive bacterial immunity. Science, 337(6096), 816–821. https://doi.org/10.1126/science.1225829</a:t>
            </a:r>
            <a:endParaRPr lang="en-US" sz="850" dirty="0"/>
          </a:p>
        </p:txBody>
      </p:sp>
      <p:sp>
        <p:nvSpPr>
          <p:cNvPr id="8" name="Text 6"/>
          <p:cNvSpPr/>
          <p:nvPr/>
        </p:nvSpPr>
        <p:spPr>
          <a:xfrm>
            <a:off x="411480" y="1463040"/>
            <a:ext cx="8321040" cy="329184"/>
          </a:xfrm>
          <a:prstGeom prst="rect">
            <a:avLst/>
          </a:prstGeom>
          <a:noFill/>
          <a:ln/>
        </p:spPr>
        <p:txBody>
          <a:bodyPr wrap="square" lIns="0" tIns="0" rIns="0" bIns="0" rtlCol="0" anchor="ctr"/>
          <a:lstStyle/>
          <a:p>
            <a:pPr indent="0" marL="0">
              <a:buNone/>
            </a:pPr>
            <a:r>
              <a:rPr lang="en-US" sz="850" b="1" dirty="0">
                <a:solidFill>
                  <a:srgbClr val="0A2342"/>
                </a:solidFill>
                <a:latin typeface="Calibri" pitchFamily="34" charset="0"/>
                <a:ea typeface="Calibri" pitchFamily="34" charset="-122"/>
                <a:cs typeface="Calibri" pitchFamily="34" charset="-120"/>
              </a:rPr>
              <a:t>2.  Frangoul, H., et al. (2021). CRISPR-Cas9 gene editing for sickle cell disease and β-thalassemia. New England Journal of Medicine, 384(3), 252–260. https://doi.org/10.1056/NEJMoa2031054</a:t>
            </a:r>
            <a:endParaRPr lang="en-US" sz="850" dirty="0"/>
          </a:p>
        </p:txBody>
      </p:sp>
      <p:sp>
        <p:nvSpPr>
          <p:cNvPr id="9" name="Text 7"/>
          <p:cNvSpPr/>
          <p:nvPr/>
        </p:nvSpPr>
        <p:spPr>
          <a:xfrm>
            <a:off x="411480" y="1810512"/>
            <a:ext cx="8321040" cy="329184"/>
          </a:xfrm>
          <a:prstGeom prst="rect">
            <a:avLst/>
          </a:prstGeom>
          <a:noFill/>
          <a:ln/>
        </p:spPr>
        <p:txBody>
          <a:bodyPr wrap="square" lIns="0" tIns="0" rIns="0" bIns="0" rtlCol="0" anchor="ctr"/>
          <a:lstStyle/>
          <a:p>
            <a:pPr indent="0" marL="0">
              <a:buNone/>
            </a:pPr>
            <a:r>
              <a:rPr lang="en-US" sz="850" dirty="0">
                <a:solidFill>
                  <a:srgbClr val="37474F"/>
                </a:solidFill>
                <a:latin typeface="Calibri" pitchFamily="34" charset="0"/>
                <a:ea typeface="Calibri" pitchFamily="34" charset="-122"/>
                <a:cs typeface="Calibri" pitchFamily="34" charset="-120"/>
              </a:rPr>
              <a:t>3.  National Institutes of Health (NIH). (2024). What is gene therapy? National Human Genome Research Institute. https://www.genome.gov/genetics-glossary/Gene-Therapy</a:t>
            </a:r>
            <a:endParaRPr lang="en-US" sz="850" dirty="0"/>
          </a:p>
        </p:txBody>
      </p:sp>
      <p:sp>
        <p:nvSpPr>
          <p:cNvPr id="10" name="Text 8"/>
          <p:cNvSpPr/>
          <p:nvPr/>
        </p:nvSpPr>
        <p:spPr>
          <a:xfrm>
            <a:off x="411480" y="2157984"/>
            <a:ext cx="8321040" cy="329184"/>
          </a:xfrm>
          <a:prstGeom prst="rect">
            <a:avLst/>
          </a:prstGeom>
          <a:noFill/>
          <a:ln/>
        </p:spPr>
        <p:txBody>
          <a:bodyPr wrap="square" lIns="0" tIns="0" rIns="0" bIns="0" rtlCol="0" anchor="ctr"/>
          <a:lstStyle/>
          <a:p>
            <a:pPr indent="0" marL="0">
              <a:buNone/>
            </a:pPr>
            <a:r>
              <a:rPr lang="en-US" sz="850" dirty="0">
                <a:solidFill>
                  <a:srgbClr val="37474F"/>
                </a:solidFill>
                <a:latin typeface="Calibri" pitchFamily="34" charset="0"/>
                <a:ea typeface="Calibri" pitchFamily="34" charset="-122"/>
                <a:cs typeface="Calibri" pitchFamily="34" charset="-120"/>
              </a:rPr>
              <a:t>4.  World Health Organization. (2021). Human Genome Editing: Recommendations. WHO Expert Advisory Committee. https://www.who.int/publications/i/item/9789240030381</a:t>
            </a:r>
            <a:endParaRPr lang="en-US" sz="850" dirty="0"/>
          </a:p>
        </p:txBody>
      </p:sp>
      <p:sp>
        <p:nvSpPr>
          <p:cNvPr id="11" name="Text 9"/>
          <p:cNvSpPr/>
          <p:nvPr/>
        </p:nvSpPr>
        <p:spPr>
          <a:xfrm>
            <a:off x="411480" y="2505456"/>
            <a:ext cx="8321040" cy="329184"/>
          </a:xfrm>
          <a:prstGeom prst="rect">
            <a:avLst/>
          </a:prstGeom>
          <a:noFill/>
          <a:ln/>
        </p:spPr>
        <p:txBody>
          <a:bodyPr wrap="square" lIns="0" tIns="0" rIns="0" bIns="0" rtlCol="0" anchor="ctr"/>
          <a:lstStyle/>
          <a:p>
            <a:pPr indent="0" marL="0">
              <a:buNone/>
            </a:pPr>
            <a:r>
              <a:rPr lang="en-US" sz="850" dirty="0">
                <a:solidFill>
                  <a:srgbClr val="37474F"/>
                </a:solidFill>
                <a:latin typeface="Calibri" pitchFamily="34" charset="0"/>
                <a:ea typeface="Calibri" pitchFamily="34" charset="-122"/>
                <a:cs typeface="Calibri" pitchFamily="34" charset="-120"/>
              </a:rPr>
              <a:t>5.  Anzalone, A. V., et al. (2019). Search-and-replace genome editing without double-strand breaks or donor DNA. Nature, 576, 149–157. https://doi.org/10.1038/s41586-019-1711-4</a:t>
            </a:r>
            <a:endParaRPr lang="en-US" sz="850" dirty="0"/>
          </a:p>
        </p:txBody>
      </p:sp>
      <p:sp>
        <p:nvSpPr>
          <p:cNvPr id="12" name="Text 10"/>
          <p:cNvSpPr/>
          <p:nvPr/>
        </p:nvSpPr>
        <p:spPr>
          <a:xfrm>
            <a:off x="411480" y="2852928"/>
            <a:ext cx="8321040" cy="329184"/>
          </a:xfrm>
          <a:prstGeom prst="rect">
            <a:avLst/>
          </a:prstGeom>
          <a:noFill/>
          <a:ln/>
        </p:spPr>
        <p:txBody>
          <a:bodyPr wrap="square" lIns="0" tIns="0" rIns="0" bIns="0" rtlCol="0" anchor="ctr"/>
          <a:lstStyle/>
          <a:p>
            <a:pPr indent="0" marL="0">
              <a:buNone/>
            </a:pPr>
            <a:r>
              <a:rPr lang="en-US" sz="850" dirty="0">
                <a:solidFill>
                  <a:srgbClr val="37474F"/>
                </a:solidFill>
                <a:latin typeface="Calibri" pitchFamily="34" charset="0"/>
                <a:ea typeface="Calibri" pitchFamily="34" charset="-122"/>
                <a:cs typeface="Calibri" pitchFamily="34" charset="-120"/>
              </a:rPr>
              <a:t>6.  U.S. Food &amp; Drug Administration. (2023). FDA approves first gene therapies to treat patients with sickle cell disease. https://www.fda.gov/news-events/press-announcements/fda-approves-first-gene-therapies-treat-patients-sickle-cell-disease</a:t>
            </a:r>
            <a:endParaRPr lang="en-US" sz="850" dirty="0"/>
          </a:p>
        </p:txBody>
      </p:sp>
      <p:sp>
        <p:nvSpPr>
          <p:cNvPr id="13" name="Text 11"/>
          <p:cNvSpPr/>
          <p:nvPr/>
        </p:nvSpPr>
        <p:spPr>
          <a:xfrm>
            <a:off x="411480" y="3200400"/>
            <a:ext cx="8321040" cy="329184"/>
          </a:xfrm>
          <a:prstGeom prst="rect">
            <a:avLst/>
          </a:prstGeom>
          <a:noFill/>
          <a:ln/>
        </p:spPr>
        <p:txBody>
          <a:bodyPr wrap="square" lIns="0" tIns="0" rIns="0" bIns="0" rtlCol="0" anchor="ctr"/>
          <a:lstStyle/>
          <a:p>
            <a:pPr indent="0" marL="0">
              <a:buNone/>
            </a:pPr>
            <a:r>
              <a:rPr lang="en-US" sz="850" dirty="0">
                <a:solidFill>
                  <a:srgbClr val="37474F"/>
                </a:solidFill>
                <a:latin typeface="Calibri" pitchFamily="34" charset="0"/>
                <a:ea typeface="Calibri" pitchFamily="34" charset="-122"/>
                <a:cs typeface="Calibri" pitchFamily="34" charset="-120"/>
              </a:rPr>
              <a:t>7.  Komor, A. C., et al. (2016). Programmable editing of a target base in genomic DNA without double-stranded DNA cleavage. Nature, 533, 420–424. https://doi.org/10.1038/nature17946</a:t>
            </a:r>
            <a:endParaRPr lang="en-US" sz="850" dirty="0"/>
          </a:p>
        </p:txBody>
      </p:sp>
      <p:sp>
        <p:nvSpPr>
          <p:cNvPr id="14" name="Text 12"/>
          <p:cNvSpPr/>
          <p:nvPr/>
        </p:nvSpPr>
        <p:spPr>
          <a:xfrm>
            <a:off x="411480" y="3547872"/>
            <a:ext cx="8321040" cy="329184"/>
          </a:xfrm>
          <a:prstGeom prst="rect">
            <a:avLst/>
          </a:prstGeom>
          <a:noFill/>
          <a:ln/>
        </p:spPr>
        <p:txBody>
          <a:bodyPr wrap="square" lIns="0" tIns="0" rIns="0" bIns="0" rtlCol="0" anchor="ctr"/>
          <a:lstStyle/>
          <a:p>
            <a:pPr indent="0" marL="0">
              <a:buNone/>
            </a:pPr>
            <a:r>
              <a:rPr lang="en-US" sz="850" dirty="0">
                <a:solidFill>
                  <a:srgbClr val="37474F"/>
                </a:solidFill>
                <a:latin typeface="Calibri" pitchFamily="34" charset="0"/>
                <a:ea typeface="Calibri" pitchFamily="34" charset="-122"/>
                <a:cs typeface="Calibri" pitchFamily="34" charset="-120"/>
              </a:rPr>
              <a:t>8.  Cohen, S. N., et al. (1973). Construction of biologically functional bacterial plasmids in vitro. PNAS, 70(11), 3240–3244. https://doi.org/10.1073/pnas.70.11.3240</a:t>
            </a:r>
            <a:endParaRPr lang="en-US" sz="850" dirty="0"/>
          </a:p>
        </p:txBody>
      </p:sp>
      <p:sp>
        <p:nvSpPr>
          <p:cNvPr id="15" name="Text 13"/>
          <p:cNvSpPr/>
          <p:nvPr/>
        </p:nvSpPr>
        <p:spPr>
          <a:xfrm>
            <a:off x="411480" y="3895344"/>
            <a:ext cx="8321040" cy="329184"/>
          </a:xfrm>
          <a:prstGeom prst="rect">
            <a:avLst/>
          </a:prstGeom>
          <a:noFill/>
          <a:ln/>
        </p:spPr>
        <p:txBody>
          <a:bodyPr wrap="square" lIns="0" tIns="0" rIns="0" bIns="0" rtlCol="0" anchor="ctr"/>
          <a:lstStyle/>
          <a:p>
            <a:pPr indent="0" marL="0">
              <a:buNone/>
            </a:pPr>
            <a:r>
              <a:rPr lang="en-US" sz="850" dirty="0">
                <a:solidFill>
                  <a:srgbClr val="37474F"/>
                </a:solidFill>
                <a:latin typeface="Calibri" pitchFamily="34" charset="0"/>
                <a:ea typeface="Calibri" pitchFamily="34" charset="-122"/>
                <a:cs typeface="Calibri" pitchFamily="34" charset="-120"/>
              </a:rPr>
              <a:t>9.  NCBI Gene Expression Omnibus &amp; PubMed Central. https://www.ncbi.nlm.nih.gov</a:t>
            </a:r>
            <a:endParaRPr lang="en-US" sz="850" dirty="0"/>
          </a:p>
        </p:txBody>
      </p:sp>
      <p:sp>
        <p:nvSpPr>
          <p:cNvPr id="16" name="Text 14"/>
          <p:cNvSpPr/>
          <p:nvPr/>
        </p:nvSpPr>
        <p:spPr>
          <a:xfrm>
            <a:off x="411480" y="4242816"/>
            <a:ext cx="8321040" cy="329184"/>
          </a:xfrm>
          <a:prstGeom prst="rect">
            <a:avLst/>
          </a:prstGeom>
          <a:noFill/>
          <a:ln/>
        </p:spPr>
        <p:txBody>
          <a:bodyPr wrap="square" lIns="0" tIns="0" rIns="0" bIns="0" rtlCol="0" anchor="ctr"/>
          <a:lstStyle/>
          <a:p>
            <a:pPr indent="0" marL="0">
              <a:buNone/>
            </a:pPr>
            <a:r>
              <a:rPr lang="en-US" sz="850" dirty="0">
                <a:solidFill>
                  <a:srgbClr val="37474F"/>
                </a:solidFill>
                <a:latin typeface="Calibri" pitchFamily="34" charset="0"/>
                <a:ea typeface="Calibri" pitchFamily="34" charset="-122"/>
                <a:cs typeface="Calibri" pitchFamily="34" charset="-120"/>
              </a:rPr>
              <a:t>10. Metzger, M. J., et al. (2022). Therapeutic delivery of RNA nanoparticles — a review. Nature Nanotechnology, 17, 1121–1130. https://doi.org/10.1038/s41565-022-01174-z</a:t>
            </a:r>
            <a:endParaRPr lang="en-US" sz="850" dirty="0"/>
          </a:p>
        </p:txBody>
      </p:sp>
      <p:pic>
        <p:nvPicPr>
          <p:cNvPr id="17" name="Image 0" descr="preencoded.png">    </p:cNvPr>
          <p:cNvPicPr>
            <a:picLocks noChangeAspect="1"/>
          </p:cNvPicPr>
          <p:nvPr/>
        </p:nvPicPr>
        <p:blipFill>
          <a:blip r:embed="rId1"/>
          <a:stretch>
            <a:fillRect/>
          </a:stretch>
        </p:blipFill>
        <p:spPr>
          <a:xfrm>
            <a:off x="8321040" y="1097280"/>
            <a:ext cx="411480" cy="411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Genetic Engineering, CRISPR Technology &amp; Gene Therapy</dc:title>
  <dc:subject>PptxGenJS Presentation</dc:subject>
  <dc:creator>Anshika Tripathi</dc:creator>
  <cp:lastModifiedBy>Anshika Tripathi</cp:lastModifiedBy>
  <cp:revision>1</cp:revision>
  <dcterms:created xsi:type="dcterms:W3CDTF">2026-06-30T05:09:24Z</dcterms:created>
  <dcterms:modified xsi:type="dcterms:W3CDTF">2026-06-30T05:09:24Z</dcterms:modified>
</cp:coreProperties>
</file>